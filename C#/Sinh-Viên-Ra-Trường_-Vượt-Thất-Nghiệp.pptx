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embeddedFontLst>
    <p:embeddedFont>
      <p:font typeface="Montserrat" charset="0"/>
      <p:regular r:id="rId27"/>
      <p:bold r:id="rId28"/>
      <p:italic r:id="rId29"/>
      <p:boldItalic r:id="rId30"/>
    </p:embeddedFont>
    <p:embeddedFont>
      <p:font typeface="MiSans" pitchFamily="34" charset="-122"/>
      <p:regular r:id="rId31"/>
    </p:embeddedFont>
    <p:embeddedFont>
      <p:font typeface="MiSans" pitchFamily="34" charset="-120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image" Target="../media/image1.jpe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themeOverride" Target="../theme/themeOverride1.xml"/><Relationship Id="rId10" Type="http://schemas.openxmlformats.org/officeDocument/2006/relationships/tags" Target="../tags/tag33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34.xml"/><Relationship Id="rId19" Type="http://schemas.openxmlformats.org/officeDocument/2006/relationships/slideLayout" Target="../slideLayouts/slideLayout1.xml"/><Relationship Id="rId18" Type="http://schemas.openxmlformats.org/officeDocument/2006/relationships/themeOverride" Target="../theme/themeOverride2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image" Target="../media/image6.jpe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1" Type="http://schemas.openxmlformats.org/officeDocument/2006/relationships/notesSlide" Target="../notesSlides/notesSlide15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9" Type="http://schemas.openxmlformats.org/officeDocument/2006/relationships/tags" Target="../tags/tag94.xml"/><Relationship Id="rId18" Type="http://schemas.openxmlformats.org/officeDocument/2006/relationships/tags" Target="../tags/tag93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jpeg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2805" y="1313180"/>
            <a:ext cx="6831330" cy="21158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Sinh Viên Ra Trường: Vượt Thất Nghiệp</a:t>
            </a: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55370" y="506031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4885" y="5125085"/>
            <a:ext cx="2057400" cy="518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9485" y="5125085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2E7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Thiên Long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57245" y="5060315"/>
            <a:ext cx="1954530" cy="518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9290" y="5125085"/>
            <a:ext cx="2249805" cy="3111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2E7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2025/01/01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402E7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402E7F"/>
          </a:solidFill>
        </p:spPr>
      </p:sp>
      <p:sp>
        <p:nvSpPr>
          <p:cNvPr id="6" name="Text 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</p:spPr>
      </p:sp>
      <p:sp>
        <p:nvSpPr>
          <p:cNvPr id="10" name="Text 8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</p:spPr>
      </p:sp>
      <p:sp>
        <p:nvSpPr>
          <p:cNvPr id="12" name="Text 10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402E7F"/>
          </a:solidFill>
        </p:spPr>
      </p:sp>
      <p:sp>
        <p:nvSpPr>
          <p:cNvPr id="14" name="Text 12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7230" y="469900"/>
            <a:ext cx="106680" cy="106680"/>
          </a:xfrm>
          <a:prstGeom prst="ellipse">
            <a:avLst/>
          </a:prstGeom>
          <a:solidFill>
            <a:srgbClr val="402E7F"/>
          </a:solidFill>
        </p:spPr>
      </p:sp>
      <p:sp>
        <p:nvSpPr>
          <p:cNvPr id="16" name="Text 14"/>
          <p:cNvSpPr/>
          <p:nvPr/>
        </p:nvSpPr>
        <p:spPr>
          <a:xfrm>
            <a:off x="69723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8107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107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64920" y="469900"/>
            <a:ext cx="106680" cy="106680"/>
          </a:xfrm>
          <a:prstGeom prst="ellipse">
            <a:avLst/>
          </a:prstGeom>
          <a:solidFill>
            <a:srgbClr val="402E7F"/>
          </a:solidFill>
        </p:spPr>
      </p:sp>
      <p:sp>
        <p:nvSpPr>
          <p:cNvPr id="20" name="Text 18"/>
          <p:cNvSpPr/>
          <p:nvPr/>
        </p:nvSpPr>
        <p:spPr>
          <a:xfrm>
            <a:off x="126492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54876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4876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832610" y="469900"/>
            <a:ext cx="106680" cy="106680"/>
          </a:xfrm>
          <a:prstGeom prst="ellipse">
            <a:avLst/>
          </a:prstGeom>
          <a:solidFill>
            <a:srgbClr val="402E7F"/>
          </a:solidFill>
        </p:spPr>
      </p:sp>
      <p:sp>
        <p:nvSpPr>
          <p:cNvPr id="24" name="Text 22"/>
          <p:cNvSpPr/>
          <p:nvPr/>
        </p:nvSpPr>
        <p:spPr>
          <a:xfrm>
            <a:off x="183261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11645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1645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pic>
        <p:nvPicPr>
          <p:cNvPr id="27" name="Image 0" descr="https://kimi-img.moonshot.cn/pub/slides/slides_tmpl/image/25-09-08-15:08:33-d2v81sdnfo2stf9dkdgg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3082" t="46098" r="5289" b="33026"/>
          <a:stretch>
            <a:fillRect/>
          </a:stretch>
        </p:blipFill>
        <p:spPr>
          <a:xfrm>
            <a:off x="-25400" y="2216150"/>
            <a:ext cx="5394960" cy="716280"/>
          </a:xfrm>
          <a:prstGeom prst="rect">
            <a:avLst/>
          </a:prstGeom>
        </p:spPr>
      </p:pic>
      <p:sp>
        <p:nvSpPr>
          <p:cNvPr id="28" name="Shape 25"/>
          <p:cNvSpPr/>
          <p:nvPr>
            <p:custDataLst>
              <p:tags r:id="rId3"/>
            </p:custDataLst>
          </p:nvPr>
        </p:nvSpPr>
        <p:spPr>
          <a:xfrm>
            <a:off x="-25400" y="221615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-25400" y="2216150"/>
            <a:ext cx="12192635" cy="716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pic>
        <p:nvPicPr>
          <p:cNvPr id="30" name="Image 1" descr="https://kimi-img.moonshot.cn/pub/slides/slides_tmpl/image/25-09-08-15:08:33-d2v81sdnfo2stf9dkdgg.jp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rcRect l="13082" t="46098" r="5289" b="33026"/>
          <a:stretch>
            <a:fillRect/>
          </a:stretch>
        </p:blipFill>
        <p:spPr>
          <a:xfrm>
            <a:off x="-25400" y="3806825"/>
            <a:ext cx="5394960" cy="716280"/>
          </a:xfrm>
          <a:prstGeom prst="rect">
            <a:avLst/>
          </a:prstGeom>
        </p:spPr>
      </p:pic>
      <p:sp>
        <p:nvSpPr>
          <p:cNvPr id="31" name="Shape 27"/>
          <p:cNvSpPr/>
          <p:nvPr>
            <p:custDataLst>
              <p:tags r:id="rId5"/>
            </p:custDataLst>
          </p:nvPr>
        </p:nvSpPr>
        <p:spPr>
          <a:xfrm>
            <a:off x="-25400" y="3806825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-25400" y="3806825"/>
            <a:ext cx="12192635" cy="716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pic>
        <p:nvPicPr>
          <p:cNvPr id="33" name="Image 2" descr="https://kimi-img.moonshot.cn/pub/slides/slides_tmpl/image/25-09-08-15:08:33-d2v81sdnfo2stf9dkdgg.jp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/>
          <a:srcRect l="13082" t="46098" r="5289" b="33026"/>
          <a:stretch>
            <a:fillRect/>
          </a:stretch>
        </p:blipFill>
        <p:spPr>
          <a:xfrm>
            <a:off x="-25400" y="5397500"/>
            <a:ext cx="5394960" cy="716280"/>
          </a:xfrm>
          <a:prstGeom prst="rect">
            <a:avLst/>
          </a:prstGeom>
        </p:spPr>
      </p:pic>
      <p:sp>
        <p:nvSpPr>
          <p:cNvPr id="34" name="Shape 29"/>
          <p:cNvSpPr/>
          <p:nvPr>
            <p:custDataLst>
              <p:tags r:id="rId7"/>
            </p:custDataLst>
          </p:nvPr>
        </p:nvSpPr>
        <p:spPr>
          <a:xfrm>
            <a:off x="-25400" y="539750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-25400" y="5397500"/>
            <a:ext cx="12192635" cy="716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pic>
        <p:nvPicPr>
          <p:cNvPr id="36" name="Image 3" descr="https://kimi-img.moonshot.cn/pub/slides/slides_tmpl/image/25-09-08-15:08:33-d2v81sdnfo2stf9dkdgg.jp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"/>
          <a:srcRect l="13082" t="46098" r="5289" b="33026"/>
          <a:stretch>
            <a:fillRect/>
          </a:stretch>
        </p:blipFill>
        <p:spPr>
          <a:xfrm>
            <a:off x="6772275" y="3011170"/>
            <a:ext cx="5394960" cy="716280"/>
          </a:xfrm>
          <a:prstGeom prst="rect">
            <a:avLst/>
          </a:prstGeom>
        </p:spPr>
      </p:pic>
      <p:sp>
        <p:nvSpPr>
          <p:cNvPr id="37" name="Shape 31"/>
          <p:cNvSpPr/>
          <p:nvPr>
            <p:custDataLst>
              <p:tags r:id="rId9"/>
            </p:custDataLst>
          </p:nvPr>
        </p:nvSpPr>
        <p:spPr>
          <a:xfrm>
            <a:off x="-25400" y="3011170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-25400" y="3011170"/>
            <a:ext cx="12192635" cy="716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pic>
        <p:nvPicPr>
          <p:cNvPr id="39" name="Image 4" descr="https://kimi-img.moonshot.cn/pub/slides/slides_tmpl/image/25-09-08-15:08:33-d2v81sdnfo2stf9dkdgg.jp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"/>
          <a:srcRect l="13082" t="46098" r="5289" b="33026"/>
          <a:stretch>
            <a:fillRect/>
          </a:stretch>
        </p:blipFill>
        <p:spPr>
          <a:xfrm>
            <a:off x="6772275" y="4601845"/>
            <a:ext cx="5394960" cy="716280"/>
          </a:xfrm>
          <a:prstGeom prst="rect">
            <a:avLst/>
          </a:prstGeom>
        </p:spPr>
      </p:pic>
      <p:sp>
        <p:nvSpPr>
          <p:cNvPr id="40" name="Shape 33"/>
          <p:cNvSpPr/>
          <p:nvPr>
            <p:custDataLst>
              <p:tags r:id="rId11"/>
            </p:custDataLst>
          </p:nvPr>
        </p:nvSpPr>
        <p:spPr>
          <a:xfrm>
            <a:off x="-25400" y="4601845"/>
            <a:ext cx="12192635" cy="7162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402E7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-25400" y="4601845"/>
            <a:ext cx="12192635" cy="716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42" name="Shape 35"/>
          <p:cNvSpPr/>
          <p:nvPr/>
        </p:nvSpPr>
        <p:spPr>
          <a:xfrm>
            <a:off x="3619500" y="986155"/>
            <a:ext cx="4953000" cy="92329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3" name="Text 36"/>
          <p:cNvSpPr/>
          <p:nvPr/>
        </p:nvSpPr>
        <p:spPr>
          <a:xfrm>
            <a:off x="3619500" y="986155"/>
            <a:ext cx="4953000" cy="923290"/>
          </a:xfrm>
          <a:prstGeom prst="rect">
            <a:avLst/>
          </a:prstGeom>
          <a:noFill/>
        </p:spPr>
        <p:txBody>
          <a:bodyPr wrap="square" lIns="46863" tIns="90043" rIns="90043" bIns="46863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400" dirty="0">
                <a:solidFill>
                  <a:srgbClr val="1E1C0D"/>
                </a:solidFill>
                <a:latin typeface="Montserrat" charset="0"/>
                <a:ea typeface="MiSans" pitchFamily="34" charset="-122"/>
                <a:cs typeface="Montserrat" charset="0"/>
              </a:rPr>
              <a:t>CONTENTS</a:t>
            </a:r>
            <a:endParaRPr lang="en-US" sz="5400" dirty="0">
              <a:solidFill>
                <a:srgbClr val="1E1C0D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44" name="Shape 37"/>
          <p:cNvSpPr/>
          <p:nvPr>
            <p:custDataLst>
              <p:tags r:id="rId12"/>
            </p:custDataLst>
          </p:nvPr>
        </p:nvSpPr>
        <p:spPr>
          <a:xfrm>
            <a:off x="-35560" y="2216150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45" name="Text 38"/>
          <p:cNvSpPr/>
          <p:nvPr/>
        </p:nvSpPr>
        <p:spPr>
          <a:xfrm>
            <a:off x="-35560" y="2216150"/>
            <a:ext cx="5396400" cy="71636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46" name="Shape 39"/>
          <p:cNvSpPr/>
          <p:nvPr>
            <p:custDataLst>
              <p:tags r:id="rId13"/>
            </p:custDataLst>
          </p:nvPr>
        </p:nvSpPr>
        <p:spPr>
          <a:xfrm>
            <a:off x="-35560" y="3806736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47" name="Text 40"/>
          <p:cNvSpPr/>
          <p:nvPr/>
        </p:nvSpPr>
        <p:spPr>
          <a:xfrm>
            <a:off x="-35560" y="3806736"/>
            <a:ext cx="5396400" cy="71636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48" name="Shape 41"/>
          <p:cNvSpPr/>
          <p:nvPr>
            <p:custDataLst>
              <p:tags r:id="rId14"/>
            </p:custDataLst>
          </p:nvPr>
        </p:nvSpPr>
        <p:spPr>
          <a:xfrm>
            <a:off x="-35560" y="5397411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49" name="Text 42"/>
          <p:cNvSpPr/>
          <p:nvPr/>
        </p:nvSpPr>
        <p:spPr>
          <a:xfrm>
            <a:off x="-35560" y="5397411"/>
            <a:ext cx="5396400" cy="71636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50" name="Shape 43"/>
          <p:cNvSpPr/>
          <p:nvPr>
            <p:custDataLst>
              <p:tags r:id="rId15"/>
            </p:custDataLst>
          </p:nvPr>
        </p:nvSpPr>
        <p:spPr>
          <a:xfrm>
            <a:off x="6770835" y="3011170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51" name="Text 44"/>
          <p:cNvSpPr/>
          <p:nvPr/>
        </p:nvSpPr>
        <p:spPr>
          <a:xfrm>
            <a:off x="6770835" y="3011170"/>
            <a:ext cx="5396400" cy="71636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52" name="Shape 45"/>
          <p:cNvSpPr/>
          <p:nvPr>
            <p:custDataLst>
              <p:tags r:id="rId16"/>
            </p:custDataLst>
          </p:nvPr>
        </p:nvSpPr>
        <p:spPr>
          <a:xfrm>
            <a:off x="6770835" y="4601756"/>
            <a:ext cx="5396400" cy="716369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53" name="Text 46"/>
          <p:cNvSpPr/>
          <p:nvPr/>
        </p:nvSpPr>
        <p:spPr>
          <a:xfrm>
            <a:off x="6770835" y="4601756"/>
            <a:ext cx="5396400" cy="71636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54" name="Text 47"/>
          <p:cNvSpPr/>
          <p:nvPr>
            <p:custDataLst>
              <p:tags r:id="rId17"/>
            </p:custDataLst>
          </p:nvPr>
        </p:nvSpPr>
        <p:spPr>
          <a:xfrm>
            <a:off x="5519420" y="2275791"/>
            <a:ext cx="772795" cy="620971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402E7F"/>
                </a:solidFill>
                <a:latin typeface="Montserrat" charset="0"/>
                <a:ea typeface="MiSans" pitchFamily="34" charset="-122"/>
                <a:cs typeface="Montserrat" charset="0"/>
              </a:rPr>
              <a:t>01</a:t>
            </a:r>
            <a:endParaRPr lang="en-US" sz="3600" b="1" dirty="0">
              <a:solidFill>
                <a:srgbClr val="402E7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55" name="Text 48"/>
          <p:cNvSpPr/>
          <p:nvPr>
            <p:custDataLst>
              <p:tags r:id="rId18"/>
            </p:custDataLst>
          </p:nvPr>
        </p:nvSpPr>
        <p:spPr>
          <a:xfrm>
            <a:off x="6357620" y="2374024"/>
            <a:ext cx="573659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E4B22"/>
                </a:solidFill>
                <a:latin typeface="Montserrat" charset="0"/>
                <a:ea typeface="MiSans" pitchFamily="34" charset="-122"/>
                <a:cs typeface="Montserrat" charset="0"/>
              </a:rPr>
              <a:t>Thực trạng thất nghiệp</a:t>
            </a:r>
            <a:endParaRPr lang="en-US" sz="2400" b="1" dirty="0">
              <a:solidFill>
                <a:srgbClr val="4E4B2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56" name="Text 49"/>
          <p:cNvSpPr/>
          <p:nvPr>
            <p:custDataLst>
              <p:tags r:id="rId19"/>
            </p:custDataLst>
          </p:nvPr>
        </p:nvSpPr>
        <p:spPr>
          <a:xfrm>
            <a:off x="154940" y="3070811"/>
            <a:ext cx="772795" cy="620971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402E7F"/>
                </a:solidFill>
                <a:latin typeface="Montserrat" charset="0"/>
                <a:ea typeface="MiSans" pitchFamily="34" charset="-122"/>
                <a:cs typeface="Montserrat" charset="0"/>
              </a:rPr>
              <a:t>02</a:t>
            </a:r>
            <a:endParaRPr lang="en-US" sz="3600" b="1" dirty="0">
              <a:solidFill>
                <a:srgbClr val="402E7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57" name="Text 50"/>
          <p:cNvSpPr/>
          <p:nvPr>
            <p:custDataLst>
              <p:tags r:id="rId20"/>
            </p:custDataLst>
          </p:nvPr>
        </p:nvSpPr>
        <p:spPr>
          <a:xfrm>
            <a:off x="993140" y="3169044"/>
            <a:ext cx="570801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E4B22"/>
                </a:solidFill>
                <a:latin typeface="Montserrat" charset="0"/>
                <a:ea typeface="MiSans" pitchFamily="34" charset="-122"/>
                <a:cs typeface="Montserrat" charset="0"/>
              </a:rPr>
              <a:t>Tác động xã hội</a:t>
            </a:r>
            <a:endParaRPr lang="en-US" sz="2400" b="1" dirty="0">
              <a:solidFill>
                <a:srgbClr val="4E4B2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58" name="Text 51"/>
          <p:cNvSpPr/>
          <p:nvPr>
            <p:custDataLst>
              <p:tags r:id="rId21"/>
            </p:custDataLst>
          </p:nvPr>
        </p:nvSpPr>
        <p:spPr>
          <a:xfrm>
            <a:off x="5519420" y="3866466"/>
            <a:ext cx="772795" cy="620971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402E7F"/>
                </a:solidFill>
                <a:latin typeface="Montserrat" charset="0"/>
                <a:ea typeface="MiSans" pitchFamily="34" charset="-122"/>
                <a:cs typeface="Montserrat" charset="0"/>
              </a:rPr>
              <a:t>03</a:t>
            </a:r>
            <a:endParaRPr lang="en-US" sz="3600" b="1" dirty="0">
              <a:solidFill>
                <a:srgbClr val="402E7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59" name="Text 52"/>
          <p:cNvSpPr/>
          <p:nvPr>
            <p:custDataLst>
              <p:tags r:id="rId22"/>
            </p:custDataLst>
          </p:nvPr>
        </p:nvSpPr>
        <p:spPr>
          <a:xfrm>
            <a:off x="6357620" y="3964699"/>
            <a:ext cx="573659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E4B22"/>
                </a:solidFill>
                <a:latin typeface="Montserrat" charset="0"/>
                <a:ea typeface="MiSans" pitchFamily="34" charset="-122"/>
                <a:cs typeface="Montserrat" charset="0"/>
              </a:rPr>
              <a:t>Giải pháp căn cơ</a:t>
            </a:r>
            <a:endParaRPr lang="en-US" sz="2400" b="1" dirty="0">
              <a:solidFill>
                <a:srgbClr val="4E4B2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0" name="Text 53"/>
          <p:cNvSpPr/>
          <p:nvPr>
            <p:custDataLst>
              <p:tags r:id="rId23"/>
            </p:custDataLst>
          </p:nvPr>
        </p:nvSpPr>
        <p:spPr>
          <a:xfrm>
            <a:off x="154940" y="4661535"/>
            <a:ext cx="972820" cy="6210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402E7F"/>
                </a:solidFill>
                <a:latin typeface="Montserrat" charset="0"/>
                <a:ea typeface="MiSans" pitchFamily="34" charset="-122"/>
                <a:cs typeface="Montserrat" charset="0"/>
              </a:rPr>
              <a:t>04</a:t>
            </a:r>
            <a:endParaRPr lang="en-US" sz="3600" b="1" dirty="0">
              <a:solidFill>
                <a:srgbClr val="402E7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1" name="Text 54"/>
          <p:cNvSpPr/>
          <p:nvPr>
            <p:custDataLst>
              <p:tags r:id="rId24"/>
            </p:custDataLst>
          </p:nvPr>
        </p:nvSpPr>
        <p:spPr>
          <a:xfrm>
            <a:off x="993140" y="4759719"/>
            <a:ext cx="569023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E3A1C"/>
                </a:solidFill>
                <a:latin typeface="Montserrat" charset="0"/>
                <a:ea typeface="MiSans" pitchFamily="34" charset="-122"/>
                <a:cs typeface="Montserrat" charset="0"/>
              </a:rPr>
              <a:t>Hành động cá nhân</a:t>
            </a:r>
            <a:endParaRPr lang="en-US" sz="2400" b="1" dirty="0">
              <a:solidFill>
                <a:srgbClr val="3E3A1C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2" name="Text 55"/>
          <p:cNvSpPr/>
          <p:nvPr>
            <p:custDataLst>
              <p:tags r:id="rId25"/>
            </p:custDataLst>
          </p:nvPr>
        </p:nvSpPr>
        <p:spPr>
          <a:xfrm>
            <a:off x="5519420" y="5457141"/>
            <a:ext cx="772795" cy="620971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402E7F"/>
                </a:solidFill>
                <a:latin typeface="Montserrat" charset="0"/>
                <a:ea typeface="MiSans" pitchFamily="34" charset="-122"/>
                <a:cs typeface="Montserrat" charset="0"/>
              </a:rPr>
              <a:t>05</a:t>
            </a:r>
            <a:endParaRPr lang="en-US" sz="3600" b="1" dirty="0">
              <a:solidFill>
                <a:srgbClr val="402E7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3" name="Text 56"/>
          <p:cNvSpPr/>
          <p:nvPr>
            <p:custDataLst>
              <p:tags r:id="rId26"/>
            </p:custDataLst>
          </p:nvPr>
        </p:nvSpPr>
        <p:spPr>
          <a:xfrm>
            <a:off x="6357620" y="5555374"/>
            <a:ext cx="570801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E3A1C"/>
                </a:solidFill>
                <a:latin typeface="Montserrat" charset="0"/>
                <a:ea typeface="MiSans" pitchFamily="34" charset="-122"/>
                <a:cs typeface="Montserrat" charset="0"/>
              </a:rPr>
              <a:t>Kết luận &amp; hành động</a:t>
            </a:r>
            <a:endParaRPr lang="en-US" sz="2400" b="1" dirty="0">
              <a:solidFill>
                <a:srgbClr val="3E3A1C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  <p:txBody>
          <a:bodyPr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Thực trạng thất nghiệp</a:t>
            </a:r>
            <a:endParaRPr lang="en-US" sz="7200" b="1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01</a:t>
            </a:r>
            <a:endParaRPr lang="en-US" sz="7200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102235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254000"/>
            <a:ext cx="12192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457200" lvl="1" indent="45720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01. Thực Trạng Thất Nghiệp</a:t>
            </a:r>
            <a:endParaRPr lang="en-US" sz="36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822325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457200" lvl="1" indent="45720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C3542">
                    <a:alpha val="80000"/>
                  </a:srgbClr>
                </a:solidFill>
                <a:latin typeface="Montserrat" charset="0"/>
                <a:ea typeface="MiSans" pitchFamily="34" charset="-122"/>
                <a:cs typeface="Montserrat" charset="0"/>
              </a:rPr>
              <a:t>Tỷ lệ thất nghiệp của sinh viên mới ra trường đang ở mức báo động.</a:t>
            </a:r>
            <a:endParaRPr lang="en-US" sz="1800" dirty="0">
              <a:solidFill>
                <a:srgbClr val="3C3542">
                  <a:alpha val="80000"/>
                </a:srgbClr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pic>
        <p:nvPicPr>
          <p:cNvPr id="7" name="Image 1" descr="https://kimi-web-img.moonshot.cn/img/www.wrsf.org.cn/825df42bcbfe5c7cac7ca882774442711609b9fb.png"/>
          <p:cNvPicPr>
            <a:picLocks noChangeAspect="1"/>
          </p:cNvPicPr>
          <p:nvPr/>
        </p:nvPicPr>
        <p:blipFill>
          <a:blip r:embed="rId2"/>
          <a:srcRect l="26042" r="26042"/>
          <a:stretch>
            <a:fillRect/>
          </a:stretch>
        </p:blipFill>
        <p:spPr>
          <a:xfrm>
            <a:off x="254000" y="1320800"/>
            <a:ext cx="3797300" cy="5283200"/>
          </a:xfrm>
          <a:prstGeom prst="roundRect">
            <a:avLst>
              <a:gd name="adj" fmla="val 4013"/>
            </a:avLst>
          </a:prstGeom>
        </p:spPr>
      </p:pic>
      <p:sp>
        <p:nvSpPr>
          <p:cNvPr id="8" name="Shape 4"/>
          <p:cNvSpPr/>
          <p:nvPr>
            <p:custDataLst>
              <p:tags r:id="rId3"/>
            </p:custDataLst>
          </p:nvPr>
        </p:nvSpPr>
        <p:spPr>
          <a:xfrm>
            <a:off x="4351734" y="2235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</p:spPr>
      </p:sp>
      <p:sp>
        <p:nvSpPr>
          <p:cNvPr id="9" name="Shape 5"/>
          <p:cNvSpPr/>
          <p:nvPr>
            <p:custDataLst>
              <p:tags r:id="rId4"/>
            </p:custDataLst>
          </p:nvPr>
        </p:nvSpPr>
        <p:spPr>
          <a:xfrm>
            <a:off x="4523184" y="24511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A95EAF"/>
          </a:solidFill>
        </p:spPr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5367734" y="2040255"/>
            <a:ext cx="7073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Số lượng cử nhân tăng vọt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5367734" y="2514600"/>
            <a:ext cx="6565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Hàng triệu sinh viên tốt nghiệp mỗi năm, tạo áp lực khổng lồ lên thị trường lao động.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2" name="Shape 8"/>
          <p:cNvSpPr/>
          <p:nvPr>
            <p:custDataLst>
              <p:tags r:id="rId7"/>
            </p:custDataLst>
          </p:nvPr>
        </p:nvSpPr>
        <p:spPr>
          <a:xfrm>
            <a:off x="4351734" y="4876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D3B9D7">
              <a:alpha val="50196"/>
            </a:srgbClr>
          </a:solidFill>
        </p:spPr>
      </p:sp>
      <p:sp>
        <p:nvSpPr>
          <p:cNvPr id="13" name="Shape 9"/>
          <p:cNvSpPr/>
          <p:nvPr>
            <p:custDataLst>
              <p:tags r:id="rId8"/>
            </p:custDataLst>
          </p:nvPr>
        </p:nvSpPr>
        <p:spPr>
          <a:xfrm>
            <a:off x="4570809" y="5092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8828" y="35719"/>
                </a:moveTo>
                <a:lnTo>
                  <a:pt x="232172" y="35719"/>
                </a:lnTo>
                <a:cubicBezTo>
                  <a:pt x="235446" y="35719"/>
                  <a:pt x="238125" y="38398"/>
                  <a:pt x="238125" y="41672"/>
                </a:cubicBezTo>
                <a:lnTo>
                  <a:pt x="238125" y="71438"/>
                </a:lnTo>
                <a:lnTo>
                  <a:pt x="142875" y="71438"/>
                </a:lnTo>
                <a:lnTo>
                  <a:pt x="142875" y="41672"/>
                </a:lnTo>
                <a:cubicBezTo>
                  <a:pt x="142875" y="38398"/>
                  <a:pt x="145554" y="35719"/>
                  <a:pt x="148828" y="35719"/>
                </a:cubicBezTo>
                <a:close/>
                <a:moveTo>
                  <a:pt x="107156" y="41672"/>
                </a:moveTo>
                <a:lnTo>
                  <a:pt x="107156" y="71438"/>
                </a:lnTo>
                <a:lnTo>
                  <a:pt x="47625" y="71438"/>
                </a:lnTo>
                <a:cubicBezTo>
                  <a:pt x="21357" y="71438"/>
                  <a:pt x="0" y="92794"/>
                  <a:pt x="0" y="119063"/>
                </a:cubicBezTo>
                <a:lnTo>
                  <a:pt x="0" y="190500"/>
                </a:lnTo>
                <a:lnTo>
                  <a:pt x="381000" y="190500"/>
                </a:lnTo>
                <a:lnTo>
                  <a:pt x="381000" y="119063"/>
                </a:lnTo>
                <a:cubicBezTo>
                  <a:pt x="381000" y="92794"/>
                  <a:pt x="359643" y="71438"/>
                  <a:pt x="333375" y="71438"/>
                </a:cubicBezTo>
                <a:lnTo>
                  <a:pt x="273844" y="71438"/>
                </a:lnTo>
                <a:lnTo>
                  <a:pt x="273844" y="41672"/>
                </a:lnTo>
                <a:cubicBezTo>
                  <a:pt x="273844" y="18678"/>
                  <a:pt x="255166" y="0"/>
                  <a:pt x="232172" y="0"/>
                </a:cubicBezTo>
                <a:lnTo>
                  <a:pt x="148828" y="0"/>
                </a:lnTo>
                <a:cubicBezTo>
                  <a:pt x="125834" y="0"/>
                  <a:pt x="107156" y="18678"/>
                  <a:pt x="107156" y="41672"/>
                </a:cubicBezTo>
                <a:close/>
                <a:moveTo>
                  <a:pt x="381000" y="226219"/>
                </a:moveTo>
                <a:lnTo>
                  <a:pt x="238125" y="226219"/>
                </a:lnTo>
                <a:lnTo>
                  <a:pt x="238125" y="238125"/>
                </a:lnTo>
                <a:cubicBezTo>
                  <a:pt x="238125" y="251296"/>
                  <a:pt x="227484" y="261938"/>
                  <a:pt x="214313" y="261938"/>
                </a:cubicBezTo>
                <a:lnTo>
                  <a:pt x="166688" y="261938"/>
                </a:lnTo>
                <a:cubicBezTo>
                  <a:pt x="153516" y="261938"/>
                  <a:pt x="142875" y="251296"/>
                  <a:pt x="142875" y="238125"/>
                </a:cubicBezTo>
                <a:lnTo>
                  <a:pt x="142875" y="226219"/>
                </a:lnTo>
                <a:lnTo>
                  <a:pt x="0" y="226219"/>
                </a:ln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333375" y="357188"/>
                </a:lnTo>
                <a:cubicBezTo>
                  <a:pt x="359643" y="357188"/>
                  <a:pt x="381000" y="335831"/>
                  <a:pt x="381000" y="309563"/>
                </a:cubicBezTo>
                <a:lnTo>
                  <a:pt x="381000" y="226219"/>
                </a:lnTo>
                <a:close/>
              </a:path>
            </a:pathLst>
          </a:custGeom>
          <a:solidFill>
            <a:srgbClr val="A95EAF"/>
          </a:solidFill>
        </p:spPr>
      </p:sp>
      <p:sp>
        <p:nvSpPr>
          <p:cNvPr id="14" name="Text 10"/>
          <p:cNvSpPr/>
          <p:nvPr>
            <p:custDataLst>
              <p:tags r:id="rId9"/>
            </p:custDataLst>
          </p:nvPr>
        </p:nvSpPr>
        <p:spPr>
          <a:xfrm>
            <a:off x="5372179" y="4737100"/>
            <a:ext cx="7073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Cơ hội việc làm không tương xứng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5" name="Text 11"/>
          <p:cNvSpPr/>
          <p:nvPr>
            <p:custDataLst>
              <p:tags r:id="rId10"/>
            </p:custDataLst>
          </p:nvPr>
        </p:nvSpPr>
        <p:spPr>
          <a:xfrm>
            <a:off x="5367734" y="5156200"/>
            <a:ext cx="6565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Tỷ lệ có việc làm đúng chuyên ngành thấp, phản ánh sự </a:t>
            </a:r>
            <a:r>
              <a:rPr lang="en-US" sz="1700" dirty="0">
                <a:solidFill>
                  <a:srgbClr val="FFFFFF"/>
                </a:solidFill>
                <a:highlight>
                  <a:srgbClr val="A95EAF">
                    <a:alpha val="100000"/>
                  </a:srgbClr>
                </a:highlight>
                <a:latin typeface="Montserrat" charset="0"/>
                <a:ea typeface="MiSans" pitchFamily="34" charset="-122"/>
                <a:cs typeface="Montserrat" charset="0"/>
              </a:rPr>
              <a:t> mất cân đối </a:t>
            </a: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 giữa đào tạo và nhu cầu thực tế.</a:t>
            </a:r>
            <a:endParaRPr lang="en-US" sz="1700" dirty="0">
              <a:latin typeface="Montserrat" charset="0"/>
              <a:cs typeface="Montserrat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0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Nguyên Nhân Chủ Yếu Dẫn Đến Thất Nghiệp</a:t>
            </a:r>
            <a:endParaRPr lang="en-US" sz="30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254000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/>
          </a:solidFill>
        </p:spPr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387350" y="2082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8F5C9A"/>
          </a:solidFill>
        </p:spPr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1066800" y="1676400"/>
            <a:ext cx="533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Thiếu </a:t>
            </a: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Kỹ Năng Thực Hành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1066800" y="21844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Lý thuyết nhiều, thực hành ít, không đáp ứng yêu cầu công việc ngay.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6299200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/>
          </a:solidFill>
        </p:spPr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64516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0387" y="20479"/>
                </a:moveTo>
                <a:cubicBezTo>
                  <a:pt x="247531" y="17502"/>
                  <a:pt x="255687" y="19169"/>
                  <a:pt x="261164" y="24586"/>
                </a:cubicBezTo>
                <a:lnTo>
                  <a:pt x="299264" y="62686"/>
                </a:lnTo>
                <a:cubicBezTo>
                  <a:pt x="302835" y="66258"/>
                  <a:pt x="304860" y="71080"/>
                  <a:pt x="304860" y="76140"/>
                </a:cubicBezTo>
                <a:cubicBezTo>
                  <a:pt x="304860" y="81201"/>
                  <a:pt x="302835" y="86023"/>
                  <a:pt x="299264" y="89595"/>
                </a:cubicBezTo>
                <a:lnTo>
                  <a:pt x="261164" y="127695"/>
                </a:lnTo>
                <a:cubicBezTo>
                  <a:pt x="255687" y="133171"/>
                  <a:pt x="247531" y="134779"/>
                  <a:pt x="240387" y="131802"/>
                </a:cubicBezTo>
                <a:cubicBezTo>
                  <a:pt x="233243" y="128826"/>
                  <a:pt x="228600" y="121980"/>
                  <a:pt x="228600" y="114300"/>
                </a:cubicBezTo>
                <a:lnTo>
                  <a:pt x="228600" y="95250"/>
                </a:lnTo>
                <a:lnTo>
                  <a:pt x="209550" y="95250"/>
                </a:lnTo>
                <a:cubicBezTo>
                  <a:pt x="203537" y="95250"/>
                  <a:pt x="197882" y="98048"/>
                  <a:pt x="194310" y="102870"/>
                </a:cubicBezTo>
                <a:lnTo>
                  <a:pt x="175022" y="128588"/>
                </a:lnTo>
                <a:lnTo>
                  <a:pt x="151209" y="96857"/>
                </a:lnTo>
                <a:lnTo>
                  <a:pt x="163830" y="80010"/>
                </a:lnTo>
                <a:cubicBezTo>
                  <a:pt x="174605" y="65603"/>
                  <a:pt x="191572" y="57150"/>
                  <a:pt x="209550" y="57150"/>
                </a:cubicBezTo>
                <a:lnTo>
                  <a:pt x="228600" y="57150"/>
                </a:lnTo>
                <a:lnTo>
                  <a:pt x="228600" y="38100"/>
                </a:lnTo>
                <a:cubicBezTo>
                  <a:pt x="228600" y="30420"/>
                  <a:pt x="233243" y="23455"/>
                  <a:pt x="240387" y="20479"/>
                </a:cubicBezTo>
                <a:close/>
                <a:moveTo>
                  <a:pt x="91678" y="176212"/>
                </a:moveTo>
                <a:lnTo>
                  <a:pt x="115491" y="207943"/>
                </a:lnTo>
                <a:lnTo>
                  <a:pt x="102870" y="224790"/>
                </a:lnTo>
                <a:cubicBezTo>
                  <a:pt x="92095" y="239197"/>
                  <a:pt x="75128" y="247650"/>
                  <a:pt x="57150" y="247650"/>
                </a:cubicBezTo>
                <a:lnTo>
                  <a:pt x="19050" y="247650"/>
                </a:lnTo>
                <a:cubicBezTo>
                  <a:pt x="8513" y="247650"/>
                  <a:pt x="0" y="239137"/>
                  <a:pt x="0" y="228600"/>
                </a:cubicBezTo>
                <a:cubicBezTo>
                  <a:pt x="0" y="218063"/>
                  <a:pt x="8513" y="209550"/>
                  <a:pt x="19050" y="209550"/>
                </a:cubicBezTo>
                <a:lnTo>
                  <a:pt x="57150" y="209550"/>
                </a:lnTo>
                <a:cubicBezTo>
                  <a:pt x="63163" y="209550"/>
                  <a:pt x="68818" y="206752"/>
                  <a:pt x="72390" y="201930"/>
                </a:cubicBezTo>
                <a:lnTo>
                  <a:pt x="91678" y="176212"/>
                </a:lnTo>
                <a:close/>
                <a:moveTo>
                  <a:pt x="261104" y="280154"/>
                </a:moveTo>
                <a:cubicBezTo>
                  <a:pt x="255627" y="285631"/>
                  <a:pt x="247471" y="287238"/>
                  <a:pt x="240328" y="284262"/>
                </a:cubicBezTo>
                <a:cubicBezTo>
                  <a:pt x="233184" y="281285"/>
                  <a:pt x="228600" y="274380"/>
                  <a:pt x="228600" y="266700"/>
                </a:cubicBezTo>
                <a:lnTo>
                  <a:pt x="228600" y="247650"/>
                </a:lnTo>
                <a:lnTo>
                  <a:pt x="209550" y="247650"/>
                </a:lnTo>
                <a:cubicBezTo>
                  <a:pt x="191572" y="247650"/>
                  <a:pt x="174605" y="239197"/>
                  <a:pt x="163830" y="224790"/>
                </a:cubicBezTo>
                <a:lnTo>
                  <a:pt x="72390" y="102870"/>
                </a:lnTo>
                <a:cubicBezTo>
                  <a:pt x="68818" y="98048"/>
                  <a:pt x="63163" y="95250"/>
                  <a:pt x="57150" y="95250"/>
                </a:cubicBez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57150" y="57150"/>
                </a:lnTo>
                <a:cubicBezTo>
                  <a:pt x="75128" y="57150"/>
                  <a:pt x="92095" y="65603"/>
                  <a:pt x="102870" y="80010"/>
                </a:cubicBezTo>
                <a:lnTo>
                  <a:pt x="194310" y="201930"/>
                </a:lnTo>
                <a:cubicBezTo>
                  <a:pt x="197882" y="206752"/>
                  <a:pt x="203537" y="209550"/>
                  <a:pt x="209550" y="209550"/>
                </a:cubicBezTo>
                <a:lnTo>
                  <a:pt x="228600" y="209550"/>
                </a:lnTo>
                <a:lnTo>
                  <a:pt x="228600" y="190500"/>
                </a:lnTo>
                <a:cubicBezTo>
                  <a:pt x="228600" y="182820"/>
                  <a:pt x="233243" y="175855"/>
                  <a:pt x="240387" y="172879"/>
                </a:cubicBezTo>
                <a:cubicBezTo>
                  <a:pt x="247531" y="169902"/>
                  <a:pt x="255687" y="171569"/>
                  <a:pt x="261164" y="176986"/>
                </a:cubicBezTo>
                <a:lnTo>
                  <a:pt x="299264" y="215086"/>
                </a:lnTo>
                <a:cubicBezTo>
                  <a:pt x="302835" y="218658"/>
                  <a:pt x="304860" y="223480"/>
                  <a:pt x="304860" y="228540"/>
                </a:cubicBezTo>
                <a:cubicBezTo>
                  <a:pt x="304860" y="233601"/>
                  <a:pt x="302835" y="238423"/>
                  <a:pt x="299264" y="241995"/>
                </a:cubicBezTo>
                <a:lnTo>
                  <a:pt x="261164" y="280095"/>
                </a:lnTo>
                <a:close/>
              </a:path>
            </a:pathLst>
          </a:custGeom>
          <a:solidFill>
            <a:srgbClr val="8F5C9A"/>
          </a:solidFill>
        </p:spPr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7112000" y="1676400"/>
            <a:ext cx="533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Chọn Ngành Không Phù Hợp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7112000" y="21844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Thiếu thông tin dẫn đến chọn ngành học không đúng nhu cầu thị trường.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254000" y="426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/>
          </a:solidFill>
        </p:spPr>
      </p:sp>
      <p:sp>
        <p:nvSpPr>
          <p:cNvPr id="15" name="Shape 12"/>
          <p:cNvSpPr/>
          <p:nvPr>
            <p:custDataLst>
              <p:tags r:id="rId11"/>
            </p:custDataLst>
          </p:nvPr>
        </p:nvSpPr>
        <p:spPr>
          <a:xfrm>
            <a:off x="406400" y="4416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82582" y="193536"/>
                </a:moveTo>
                <a:lnTo>
                  <a:pt x="96679" y="226576"/>
                </a:lnTo>
                <a:cubicBezTo>
                  <a:pt x="85130" y="231041"/>
                  <a:pt x="73759" y="219670"/>
                  <a:pt x="78224" y="208121"/>
                </a:cubicBezTo>
                <a:lnTo>
                  <a:pt x="111264" y="122218"/>
                </a:lnTo>
                <a:cubicBezTo>
                  <a:pt x="113228" y="117157"/>
                  <a:pt x="117157" y="113228"/>
                  <a:pt x="122218" y="111264"/>
                </a:cubicBezTo>
                <a:lnTo>
                  <a:pt x="208121" y="78224"/>
                </a:lnTo>
                <a:cubicBezTo>
                  <a:pt x="219670" y="73759"/>
                  <a:pt x="231041" y="85130"/>
                  <a:pt x="226576" y="96679"/>
                </a:cubicBezTo>
                <a:lnTo>
                  <a:pt x="193536" y="182582"/>
                </a:lnTo>
                <a:cubicBezTo>
                  <a:pt x="191631" y="187643"/>
                  <a:pt x="187643" y="191572"/>
                  <a:pt x="182582" y="193536"/>
                </a:cubicBezTo>
                <a:close/>
                <a:moveTo>
                  <a:pt x="171450" y="152400"/>
                </a:moveTo>
                <a:cubicBezTo>
                  <a:pt x="171450" y="141886"/>
                  <a:pt x="162914" y="133350"/>
                  <a:pt x="152400" y="133350"/>
                </a:cubicBezTo>
                <a:cubicBezTo>
                  <a:pt x="141886" y="133350"/>
                  <a:pt x="133350" y="141886"/>
                  <a:pt x="133350" y="152400"/>
                </a:cubicBezTo>
                <a:cubicBezTo>
                  <a:pt x="133350" y="162914"/>
                  <a:pt x="141886" y="171450"/>
                  <a:pt x="152400" y="171450"/>
                </a:cubicBezTo>
                <a:cubicBezTo>
                  <a:pt x="162914" y="171450"/>
                  <a:pt x="171450" y="162914"/>
                  <a:pt x="171450" y="152400"/>
                </a:cubicBezTo>
                <a:close/>
              </a:path>
            </a:pathLst>
          </a:custGeom>
          <a:solidFill>
            <a:srgbClr val="8F5C9A"/>
          </a:solidFill>
        </p:spPr>
        <p:txBody>
          <a:bodyPr/>
          <a:p>
            <a:endParaRPr lang="en-US"/>
          </a:p>
        </p:txBody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1066800" y="4114800"/>
            <a:ext cx="533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Thiếu Định Hướng Nghề Nghiệp</a:t>
            </a:r>
            <a:endParaRPr lang="en-US" sz="18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7" name="Text 14"/>
          <p:cNvSpPr/>
          <p:nvPr>
            <p:custDataLst>
              <p:tags r:id="rId13"/>
            </p:custDataLst>
          </p:nvPr>
        </p:nvSpPr>
        <p:spPr>
          <a:xfrm>
            <a:off x="1066800" y="467233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Không có kế hoạch rõ ràng, dẫn đến lãng phí thời gian và cơ hội.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8" name="Shape 15"/>
          <p:cNvSpPr/>
          <p:nvPr>
            <p:custDataLst>
              <p:tags r:id="rId14"/>
            </p:custDataLst>
          </p:nvPr>
        </p:nvSpPr>
        <p:spPr>
          <a:xfrm>
            <a:off x="6299200" y="42640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/>
          </a:solidFill>
        </p:spPr>
      </p:sp>
      <p:sp>
        <p:nvSpPr>
          <p:cNvPr id="19" name="Shape 16"/>
          <p:cNvSpPr/>
          <p:nvPr>
            <p:custDataLst>
              <p:tags r:id="rId15"/>
            </p:custDataLst>
          </p:nvPr>
        </p:nvSpPr>
        <p:spPr>
          <a:xfrm>
            <a:off x="6413500" y="4416425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133350"/>
                </a:moveTo>
                <a:cubicBezTo>
                  <a:pt x="224670" y="133350"/>
                  <a:pt x="252413" y="105608"/>
                  <a:pt x="252413" y="71438"/>
                </a:cubicBezTo>
                <a:cubicBezTo>
                  <a:pt x="252413" y="37267"/>
                  <a:pt x="224670" y="9525"/>
                  <a:pt x="190500" y="9525"/>
                </a:cubicBezTo>
                <a:cubicBezTo>
                  <a:pt x="156330" y="9525"/>
                  <a:pt x="128588" y="37267"/>
                  <a:pt x="128588" y="71438"/>
                </a:cubicBezTo>
                <a:cubicBezTo>
                  <a:pt x="128588" y="105608"/>
                  <a:pt x="156330" y="133350"/>
                  <a:pt x="190500" y="133350"/>
                </a:cubicBezTo>
                <a:close/>
                <a:moveTo>
                  <a:pt x="57150" y="138113"/>
                </a:moveTo>
                <a:cubicBezTo>
                  <a:pt x="80806" y="138113"/>
                  <a:pt x="100013" y="118906"/>
                  <a:pt x="100013" y="95250"/>
                </a:cubicBezTo>
                <a:cubicBezTo>
                  <a:pt x="100013" y="71594"/>
                  <a:pt x="80806" y="52388"/>
                  <a:pt x="57150" y="52388"/>
                </a:cubicBezTo>
                <a:cubicBezTo>
                  <a:pt x="33494" y="52388"/>
                  <a:pt x="14288" y="71594"/>
                  <a:pt x="14288" y="95250"/>
                </a:cubicBezTo>
                <a:cubicBezTo>
                  <a:pt x="14288" y="118906"/>
                  <a:pt x="33494" y="138113"/>
                  <a:pt x="57150" y="138113"/>
                </a:cubicBezTo>
                <a:close/>
                <a:moveTo>
                  <a:pt x="0" y="247650"/>
                </a:moveTo>
                <a:lnTo>
                  <a:pt x="0" y="266700"/>
                </a:lnTo>
                <a:cubicBezTo>
                  <a:pt x="0" y="277237"/>
                  <a:pt x="8513" y="285750"/>
                  <a:pt x="19050" y="285750"/>
                </a:cubicBezTo>
                <a:lnTo>
                  <a:pt x="70664" y="285750"/>
                </a:lnTo>
                <a:cubicBezTo>
                  <a:pt x="68104" y="279916"/>
                  <a:pt x="66675" y="273487"/>
                  <a:pt x="66675" y="266700"/>
                </a:cubicBezTo>
                <a:lnTo>
                  <a:pt x="66675" y="257175"/>
                </a:lnTo>
                <a:cubicBezTo>
                  <a:pt x="66675" y="225504"/>
                  <a:pt x="78581" y="196572"/>
                  <a:pt x="98167" y="174665"/>
                </a:cubicBezTo>
                <a:cubicBezTo>
                  <a:pt x="91202" y="172581"/>
                  <a:pt x="83820" y="171450"/>
                  <a:pt x="76200" y="171450"/>
                </a:cubicBezTo>
                <a:cubicBezTo>
                  <a:pt x="34111" y="171450"/>
                  <a:pt x="0" y="205561"/>
                  <a:pt x="0" y="247650"/>
                </a:cubicBezTo>
                <a:close/>
                <a:moveTo>
                  <a:pt x="366712" y="95250"/>
                </a:moveTo>
                <a:cubicBezTo>
                  <a:pt x="366712" y="71594"/>
                  <a:pt x="347506" y="52388"/>
                  <a:pt x="323850" y="52388"/>
                </a:cubicBezTo>
                <a:cubicBezTo>
                  <a:pt x="300194" y="52388"/>
                  <a:pt x="280987" y="71594"/>
                  <a:pt x="280987" y="95250"/>
                </a:cubicBezTo>
                <a:cubicBezTo>
                  <a:pt x="280987" y="118906"/>
                  <a:pt x="300194" y="138113"/>
                  <a:pt x="323850" y="138113"/>
                </a:cubicBezTo>
                <a:cubicBezTo>
                  <a:pt x="347506" y="138113"/>
                  <a:pt x="366712" y="118906"/>
                  <a:pt x="366712" y="95250"/>
                </a:cubicBezTo>
                <a:close/>
                <a:moveTo>
                  <a:pt x="95250" y="257175"/>
                </a:moveTo>
                <a:lnTo>
                  <a:pt x="95250" y="266700"/>
                </a:lnTo>
                <a:cubicBezTo>
                  <a:pt x="95250" y="277237"/>
                  <a:pt x="103763" y="285750"/>
                  <a:pt x="114300" y="285750"/>
                </a:cubicBezTo>
                <a:lnTo>
                  <a:pt x="207645" y="285750"/>
                </a:lnTo>
                <a:cubicBezTo>
                  <a:pt x="203418" y="272891"/>
                  <a:pt x="203895" y="259318"/>
                  <a:pt x="214015" y="247650"/>
                </a:cubicBezTo>
                <a:cubicBezTo>
                  <a:pt x="205680" y="238006"/>
                  <a:pt x="201811" y="224016"/>
                  <a:pt x="207228" y="209967"/>
                </a:cubicBezTo>
                <a:cubicBezTo>
                  <a:pt x="211157" y="199787"/>
                  <a:pt x="216694" y="190262"/>
                  <a:pt x="223540" y="181808"/>
                </a:cubicBezTo>
                <a:cubicBezTo>
                  <a:pt x="226755" y="177879"/>
                  <a:pt x="230445" y="174843"/>
                  <a:pt x="234434" y="172641"/>
                </a:cubicBezTo>
                <a:cubicBezTo>
                  <a:pt x="221278" y="165795"/>
                  <a:pt x="206335" y="161925"/>
                  <a:pt x="190500" y="161925"/>
                </a:cubicBezTo>
                <a:cubicBezTo>
                  <a:pt x="137874" y="161925"/>
                  <a:pt x="95250" y="204549"/>
                  <a:pt x="95250" y="257175"/>
                </a:cubicBezTo>
                <a:close/>
                <a:moveTo>
                  <a:pt x="371832" y="230922"/>
                </a:moveTo>
                <a:cubicBezTo>
                  <a:pt x="375583" y="228779"/>
                  <a:pt x="377488" y="224314"/>
                  <a:pt x="375880" y="220206"/>
                </a:cubicBezTo>
                <a:cubicBezTo>
                  <a:pt x="373023" y="212824"/>
                  <a:pt x="369034" y="205859"/>
                  <a:pt x="364034" y="199727"/>
                </a:cubicBezTo>
                <a:cubicBezTo>
                  <a:pt x="361295" y="196334"/>
                  <a:pt x="356473" y="195739"/>
                  <a:pt x="352723" y="197941"/>
                </a:cubicBezTo>
                <a:cubicBezTo>
                  <a:pt x="339745" y="205442"/>
                  <a:pt x="323790" y="196275"/>
                  <a:pt x="323790" y="181213"/>
                </a:cubicBezTo>
                <a:cubicBezTo>
                  <a:pt x="323790" y="176867"/>
                  <a:pt x="320873" y="172998"/>
                  <a:pt x="316587" y="172343"/>
                </a:cubicBezTo>
                <a:cubicBezTo>
                  <a:pt x="308908" y="171152"/>
                  <a:pt x="300633" y="171152"/>
                  <a:pt x="292953" y="172343"/>
                </a:cubicBezTo>
                <a:cubicBezTo>
                  <a:pt x="288667" y="172998"/>
                  <a:pt x="285750" y="176867"/>
                  <a:pt x="285750" y="181213"/>
                </a:cubicBezTo>
                <a:cubicBezTo>
                  <a:pt x="285750" y="196215"/>
                  <a:pt x="269796" y="205442"/>
                  <a:pt x="256818" y="197941"/>
                </a:cubicBezTo>
                <a:cubicBezTo>
                  <a:pt x="253067" y="195798"/>
                  <a:pt x="248245" y="196394"/>
                  <a:pt x="245507" y="199727"/>
                </a:cubicBezTo>
                <a:cubicBezTo>
                  <a:pt x="240506" y="205859"/>
                  <a:pt x="236518" y="212824"/>
                  <a:pt x="233660" y="220206"/>
                </a:cubicBezTo>
                <a:cubicBezTo>
                  <a:pt x="232112" y="224254"/>
                  <a:pt x="233958" y="228719"/>
                  <a:pt x="237708" y="230862"/>
                </a:cubicBezTo>
                <a:cubicBezTo>
                  <a:pt x="250746" y="238363"/>
                  <a:pt x="250746" y="256758"/>
                  <a:pt x="237708" y="264319"/>
                </a:cubicBezTo>
                <a:cubicBezTo>
                  <a:pt x="233958" y="266462"/>
                  <a:pt x="232053" y="270927"/>
                  <a:pt x="233660" y="274975"/>
                </a:cubicBezTo>
                <a:cubicBezTo>
                  <a:pt x="236518" y="282357"/>
                  <a:pt x="240506" y="289322"/>
                  <a:pt x="245507" y="295454"/>
                </a:cubicBezTo>
                <a:cubicBezTo>
                  <a:pt x="248245" y="298847"/>
                  <a:pt x="253067" y="299442"/>
                  <a:pt x="256818" y="297240"/>
                </a:cubicBezTo>
                <a:cubicBezTo>
                  <a:pt x="269796" y="289739"/>
                  <a:pt x="285750" y="298966"/>
                  <a:pt x="285750" y="313968"/>
                </a:cubicBezTo>
                <a:cubicBezTo>
                  <a:pt x="285750" y="318314"/>
                  <a:pt x="288667" y="322183"/>
                  <a:pt x="292953" y="322838"/>
                </a:cubicBezTo>
                <a:cubicBezTo>
                  <a:pt x="300633" y="324029"/>
                  <a:pt x="308908" y="324029"/>
                  <a:pt x="316587" y="322838"/>
                </a:cubicBezTo>
                <a:cubicBezTo>
                  <a:pt x="320873" y="322183"/>
                  <a:pt x="323790" y="318314"/>
                  <a:pt x="323790" y="313968"/>
                </a:cubicBezTo>
                <a:cubicBezTo>
                  <a:pt x="323790" y="298966"/>
                  <a:pt x="339745" y="289739"/>
                  <a:pt x="352723" y="297240"/>
                </a:cubicBezTo>
                <a:cubicBezTo>
                  <a:pt x="356473" y="299383"/>
                  <a:pt x="361295" y="298787"/>
                  <a:pt x="364034" y="295454"/>
                </a:cubicBezTo>
                <a:cubicBezTo>
                  <a:pt x="369034" y="289322"/>
                  <a:pt x="373023" y="282357"/>
                  <a:pt x="375880" y="274975"/>
                </a:cubicBezTo>
                <a:cubicBezTo>
                  <a:pt x="377428" y="270927"/>
                  <a:pt x="375583" y="266462"/>
                  <a:pt x="371832" y="264319"/>
                </a:cubicBezTo>
                <a:cubicBezTo>
                  <a:pt x="358795" y="256818"/>
                  <a:pt x="358795" y="238423"/>
                  <a:pt x="371832" y="230862"/>
                </a:cubicBezTo>
                <a:close/>
                <a:moveTo>
                  <a:pt x="280987" y="247650"/>
                </a:moveTo>
                <a:cubicBezTo>
                  <a:pt x="280987" y="234508"/>
                  <a:pt x="291658" y="223838"/>
                  <a:pt x="304800" y="223838"/>
                </a:cubicBezTo>
                <a:cubicBezTo>
                  <a:pt x="317942" y="223838"/>
                  <a:pt x="328613" y="234508"/>
                  <a:pt x="328613" y="247650"/>
                </a:cubicBezTo>
                <a:cubicBezTo>
                  <a:pt x="328613" y="260792"/>
                  <a:pt x="317942" y="271463"/>
                  <a:pt x="304800" y="271463"/>
                </a:cubicBezTo>
                <a:cubicBezTo>
                  <a:pt x="291658" y="271463"/>
                  <a:pt x="280987" y="260792"/>
                  <a:pt x="280987" y="247650"/>
                </a:cubicBezTo>
                <a:close/>
              </a:path>
            </a:pathLst>
          </a:custGeom>
          <a:solidFill>
            <a:srgbClr val="8F5C9A"/>
          </a:solidFill>
        </p:spPr>
      </p:sp>
      <p:sp>
        <p:nvSpPr>
          <p:cNvPr id="20" name="Text 17"/>
          <p:cNvSpPr/>
          <p:nvPr>
            <p:custDataLst>
              <p:tags r:id="rId16"/>
            </p:custDataLst>
          </p:nvPr>
        </p:nvSpPr>
        <p:spPr>
          <a:xfrm>
            <a:off x="7112000" y="4114800"/>
            <a:ext cx="533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Cạnh Tranh Khốc Liệt</a:t>
            </a:r>
            <a:endParaRPr lang="en-US" sz="18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21" name="Text 18"/>
          <p:cNvSpPr/>
          <p:nvPr>
            <p:custDataLst>
              <p:tags r:id="rId17"/>
            </p:custDataLst>
          </p:nvPr>
        </p:nvSpPr>
        <p:spPr>
          <a:xfrm>
            <a:off x="7112000" y="4876800"/>
            <a:ext cx="4826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Phải cạnh tranh với cả sinh viên trong và ngoài nước, cũng như người có kinh nghiệm.</a:t>
            </a:r>
            <a:endParaRPr lang="en-US" sz="14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Tác động xã hội</a:t>
            </a:r>
            <a:endParaRPr lang="en-US" sz="7200" b="1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02</a:t>
            </a:r>
            <a:endParaRPr lang="en-US" sz="7200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9375" y="-178435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203325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Hệ Lụy Tâm Lý Nặng Nề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184400"/>
            <a:ext cx="5435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Thất nghiệp kéo dài tác động tiêu cực nghiêm trọng đến tâm lý, dẫn đến những hậu quả khó lường.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4000" y="3251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381000" y="3378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9" name="Text 6"/>
          <p:cNvSpPr/>
          <p:nvPr/>
        </p:nvSpPr>
        <p:spPr>
          <a:xfrm>
            <a:off x="914400" y="3200400"/>
            <a:ext cx="4775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Mất tự tin:</a:t>
            </a: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 Cảm giác bản thân kém cỏi, không có giá trị.</a:t>
            </a:r>
            <a:endParaRPr lang="en-US" sz="1700" dirty="0">
              <a:latin typeface="Montserrat" charset="0"/>
              <a:cs typeface="Montserrat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54000" y="4267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381000" y="4394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7625" y="158750"/>
                </a:moveTo>
                <a:cubicBezTo>
                  <a:pt x="21332" y="158750"/>
                  <a:pt x="0" y="137418"/>
                  <a:pt x="0" y="111125"/>
                </a:cubicBezTo>
                <a:cubicBezTo>
                  <a:pt x="0" y="90041"/>
                  <a:pt x="13692" y="72132"/>
                  <a:pt x="32693" y="65881"/>
                </a:cubicBezTo>
                <a:cubicBezTo>
                  <a:pt x="32048" y="62557"/>
                  <a:pt x="31750" y="59085"/>
                  <a:pt x="31750" y="55563"/>
                </a:cubicBezTo>
                <a:cubicBezTo>
                  <a:pt x="31750" y="24854"/>
                  <a:pt x="56604" y="0"/>
                  <a:pt x="87313" y="0"/>
                </a:cubicBezTo>
                <a:cubicBezTo>
                  <a:pt x="108694" y="0"/>
                  <a:pt x="127248" y="12055"/>
                  <a:pt x="136525" y="29766"/>
                </a:cubicBezTo>
                <a:cubicBezTo>
                  <a:pt x="143818" y="21282"/>
                  <a:pt x="154632" y="15875"/>
                  <a:pt x="166688" y="15875"/>
                </a:cubicBezTo>
                <a:cubicBezTo>
                  <a:pt x="188615" y="15875"/>
                  <a:pt x="206375" y="33635"/>
                  <a:pt x="206375" y="55563"/>
                </a:cubicBezTo>
                <a:cubicBezTo>
                  <a:pt x="206375" y="58291"/>
                  <a:pt x="206077" y="60920"/>
                  <a:pt x="205581" y="63500"/>
                </a:cubicBezTo>
                <a:cubicBezTo>
                  <a:pt x="205829" y="63500"/>
                  <a:pt x="206127" y="63500"/>
                  <a:pt x="206375" y="63500"/>
                </a:cubicBezTo>
                <a:cubicBezTo>
                  <a:pt x="232668" y="63500"/>
                  <a:pt x="254000" y="84832"/>
                  <a:pt x="254000" y="111125"/>
                </a:cubicBezTo>
                <a:cubicBezTo>
                  <a:pt x="254000" y="137418"/>
                  <a:pt x="232668" y="158750"/>
                  <a:pt x="206375" y="158750"/>
                </a:cubicBezTo>
                <a:lnTo>
                  <a:pt x="47625" y="158750"/>
                </a:lnTo>
                <a:close/>
                <a:moveTo>
                  <a:pt x="48419" y="192584"/>
                </a:moveTo>
                <a:cubicBezTo>
                  <a:pt x="48964" y="191343"/>
                  <a:pt x="50205" y="190500"/>
                  <a:pt x="51594" y="190500"/>
                </a:cubicBezTo>
                <a:cubicBezTo>
                  <a:pt x="52983" y="190500"/>
                  <a:pt x="54223" y="191294"/>
                  <a:pt x="54769" y="192584"/>
                </a:cubicBezTo>
                <a:lnTo>
                  <a:pt x="69751" y="226417"/>
                </a:lnTo>
                <a:cubicBezTo>
                  <a:pt x="70842" y="228947"/>
                  <a:pt x="71438" y="231626"/>
                  <a:pt x="71438" y="234355"/>
                </a:cubicBezTo>
                <a:cubicBezTo>
                  <a:pt x="71438" y="245219"/>
                  <a:pt x="62458" y="254000"/>
                  <a:pt x="51594" y="254000"/>
                </a:cubicBezTo>
                <a:cubicBezTo>
                  <a:pt x="40729" y="254000"/>
                  <a:pt x="31750" y="245219"/>
                  <a:pt x="31750" y="234355"/>
                </a:cubicBezTo>
                <a:cubicBezTo>
                  <a:pt x="31750" y="231626"/>
                  <a:pt x="32345" y="228898"/>
                  <a:pt x="33437" y="226417"/>
                </a:cubicBezTo>
                <a:lnTo>
                  <a:pt x="48419" y="192584"/>
                </a:lnTo>
                <a:close/>
                <a:moveTo>
                  <a:pt x="123825" y="192584"/>
                </a:moveTo>
                <a:cubicBezTo>
                  <a:pt x="124371" y="191343"/>
                  <a:pt x="125611" y="190500"/>
                  <a:pt x="127000" y="190500"/>
                </a:cubicBezTo>
                <a:cubicBezTo>
                  <a:pt x="128389" y="190500"/>
                  <a:pt x="129629" y="191294"/>
                  <a:pt x="130175" y="192584"/>
                </a:cubicBezTo>
                <a:lnTo>
                  <a:pt x="145157" y="226417"/>
                </a:lnTo>
                <a:cubicBezTo>
                  <a:pt x="146248" y="228947"/>
                  <a:pt x="146844" y="231626"/>
                  <a:pt x="146844" y="234355"/>
                </a:cubicBezTo>
                <a:cubicBezTo>
                  <a:pt x="146844" y="245219"/>
                  <a:pt x="137864" y="254000"/>
                  <a:pt x="127000" y="254000"/>
                </a:cubicBezTo>
                <a:cubicBezTo>
                  <a:pt x="116136" y="254000"/>
                  <a:pt x="107156" y="245219"/>
                  <a:pt x="107156" y="234355"/>
                </a:cubicBezTo>
                <a:cubicBezTo>
                  <a:pt x="107156" y="231626"/>
                  <a:pt x="107752" y="228898"/>
                  <a:pt x="108843" y="226417"/>
                </a:cubicBezTo>
                <a:lnTo>
                  <a:pt x="123825" y="192584"/>
                </a:lnTo>
                <a:close/>
                <a:moveTo>
                  <a:pt x="184249" y="226417"/>
                </a:moveTo>
                <a:lnTo>
                  <a:pt x="199231" y="192584"/>
                </a:lnTo>
                <a:cubicBezTo>
                  <a:pt x="199777" y="191343"/>
                  <a:pt x="201017" y="190500"/>
                  <a:pt x="202406" y="190500"/>
                </a:cubicBezTo>
                <a:cubicBezTo>
                  <a:pt x="203795" y="190500"/>
                  <a:pt x="205036" y="191294"/>
                  <a:pt x="205581" y="192584"/>
                </a:cubicBezTo>
                <a:lnTo>
                  <a:pt x="220563" y="226417"/>
                </a:lnTo>
                <a:cubicBezTo>
                  <a:pt x="221655" y="228947"/>
                  <a:pt x="222250" y="231626"/>
                  <a:pt x="222250" y="234355"/>
                </a:cubicBezTo>
                <a:cubicBezTo>
                  <a:pt x="222250" y="245219"/>
                  <a:pt x="213271" y="254000"/>
                  <a:pt x="202406" y="254000"/>
                </a:cubicBezTo>
                <a:cubicBezTo>
                  <a:pt x="191542" y="254000"/>
                  <a:pt x="182562" y="245219"/>
                  <a:pt x="182562" y="234355"/>
                </a:cubicBezTo>
                <a:cubicBezTo>
                  <a:pt x="182562" y="231626"/>
                  <a:pt x="183158" y="228898"/>
                  <a:pt x="184249" y="226417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2" name="Text 9"/>
          <p:cNvSpPr/>
          <p:nvPr/>
        </p:nvSpPr>
        <p:spPr>
          <a:xfrm>
            <a:off x="914400" y="4216400"/>
            <a:ext cx="4775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Lo âu, trầm cảm:</a:t>
            </a: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 Áp lực từ gia đình và xã hội dẫn đến các vấn đề sức khỏe tinh thần.</a:t>
            </a:r>
            <a:endParaRPr lang="en-US" sz="1700" dirty="0">
              <a:latin typeface="Montserrat" charset="0"/>
              <a:cs typeface="Montserrat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54000" y="5283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349250" y="54102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55563" y="79375"/>
                </a:moveTo>
                <a:cubicBezTo>
                  <a:pt x="51197" y="79375"/>
                  <a:pt x="47625" y="82947"/>
                  <a:pt x="47625" y="87313"/>
                </a:cubicBezTo>
                <a:lnTo>
                  <a:pt x="47625" y="198438"/>
                </a:lnTo>
                <a:cubicBezTo>
                  <a:pt x="47625" y="202803"/>
                  <a:pt x="51197" y="206375"/>
                  <a:pt x="55563" y="206375"/>
                </a:cubicBezTo>
                <a:lnTo>
                  <a:pt x="261937" y="206375"/>
                </a:lnTo>
                <a:cubicBezTo>
                  <a:pt x="266303" y="206375"/>
                  <a:pt x="269875" y="202803"/>
                  <a:pt x="269875" y="198438"/>
                </a:cubicBezTo>
                <a:lnTo>
                  <a:pt x="269875" y="87313"/>
                </a:lnTo>
                <a:cubicBezTo>
                  <a:pt x="269875" y="82947"/>
                  <a:pt x="266303" y="79375"/>
                  <a:pt x="261937" y="79375"/>
                </a:cubicBezTo>
                <a:lnTo>
                  <a:pt x="55563" y="79375"/>
                </a:lnTo>
                <a:close/>
                <a:moveTo>
                  <a:pt x="15875" y="87313"/>
                </a:moveTo>
                <a:cubicBezTo>
                  <a:pt x="15875" y="65385"/>
                  <a:pt x="33635" y="47625"/>
                  <a:pt x="55563" y="47625"/>
                </a:cubicBezTo>
                <a:lnTo>
                  <a:pt x="261937" y="47625"/>
                </a:lnTo>
                <a:cubicBezTo>
                  <a:pt x="283865" y="47625"/>
                  <a:pt x="301625" y="65385"/>
                  <a:pt x="301625" y="87313"/>
                </a:cubicBezTo>
                <a:lnTo>
                  <a:pt x="301625" y="111125"/>
                </a:lnTo>
                <a:cubicBezTo>
                  <a:pt x="310406" y="111125"/>
                  <a:pt x="317500" y="118219"/>
                  <a:pt x="317500" y="127000"/>
                </a:cubicBezTo>
                <a:lnTo>
                  <a:pt x="317500" y="158750"/>
                </a:lnTo>
                <a:cubicBezTo>
                  <a:pt x="317500" y="167531"/>
                  <a:pt x="310406" y="174625"/>
                  <a:pt x="301625" y="174625"/>
                </a:cubicBezTo>
                <a:lnTo>
                  <a:pt x="301625" y="198438"/>
                </a:lnTo>
                <a:cubicBezTo>
                  <a:pt x="301625" y="220365"/>
                  <a:pt x="283865" y="238125"/>
                  <a:pt x="261937" y="238125"/>
                </a:cubicBezTo>
                <a:lnTo>
                  <a:pt x="55563" y="238125"/>
                </a:lnTo>
                <a:cubicBezTo>
                  <a:pt x="33635" y="238125"/>
                  <a:pt x="15875" y="220365"/>
                  <a:pt x="15875" y="198438"/>
                </a:cubicBezTo>
                <a:lnTo>
                  <a:pt x="15875" y="87313"/>
                </a:lnTo>
                <a:close/>
              </a:path>
            </a:pathLst>
          </a:custGeom>
          <a:solidFill>
            <a:srgbClr val="A95EAF"/>
          </a:solidFill>
        </p:spPr>
      </p:sp>
      <p:sp>
        <p:nvSpPr>
          <p:cNvPr id="15" name="Text 12"/>
          <p:cNvSpPr/>
          <p:nvPr/>
        </p:nvSpPr>
        <p:spPr>
          <a:xfrm>
            <a:off x="914400" y="5232400"/>
            <a:ext cx="4775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Giảm động lực:</a:t>
            </a: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 Mất dần ý chí phấn đấu, dễ dàng bỏ cuộc.</a:t>
            </a:r>
            <a:endParaRPr lang="en-US" sz="1700" dirty="0">
              <a:latin typeface="Montserrat" charset="0"/>
              <a:cs typeface="Montserrat" charset="0"/>
            </a:endParaRPr>
          </a:p>
        </p:txBody>
      </p:sp>
      <p:pic>
        <p:nvPicPr>
          <p:cNvPr id="16" name="Image 1" descr="https://kimi-web-img.moonshot.cn/img/img-preview.51jiaoxi.com/32799aa421595a3628826ac85e9723f7278f8083.jpg"/>
          <p:cNvPicPr>
            <a:picLocks noChangeAspect="1"/>
          </p:cNvPicPr>
          <p:nvPr/>
        </p:nvPicPr>
        <p:blipFill>
          <a:blip r:embed="rId2"/>
          <a:srcRect l="15925" r="15925"/>
          <a:stretch>
            <a:fillRect/>
          </a:stretch>
        </p:blipFill>
        <p:spPr>
          <a:xfrm>
            <a:off x="6096000" y="838200"/>
            <a:ext cx="5842000" cy="4826000"/>
          </a:xfrm>
          <a:prstGeom prst="roundRect">
            <a:avLst>
              <a:gd name="adj" fmla="val 4211"/>
            </a:avLst>
          </a:prstGeom>
        </p:spPr>
      </p:pic>
      <p:sp>
        <p:nvSpPr>
          <p:cNvPr id="17" name="Text 2"/>
          <p:cNvSpPr/>
          <p:nvPr/>
        </p:nvSpPr>
        <p:spPr>
          <a:xfrm>
            <a:off x="1206500" y="127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02. Tác động xã hội</a:t>
            </a:r>
            <a:endParaRPr lang="en-US" sz="36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7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Thiệt Hại Kinh Tế To Lớn</a:t>
            </a:r>
            <a:endParaRPr lang="en-US" sz="36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0" y="812800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3C3542">
                    <a:alpha val="80000"/>
                  </a:srgbClr>
                </a:solidFill>
                <a:latin typeface="Montserrat" charset="0"/>
                <a:ea typeface="MiSans" pitchFamily="34" charset="-122"/>
                <a:cs typeface="Montserrat" charset="0"/>
              </a:rPr>
              <a:t>Thất nghiệp không chỉ là vấn đề cá nhân mà còn là gánh nặng cho nền kinh tế.</a:t>
            </a:r>
            <a:endParaRPr lang="en-US" sz="1700" dirty="0">
              <a:solidFill>
                <a:srgbClr val="3C3542">
                  <a:alpha val="80000"/>
                </a:srgbClr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98755" y="1574800"/>
            <a:ext cx="3759200" cy="5029200"/>
          </a:xfrm>
          <a:custGeom>
            <a:avLst/>
            <a:gdLst/>
            <a:ahLst/>
            <a:cxnLst/>
            <a:rect l="l" t="t" r="r" b="b"/>
            <a:pathLst>
              <a:path w="3759200" h="5029200">
                <a:moveTo>
                  <a:pt x="152398" y="0"/>
                </a:moveTo>
                <a:lnTo>
                  <a:pt x="3606802" y="0"/>
                </a:lnTo>
                <a:cubicBezTo>
                  <a:pt x="3690969" y="0"/>
                  <a:pt x="3759200" y="68231"/>
                  <a:pt x="3759200" y="152398"/>
                </a:cubicBezTo>
                <a:lnTo>
                  <a:pt x="3759200" y="4876802"/>
                </a:lnTo>
                <a:cubicBezTo>
                  <a:pt x="3759200" y="4960969"/>
                  <a:pt x="3690969" y="5029200"/>
                  <a:pt x="3606802" y="5029200"/>
                </a:cubicBezTo>
                <a:lnTo>
                  <a:pt x="152398" y="5029200"/>
                </a:lnTo>
                <a:cubicBezTo>
                  <a:pt x="68231" y="5029200"/>
                  <a:pt x="0" y="4960969"/>
                  <a:pt x="0" y="4876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671955" y="3149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F5C9A"/>
          </a:solidFill>
        </p:spPr>
      </p:sp>
      <p:sp>
        <p:nvSpPr>
          <p:cNvPr id="9" name="Shape 6"/>
          <p:cNvSpPr/>
          <p:nvPr/>
        </p:nvSpPr>
        <p:spPr>
          <a:xfrm>
            <a:off x="1843405" y="33655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54322" y="-18529"/>
                </a:moveTo>
                <a:cubicBezTo>
                  <a:pt x="47327" y="-25524"/>
                  <a:pt x="36016" y="-25524"/>
                  <a:pt x="29096" y="-18529"/>
                </a:cubicBezTo>
                <a:cubicBezTo>
                  <a:pt x="22175" y="-11534"/>
                  <a:pt x="22101" y="-223"/>
                  <a:pt x="29021" y="6772"/>
                </a:cubicBezTo>
                <a:lnTo>
                  <a:pt x="421928" y="399678"/>
                </a:lnTo>
                <a:cubicBezTo>
                  <a:pt x="428923" y="406673"/>
                  <a:pt x="440234" y="406673"/>
                  <a:pt x="447154" y="399678"/>
                </a:cubicBezTo>
                <a:cubicBezTo>
                  <a:pt x="454075" y="392683"/>
                  <a:pt x="454149" y="381372"/>
                  <a:pt x="447154" y="374452"/>
                </a:cubicBezTo>
                <a:lnTo>
                  <a:pt x="239464" y="166688"/>
                </a:lnTo>
                <a:cubicBezTo>
                  <a:pt x="281583" y="165943"/>
                  <a:pt x="315516" y="131564"/>
                  <a:pt x="315516" y="89297"/>
                </a:cubicBezTo>
                <a:cubicBezTo>
                  <a:pt x="315516" y="46583"/>
                  <a:pt x="280839" y="11906"/>
                  <a:pt x="238125" y="11906"/>
                </a:cubicBezTo>
                <a:cubicBezTo>
                  <a:pt x="195858" y="11906"/>
                  <a:pt x="161479" y="45839"/>
                  <a:pt x="160734" y="87957"/>
                </a:cubicBezTo>
                <a:lnTo>
                  <a:pt x="54322" y="-18529"/>
                </a:lnTo>
                <a:close/>
                <a:moveTo>
                  <a:pt x="381000" y="214313"/>
                </a:moveTo>
                <a:cubicBezTo>
                  <a:pt x="368201" y="214313"/>
                  <a:pt x="355922" y="216843"/>
                  <a:pt x="344760" y="221456"/>
                </a:cubicBezTo>
                <a:lnTo>
                  <a:pt x="471264" y="347960"/>
                </a:lnTo>
                <a:cubicBezTo>
                  <a:pt x="474390" y="343942"/>
                  <a:pt x="476250" y="338882"/>
                  <a:pt x="476250" y="333375"/>
                </a:cubicBezTo>
                <a:lnTo>
                  <a:pt x="476250" y="309563"/>
                </a:lnTo>
                <a:cubicBezTo>
                  <a:pt x="476250" y="256952"/>
                  <a:pt x="433611" y="214313"/>
                  <a:pt x="381000" y="214313"/>
                </a:cubicBezTo>
                <a:close/>
                <a:moveTo>
                  <a:pt x="44574" y="72703"/>
                </a:moveTo>
                <a:cubicBezTo>
                  <a:pt x="28575" y="82004"/>
                  <a:pt x="17859" y="99268"/>
                  <a:pt x="17859" y="119063"/>
                </a:cubicBezTo>
                <a:cubicBezTo>
                  <a:pt x="17859" y="148679"/>
                  <a:pt x="41821" y="172641"/>
                  <a:pt x="71438" y="172641"/>
                </a:cubicBezTo>
                <a:cubicBezTo>
                  <a:pt x="91232" y="172641"/>
                  <a:pt x="108496" y="161925"/>
                  <a:pt x="117797" y="145926"/>
                </a:cubicBezTo>
                <a:lnTo>
                  <a:pt x="44574" y="72703"/>
                </a:lnTo>
                <a:close/>
                <a:moveTo>
                  <a:pt x="186184" y="214313"/>
                </a:moveTo>
                <a:cubicBezTo>
                  <a:pt x="146447" y="233586"/>
                  <a:pt x="119063" y="274365"/>
                  <a:pt x="119063" y="321469"/>
                </a:cubicBezTo>
                <a:lnTo>
                  <a:pt x="119063" y="333375"/>
                </a:lnTo>
                <a:cubicBezTo>
                  <a:pt x="119063" y="346546"/>
                  <a:pt x="129704" y="357188"/>
                  <a:pt x="142875" y="357188"/>
                </a:cubicBezTo>
                <a:lnTo>
                  <a:pt x="329059" y="357188"/>
                </a:lnTo>
                <a:lnTo>
                  <a:pt x="186184" y="214313"/>
                </a:lnTo>
                <a:close/>
                <a:moveTo>
                  <a:pt x="95250" y="214313"/>
                </a:moveTo>
                <a:cubicBezTo>
                  <a:pt x="42639" y="214313"/>
                  <a:pt x="0" y="256952"/>
                  <a:pt x="0" y="309563"/>
                </a:cubicBezTo>
                <a:lnTo>
                  <a:pt x="0" y="333375"/>
                </a:lnTo>
                <a:cubicBezTo>
                  <a:pt x="0" y="346546"/>
                  <a:pt x="10641" y="357188"/>
                  <a:pt x="23812" y="357188"/>
                </a:cubicBezTo>
                <a:lnTo>
                  <a:pt x="88329" y="357188"/>
                </a:lnTo>
                <a:cubicBezTo>
                  <a:pt x="85130" y="349895"/>
                  <a:pt x="83344" y="341858"/>
                  <a:pt x="83344" y="333375"/>
                </a:cubicBezTo>
                <a:lnTo>
                  <a:pt x="83344" y="321469"/>
                </a:lnTo>
                <a:cubicBezTo>
                  <a:pt x="83344" y="281880"/>
                  <a:pt x="98227" y="245715"/>
                  <a:pt x="122709" y="218331"/>
                </a:cubicBezTo>
                <a:cubicBezTo>
                  <a:pt x="114002" y="215726"/>
                  <a:pt x="104775" y="214313"/>
                  <a:pt x="95250" y="214313"/>
                </a:cubicBezTo>
                <a:close/>
                <a:moveTo>
                  <a:pt x="458391" y="119063"/>
                </a:moveTo>
                <a:cubicBezTo>
                  <a:pt x="458391" y="89492"/>
                  <a:pt x="434383" y="65484"/>
                  <a:pt x="404813" y="65484"/>
                </a:cubicBezTo>
                <a:cubicBezTo>
                  <a:pt x="375242" y="65484"/>
                  <a:pt x="351234" y="89492"/>
                  <a:pt x="351234" y="119063"/>
                </a:cubicBezTo>
                <a:cubicBezTo>
                  <a:pt x="351234" y="148633"/>
                  <a:pt x="375242" y="172641"/>
                  <a:pt x="404813" y="172641"/>
                </a:cubicBezTo>
                <a:cubicBezTo>
                  <a:pt x="434383" y="172641"/>
                  <a:pt x="458391" y="148633"/>
                  <a:pt x="458391" y="11906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770890" y="4264025"/>
            <a:ext cx="251206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Lãng Phí Nguồn Nhân Lực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0850" y="5137150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Lực lượng lao động trẻ, được đào tạo bị đóng băng, không được sử dụng.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16400" y="1574800"/>
            <a:ext cx="3759200" cy="5029200"/>
          </a:xfrm>
          <a:custGeom>
            <a:avLst/>
            <a:gdLst/>
            <a:ahLst/>
            <a:cxnLst/>
            <a:rect l="l" t="t" r="r" b="b"/>
            <a:pathLst>
              <a:path w="3759200" h="5029200">
                <a:moveTo>
                  <a:pt x="152398" y="0"/>
                </a:moveTo>
                <a:lnTo>
                  <a:pt x="3606802" y="0"/>
                </a:lnTo>
                <a:cubicBezTo>
                  <a:pt x="3690969" y="0"/>
                  <a:pt x="3759200" y="68231"/>
                  <a:pt x="3759200" y="152398"/>
                </a:cubicBezTo>
                <a:lnTo>
                  <a:pt x="3759200" y="4876802"/>
                </a:lnTo>
                <a:cubicBezTo>
                  <a:pt x="3759200" y="4960969"/>
                  <a:pt x="3690969" y="5029200"/>
                  <a:pt x="3606802" y="5029200"/>
                </a:cubicBezTo>
                <a:lnTo>
                  <a:pt x="152398" y="5029200"/>
                </a:lnTo>
                <a:cubicBezTo>
                  <a:pt x="68231" y="5029200"/>
                  <a:pt x="0" y="4960969"/>
                  <a:pt x="0" y="4876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A95EAF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89600" y="3149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Shape 11"/>
          <p:cNvSpPr/>
          <p:nvPr/>
        </p:nvSpPr>
        <p:spPr>
          <a:xfrm>
            <a:off x="5908675" y="336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9039" y="170036"/>
                </a:moveTo>
                <a:cubicBezTo>
                  <a:pt x="58936" y="100831"/>
                  <a:pt x="118542" y="47625"/>
                  <a:pt x="190500" y="47625"/>
                </a:cubicBezTo>
                <a:cubicBezTo>
                  <a:pt x="229939" y="47625"/>
                  <a:pt x="265658" y="63624"/>
                  <a:pt x="291554" y="89446"/>
                </a:cubicBezTo>
                <a:cubicBezTo>
                  <a:pt x="291703" y="89595"/>
                  <a:pt x="291852" y="89743"/>
                  <a:pt x="292001" y="89892"/>
                </a:cubicBezTo>
                <a:lnTo>
                  <a:pt x="297656" y="95250"/>
                </a:lnTo>
                <a:lnTo>
                  <a:pt x="262012" y="95250"/>
                </a:lnTo>
                <a:cubicBezTo>
                  <a:pt x="248841" y="95250"/>
                  <a:pt x="238199" y="105891"/>
                  <a:pt x="238199" y="119063"/>
                </a:cubicBezTo>
                <a:cubicBezTo>
                  <a:pt x="238199" y="132234"/>
                  <a:pt x="248841" y="142875"/>
                  <a:pt x="262012" y="142875"/>
                </a:cubicBezTo>
                <a:lnTo>
                  <a:pt x="357262" y="142875"/>
                </a:lnTo>
                <a:cubicBezTo>
                  <a:pt x="370433" y="142875"/>
                  <a:pt x="381074" y="132234"/>
                  <a:pt x="381074" y="119063"/>
                </a:cubicBezTo>
                <a:lnTo>
                  <a:pt x="381074" y="23812"/>
                </a:lnTo>
                <a:cubicBezTo>
                  <a:pt x="381074" y="10641"/>
                  <a:pt x="370433" y="0"/>
                  <a:pt x="357262" y="0"/>
                </a:cubicBezTo>
                <a:cubicBezTo>
                  <a:pt x="344091" y="0"/>
                  <a:pt x="333449" y="10641"/>
                  <a:pt x="333449" y="23812"/>
                </a:cubicBezTo>
                <a:lnTo>
                  <a:pt x="333449" y="63550"/>
                </a:lnTo>
                <a:lnTo>
                  <a:pt x="325041" y="55587"/>
                </a:lnTo>
                <a:cubicBezTo>
                  <a:pt x="290587" y="21282"/>
                  <a:pt x="242962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lose/>
                <a:moveTo>
                  <a:pt x="379065" y="217661"/>
                </a:moveTo>
                <a:cubicBezTo>
                  <a:pt x="380926" y="204639"/>
                  <a:pt x="371847" y="192584"/>
                  <a:pt x="358899" y="190723"/>
                </a:cubicBezTo>
                <a:cubicBezTo>
                  <a:pt x="345951" y="188863"/>
                  <a:pt x="333821" y="197941"/>
                  <a:pt x="331961" y="210889"/>
                </a:cubicBezTo>
                <a:cubicBezTo>
                  <a:pt x="322064" y="280095"/>
                  <a:pt x="262458" y="333301"/>
                  <a:pt x="190500" y="333301"/>
                </a:cubicBezTo>
                <a:cubicBezTo>
                  <a:pt x="151061" y="333301"/>
                  <a:pt x="115342" y="317302"/>
                  <a:pt x="89446" y="291480"/>
                </a:cubicBezTo>
                <a:cubicBezTo>
                  <a:pt x="89297" y="291331"/>
                  <a:pt x="89148" y="291182"/>
                  <a:pt x="88999" y="291033"/>
                </a:cubicBezTo>
                <a:lnTo>
                  <a:pt x="83344" y="285676"/>
                </a:lnTo>
                <a:lnTo>
                  <a:pt x="118988" y="285676"/>
                </a:lnTo>
                <a:cubicBezTo>
                  <a:pt x="132159" y="285676"/>
                  <a:pt x="142801" y="275034"/>
                  <a:pt x="142801" y="261863"/>
                </a:cubicBezTo>
                <a:cubicBezTo>
                  <a:pt x="142801" y="248692"/>
                  <a:pt x="132159" y="238051"/>
                  <a:pt x="118988" y="238051"/>
                </a:cubicBezTo>
                <a:lnTo>
                  <a:pt x="23812" y="238125"/>
                </a:lnTo>
                <a:cubicBezTo>
                  <a:pt x="17487" y="238125"/>
                  <a:pt x="11385" y="240655"/>
                  <a:pt x="6921" y="245194"/>
                </a:cubicBezTo>
                <a:cubicBezTo>
                  <a:pt x="2456" y="249734"/>
                  <a:pt x="-74" y="255761"/>
                  <a:pt x="0" y="262161"/>
                </a:cubicBezTo>
                <a:lnTo>
                  <a:pt x="744" y="356667"/>
                </a:lnTo>
                <a:cubicBezTo>
                  <a:pt x="819" y="369838"/>
                  <a:pt x="11609" y="380405"/>
                  <a:pt x="24780" y="380256"/>
                </a:cubicBezTo>
                <a:cubicBezTo>
                  <a:pt x="37951" y="380107"/>
                  <a:pt x="48518" y="369391"/>
                  <a:pt x="48369" y="356220"/>
                </a:cubicBezTo>
                <a:lnTo>
                  <a:pt x="48071" y="317897"/>
                </a:lnTo>
                <a:lnTo>
                  <a:pt x="56034" y="325413"/>
                </a:lnTo>
                <a:cubicBezTo>
                  <a:pt x="90488" y="359718"/>
                  <a:pt x="138038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5" name="Text 12"/>
          <p:cNvSpPr/>
          <p:nvPr/>
        </p:nvSpPr>
        <p:spPr>
          <a:xfrm>
            <a:off x="4658995" y="4264025"/>
            <a:ext cx="281813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Giảm Năng Suất Lao Động</a:t>
            </a:r>
            <a:endParaRPr lang="en-US" sz="2200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22775" y="5137150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Tổng năng suất quốc gia bị sụt giảm do thiếu vắng nhân tài trẻ.</a:t>
            </a:r>
            <a:endParaRPr lang="en-US" sz="1700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178800" y="1574800"/>
            <a:ext cx="3759200" cy="5029200"/>
          </a:xfrm>
          <a:custGeom>
            <a:avLst/>
            <a:gdLst/>
            <a:ahLst/>
            <a:cxnLst/>
            <a:rect l="l" t="t" r="r" b="b"/>
            <a:pathLst>
              <a:path w="3759200" h="5029200">
                <a:moveTo>
                  <a:pt x="152398" y="0"/>
                </a:moveTo>
                <a:lnTo>
                  <a:pt x="3606802" y="0"/>
                </a:lnTo>
                <a:cubicBezTo>
                  <a:pt x="3690969" y="0"/>
                  <a:pt x="3759200" y="68231"/>
                  <a:pt x="3759200" y="152398"/>
                </a:cubicBezTo>
                <a:lnTo>
                  <a:pt x="3759200" y="4876802"/>
                </a:lnTo>
                <a:cubicBezTo>
                  <a:pt x="3759200" y="4960969"/>
                  <a:pt x="3690969" y="5029200"/>
                  <a:pt x="3606802" y="5029200"/>
                </a:cubicBezTo>
                <a:lnTo>
                  <a:pt x="152398" y="5029200"/>
                </a:lnTo>
                <a:cubicBezTo>
                  <a:pt x="68231" y="5029200"/>
                  <a:pt x="0" y="4960969"/>
                  <a:pt x="0" y="48768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652000" y="3149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F5C9A"/>
          </a:solidFill>
        </p:spPr>
      </p:sp>
      <p:sp>
        <p:nvSpPr>
          <p:cNvPr id="19" name="Shape 16"/>
          <p:cNvSpPr/>
          <p:nvPr/>
        </p:nvSpPr>
        <p:spPr>
          <a:xfrm>
            <a:off x="9847263" y="3365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14313" y="-11906"/>
                </a:moveTo>
                <a:cubicBezTo>
                  <a:pt x="204415" y="-11906"/>
                  <a:pt x="196453" y="-3944"/>
                  <a:pt x="196453" y="5953"/>
                </a:cubicBezTo>
                <a:lnTo>
                  <a:pt x="196453" y="14883"/>
                </a:lnTo>
                <a:lnTo>
                  <a:pt x="195114" y="14883"/>
                </a:lnTo>
                <a:cubicBezTo>
                  <a:pt x="167878" y="14883"/>
                  <a:pt x="145852" y="36984"/>
                  <a:pt x="145852" y="64145"/>
                </a:cubicBezTo>
                <a:cubicBezTo>
                  <a:pt x="145852" y="88999"/>
                  <a:pt x="164381" y="109984"/>
                  <a:pt x="189012" y="113035"/>
                </a:cubicBezTo>
                <a:lnTo>
                  <a:pt x="234404" y="118690"/>
                </a:lnTo>
                <a:cubicBezTo>
                  <a:pt x="238199" y="119137"/>
                  <a:pt x="241102" y="122411"/>
                  <a:pt x="241102" y="126281"/>
                </a:cubicBezTo>
                <a:cubicBezTo>
                  <a:pt x="241102" y="130522"/>
                  <a:pt x="237679" y="133871"/>
                  <a:pt x="233511" y="133871"/>
                </a:cubicBezTo>
                <a:lnTo>
                  <a:pt x="178594" y="133945"/>
                </a:lnTo>
                <a:cubicBezTo>
                  <a:pt x="167060" y="133945"/>
                  <a:pt x="157758" y="143247"/>
                  <a:pt x="157758" y="154781"/>
                </a:cubicBezTo>
                <a:cubicBezTo>
                  <a:pt x="157758" y="166315"/>
                  <a:pt x="167060" y="175617"/>
                  <a:pt x="178594" y="175617"/>
                </a:cubicBezTo>
                <a:lnTo>
                  <a:pt x="196453" y="175617"/>
                </a:lnTo>
                <a:lnTo>
                  <a:pt x="196453" y="184547"/>
                </a:lnTo>
                <a:cubicBezTo>
                  <a:pt x="196453" y="194444"/>
                  <a:pt x="204415" y="202406"/>
                  <a:pt x="214313" y="202406"/>
                </a:cubicBezTo>
                <a:cubicBezTo>
                  <a:pt x="224210" y="202406"/>
                  <a:pt x="232172" y="194444"/>
                  <a:pt x="232172" y="184547"/>
                </a:cubicBezTo>
                <a:lnTo>
                  <a:pt x="232172" y="175617"/>
                </a:lnTo>
                <a:lnTo>
                  <a:pt x="233511" y="175617"/>
                </a:lnTo>
                <a:cubicBezTo>
                  <a:pt x="260747" y="175617"/>
                  <a:pt x="282773" y="153516"/>
                  <a:pt x="282773" y="126355"/>
                </a:cubicBezTo>
                <a:cubicBezTo>
                  <a:pt x="282773" y="101501"/>
                  <a:pt x="264244" y="80516"/>
                  <a:pt x="239613" y="77465"/>
                </a:cubicBezTo>
                <a:lnTo>
                  <a:pt x="194221" y="71810"/>
                </a:lnTo>
                <a:cubicBezTo>
                  <a:pt x="190426" y="71363"/>
                  <a:pt x="187523" y="68089"/>
                  <a:pt x="187523" y="64219"/>
                </a:cubicBezTo>
                <a:cubicBezTo>
                  <a:pt x="187523" y="59978"/>
                  <a:pt x="190946" y="56629"/>
                  <a:pt x="195114" y="56629"/>
                </a:cubicBezTo>
                <a:lnTo>
                  <a:pt x="244078" y="56555"/>
                </a:lnTo>
                <a:cubicBezTo>
                  <a:pt x="255612" y="56555"/>
                  <a:pt x="264914" y="47253"/>
                  <a:pt x="264914" y="35719"/>
                </a:cubicBezTo>
                <a:cubicBezTo>
                  <a:pt x="264914" y="24185"/>
                  <a:pt x="255612" y="14883"/>
                  <a:pt x="244078" y="14883"/>
                </a:cubicBezTo>
                <a:lnTo>
                  <a:pt x="232172" y="14883"/>
                </a:lnTo>
                <a:lnTo>
                  <a:pt x="232172" y="5953"/>
                </a:lnTo>
                <a:cubicBezTo>
                  <a:pt x="232172" y="-3944"/>
                  <a:pt x="224210" y="-11906"/>
                  <a:pt x="214313" y="-11906"/>
                </a:cubicBezTo>
                <a:close/>
                <a:moveTo>
                  <a:pt x="81335" y="254124"/>
                </a:moveTo>
                <a:lnTo>
                  <a:pt x="49634" y="285750"/>
                </a:lnTo>
                <a:lnTo>
                  <a:pt x="23812" y="285750"/>
                </a:lnTo>
                <a:cubicBezTo>
                  <a:pt x="10641" y="285750"/>
                  <a:pt x="0" y="296391"/>
                  <a:pt x="0" y="309563"/>
                </a:cubicBezTo>
                <a:lnTo>
                  <a:pt x="0" y="357188"/>
                </a:lnTo>
                <a:cubicBezTo>
                  <a:pt x="0" y="370359"/>
                  <a:pt x="10641" y="381000"/>
                  <a:pt x="23812" y="381000"/>
                </a:cubicBezTo>
                <a:lnTo>
                  <a:pt x="262310" y="381000"/>
                </a:lnTo>
                <a:cubicBezTo>
                  <a:pt x="283890" y="381000"/>
                  <a:pt x="304949" y="374079"/>
                  <a:pt x="322362" y="361280"/>
                </a:cubicBezTo>
                <a:lnTo>
                  <a:pt x="416570" y="291852"/>
                </a:lnTo>
                <a:cubicBezTo>
                  <a:pt x="429816" y="282104"/>
                  <a:pt x="432643" y="263500"/>
                  <a:pt x="422895" y="250254"/>
                </a:cubicBezTo>
                <a:cubicBezTo>
                  <a:pt x="413147" y="237009"/>
                  <a:pt x="394543" y="234181"/>
                  <a:pt x="381298" y="243929"/>
                </a:cubicBezTo>
                <a:lnTo>
                  <a:pt x="292150" y="309563"/>
                </a:lnTo>
                <a:lnTo>
                  <a:pt x="208359" y="309563"/>
                </a:lnTo>
                <a:cubicBezTo>
                  <a:pt x="198462" y="309563"/>
                  <a:pt x="190500" y="301600"/>
                  <a:pt x="190500" y="291703"/>
                </a:cubicBezTo>
                <a:cubicBezTo>
                  <a:pt x="190500" y="281806"/>
                  <a:pt x="198462" y="273844"/>
                  <a:pt x="208359" y="273844"/>
                </a:cubicBezTo>
                <a:lnTo>
                  <a:pt x="261938" y="273844"/>
                </a:lnTo>
                <a:cubicBezTo>
                  <a:pt x="275109" y="273844"/>
                  <a:pt x="285750" y="263203"/>
                  <a:pt x="285750" y="250031"/>
                </a:cubicBezTo>
                <a:cubicBezTo>
                  <a:pt x="285750" y="236860"/>
                  <a:pt x="275109" y="226219"/>
                  <a:pt x="261938" y="226219"/>
                </a:cubicBezTo>
                <a:lnTo>
                  <a:pt x="148679" y="226219"/>
                </a:lnTo>
                <a:cubicBezTo>
                  <a:pt x="123453" y="226219"/>
                  <a:pt x="99194" y="236265"/>
                  <a:pt x="81335" y="25412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0" name="Text 17"/>
          <p:cNvSpPr/>
          <p:nvPr/>
        </p:nvSpPr>
        <p:spPr>
          <a:xfrm>
            <a:off x="7798435" y="4114800"/>
            <a:ext cx="462026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Gia Tăng Chi Phí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388350" y="5081905"/>
            <a:ext cx="3352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Chi phí an sinh xã hội tăng, thu ngân sách giảm, ảnh hưởng đến tăng trưởng GDP.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Giải pháp căn cơ</a:t>
            </a:r>
            <a:endParaRPr lang="en-US" sz="7200" b="1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03</a:t>
            </a:r>
            <a:endParaRPr lang="en-US" sz="7200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4655" y="126365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0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Giải Pháp Căn Cơ: Kết Nối Trường - Doanh Nghiệp</a:t>
            </a:r>
            <a:endParaRPr lang="en-US" sz="30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0" y="1073785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>
                    <a:alpha val="80000"/>
                  </a:srgbClr>
                </a:solidFill>
                <a:latin typeface="Montserrat" charset="0"/>
                <a:ea typeface="MiSans" pitchFamily="34" charset="-122"/>
                <a:cs typeface="Montserrat" charset="0"/>
              </a:rPr>
              <a:t>Tạo ra một hệ sinh thái giáo dục - việc làm khép kín, mang lại lợi ích cho cả hai bên.</a:t>
            </a:r>
            <a:endParaRPr lang="en-US" sz="1700" dirty="0">
              <a:solidFill>
                <a:srgbClr val="3C3542">
                  <a:alpha val="80000"/>
                </a:srgbClr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981200" y="2794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2286000" y="309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23731" y="24051"/>
                </a:moveTo>
                <a:cubicBezTo>
                  <a:pt x="312063" y="17383"/>
                  <a:pt x="297656" y="17383"/>
                  <a:pt x="285869" y="24051"/>
                </a:cubicBezTo>
                <a:lnTo>
                  <a:pt x="19169" y="176451"/>
                </a:lnTo>
                <a:cubicBezTo>
                  <a:pt x="4167" y="185023"/>
                  <a:pt x="-3215" y="202644"/>
                  <a:pt x="1191" y="219313"/>
                </a:cubicBezTo>
                <a:cubicBezTo>
                  <a:pt x="5596" y="235982"/>
                  <a:pt x="20836" y="247650"/>
                  <a:pt x="38100" y="247650"/>
                </a:cubicBezTo>
                <a:lnTo>
                  <a:pt x="76200" y="247650"/>
                </a:lnTo>
                <a:lnTo>
                  <a:pt x="76200" y="495300"/>
                </a:lnTo>
                <a:lnTo>
                  <a:pt x="76200" y="495300"/>
                </a:lnTo>
                <a:lnTo>
                  <a:pt x="15240" y="541020"/>
                </a:lnTo>
                <a:cubicBezTo>
                  <a:pt x="5596" y="548164"/>
                  <a:pt x="0" y="559475"/>
                  <a:pt x="0" y="571500"/>
                </a:cubicBezTo>
                <a:cubicBezTo>
                  <a:pt x="0" y="592574"/>
                  <a:pt x="17026" y="609600"/>
                  <a:pt x="38100" y="609600"/>
                </a:cubicBezTo>
                <a:lnTo>
                  <a:pt x="571500" y="609600"/>
                </a:lnTo>
                <a:cubicBezTo>
                  <a:pt x="592574" y="609600"/>
                  <a:pt x="609600" y="592574"/>
                  <a:pt x="609600" y="571500"/>
                </a:cubicBezTo>
                <a:cubicBezTo>
                  <a:pt x="609600" y="559475"/>
                  <a:pt x="604004" y="548164"/>
                  <a:pt x="594360" y="541020"/>
                </a:cubicBezTo>
                <a:lnTo>
                  <a:pt x="533400" y="495300"/>
                </a:lnTo>
                <a:lnTo>
                  <a:pt x="533400" y="247650"/>
                </a:lnTo>
                <a:lnTo>
                  <a:pt x="571500" y="247650"/>
                </a:lnTo>
                <a:cubicBezTo>
                  <a:pt x="588764" y="247650"/>
                  <a:pt x="603885" y="235982"/>
                  <a:pt x="608290" y="219313"/>
                </a:cubicBezTo>
                <a:cubicBezTo>
                  <a:pt x="612696" y="202644"/>
                  <a:pt x="605314" y="185023"/>
                  <a:pt x="590312" y="176451"/>
                </a:cubicBezTo>
                <a:lnTo>
                  <a:pt x="323612" y="24051"/>
                </a:lnTo>
                <a:close/>
                <a:moveTo>
                  <a:pt x="476250" y="247650"/>
                </a:moveTo>
                <a:lnTo>
                  <a:pt x="476250" y="495300"/>
                </a:lnTo>
                <a:lnTo>
                  <a:pt x="400050" y="495300"/>
                </a:lnTo>
                <a:lnTo>
                  <a:pt x="400050" y="247650"/>
                </a:lnTo>
                <a:lnTo>
                  <a:pt x="476250" y="247650"/>
                </a:lnTo>
                <a:close/>
                <a:moveTo>
                  <a:pt x="342900" y="247650"/>
                </a:moveTo>
                <a:lnTo>
                  <a:pt x="342900" y="495300"/>
                </a:lnTo>
                <a:lnTo>
                  <a:pt x="266700" y="495300"/>
                </a:lnTo>
                <a:lnTo>
                  <a:pt x="266700" y="247650"/>
                </a:lnTo>
                <a:lnTo>
                  <a:pt x="342900" y="247650"/>
                </a:lnTo>
                <a:close/>
                <a:moveTo>
                  <a:pt x="209550" y="247650"/>
                </a:moveTo>
                <a:lnTo>
                  <a:pt x="209550" y="495300"/>
                </a:lnTo>
                <a:lnTo>
                  <a:pt x="133350" y="495300"/>
                </a:lnTo>
                <a:lnTo>
                  <a:pt x="133350" y="247650"/>
                </a:lnTo>
                <a:lnTo>
                  <a:pt x="209550" y="247650"/>
                </a:lnTo>
                <a:close/>
                <a:moveTo>
                  <a:pt x="304800" y="114300"/>
                </a:moveTo>
                <a:cubicBezTo>
                  <a:pt x="325828" y="114300"/>
                  <a:pt x="342900" y="131372"/>
                  <a:pt x="342900" y="152400"/>
                </a:cubicBezTo>
                <a:cubicBezTo>
                  <a:pt x="342900" y="173428"/>
                  <a:pt x="325828" y="190500"/>
                  <a:pt x="304800" y="190500"/>
                </a:cubicBezTo>
                <a:cubicBezTo>
                  <a:pt x="283772" y="190500"/>
                  <a:pt x="266700" y="173428"/>
                  <a:pt x="266700" y="152400"/>
                </a:cubicBezTo>
                <a:cubicBezTo>
                  <a:pt x="266700" y="131372"/>
                  <a:pt x="283772" y="114300"/>
                  <a:pt x="304800" y="114300"/>
                </a:cubicBezTo>
                <a:close/>
              </a:path>
            </a:pathLst>
          </a:custGeom>
          <a:solidFill>
            <a:srgbClr val="8F5C9A"/>
          </a:solidFill>
        </p:spPr>
      </p:sp>
      <p:sp>
        <p:nvSpPr>
          <p:cNvPr id="9" name="Text 6"/>
          <p:cNvSpPr/>
          <p:nvPr/>
        </p:nvSpPr>
        <p:spPr>
          <a:xfrm>
            <a:off x="1611313" y="4165600"/>
            <a:ext cx="1955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Nhà Trường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55873" y="5273040"/>
            <a:ext cx="32639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spcBef>
                <a:spcPts val="10"/>
              </a:spcBef>
              <a:buSzPct val="100000"/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Đồng thiết kế chương trình</a:t>
            </a:r>
            <a:endParaRPr lang="en-US" sz="1700" dirty="0">
              <a:latin typeface="Montserrat" charset="0"/>
              <a:cs typeface="Montserrat" charset="0"/>
            </a:endParaRPr>
          </a:p>
          <a:p>
            <a:pPr marL="0" indent="0" algn="l">
              <a:lnSpc>
                <a:spcPct val="150000"/>
              </a:lnSpc>
              <a:spcBef>
                <a:spcPts val="10"/>
              </a:spcBef>
              <a:buSzPct val="100000"/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Mời doanh nghiệp tham gia giảng dạy</a:t>
            </a:r>
            <a:endParaRPr lang="en-US" sz="1700" dirty="0">
              <a:latin typeface="Montserrat" charset="0"/>
              <a:cs typeface="Montserrat" charset="0"/>
            </a:endParaRPr>
          </a:p>
          <a:p>
            <a:pPr marL="222250" indent="-2222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Cung cấp nguồn nhân lực chất lượng</a:t>
            </a:r>
            <a:endParaRPr lang="en-US" sz="1700" dirty="0">
              <a:latin typeface="Montserrat" charset="0"/>
              <a:cs typeface="Montserrat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927600" y="3581400"/>
            <a:ext cx="2336800" cy="50800"/>
          </a:xfrm>
          <a:custGeom>
            <a:avLst/>
            <a:gdLst/>
            <a:ahLst/>
            <a:cxnLst/>
            <a:rect l="l" t="t" r="r" b="b"/>
            <a:pathLst>
              <a:path w="2336800" h="50800">
                <a:moveTo>
                  <a:pt x="0" y="0"/>
                </a:moveTo>
                <a:lnTo>
                  <a:pt x="2336800" y="0"/>
                </a:lnTo>
                <a:lnTo>
                  <a:pt x="2336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3B9D7"/>
              </a:gs>
              <a:gs pos="100000">
                <a:srgbClr val="A95EAF"/>
              </a:gs>
            </a:gsLst>
            <a:lin ang="0" scaled="1"/>
          </a:gradFill>
        </p:spPr>
      </p:sp>
      <p:sp>
        <p:nvSpPr>
          <p:cNvPr id="12" name="Shape 9"/>
          <p:cNvSpPr/>
          <p:nvPr/>
        </p:nvSpPr>
        <p:spPr>
          <a:xfrm>
            <a:off x="5753100" y="38354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20159" y="101441"/>
                </a:moveTo>
                <a:lnTo>
                  <a:pt x="181332" y="255746"/>
                </a:lnTo>
                <a:cubicBezTo>
                  <a:pt x="175855" y="261818"/>
                  <a:pt x="176093" y="271224"/>
                  <a:pt x="181928" y="277058"/>
                </a:cubicBezTo>
                <a:cubicBezTo>
                  <a:pt x="218242" y="313373"/>
                  <a:pt x="277178" y="313373"/>
                  <a:pt x="313492" y="277058"/>
                </a:cubicBezTo>
                <a:lnTo>
                  <a:pt x="351353" y="239197"/>
                </a:lnTo>
                <a:cubicBezTo>
                  <a:pt x="356354" y="234196"/>
                  <a:pt x="362664" y="231458"/>
                  <a:pt x="369094" y="230981"/>
                </a:cubicBezTo>
                <a:cubicBezTo>
                  <a:pt x="377190" y="230267"/>
                  <a:pt x="385524" y="233005"/>
                  <a:pt x="391716" y="239197"/>
                </a:cubicBezTo>
                <a:lnTo>
                  <a:pt x="601980" y="447675"/>
                </a:lnTo>
                <a:lnTo>
                  <a:pt x="685800" y="381000"/>
                </a:lnTo>
                <a:lnTo>
                  <a:pt x="685800" y="38100"/>
                </a:lnTo>
                <a:lnTo>
                  <a:pt x="552450" y="114300"/>
                </a:lnTo>
                <a:lnTo>
                  <a:pt x="524113" y="95369"/>
                </a:lnTo>
                <a:cubicBezTo>
                  <a:pt x="505301" y="82867"/>
                  <a:pt x="483275" y="76200"/>
                  <a:pt x="460653" y="76200"/>
                </a:cubicBezTo>
                <a:lnTo>
                  <a:pt x="376833" y="76200"/>
                </a:lnTo>
                <a:cubicBezTo>
                  <a:pt x="375523" y="76200"/>
                  <a:pt x="374094" y="76200"/>
                  <a:pt x="372785" y="76319"/>
                </a:cubicBezTo>
                <a:cubicBezTo>
                  <a:pt x="352663" y="77391"/>
                  <a:pt x="333732" y="86439"/>
                  <a:pt x="320159" y="101441"/>
                </a:cubicBezTo>
                <a:close/>
                <a:moveTo>
                  <a:pt x="138827" y="217527"/>
                </a:moveTo>
                <a:lnTo>
                  <a:pt x="265986" y="76200"/>
                </a:lnTo>
                <a:lnTo>
                  <a:pt x="218837" y="76200"/>
                </a:lnTo>
                <a:cubicBezTo>
                  <a:pt x="188476" y="76200"/>
                  <a:pt x="159425" y="88225"/>
                  <a:pt x="137993" y="109657"/>
                </a:cubicBezTo>
                <a:lnTo>
                  <a:pt x="133350" y="114300"/>
                </a:lnTo>
                <a:lnTo>
                  <a:pt x="0" y="38100"/>
                </a:lnTo>
                <a:lnTo>
                  <a:pt x="0" y="381000"/>
                </a:lnTo>
                <a:lnTo>
                  <a:pt x="186214" y="536138"/>
                </a:lnTo>
                <a:cubicBezTo>
                  <a:pt x="213598" y="558998"/>
                  <a:pt x="248126" y="571500"/>
                  <a:pt x="283726" y="571500"/>
                </a:cubicBezTo>
                <a:lnTo>
                  <a:pt x="302419" y="571500"/>
                </a:lnTo>
                <a:lnTo>
                  <a:pt x="294084" y="563166"/>
                </a:lnTo>
                <a:cubicBezTo>
                  <a:pt x="282892" y="551974"/>
                  <a:pt x="282892" y="533876"/>
                  <a:pt x="294084" y="522803"/>
                </a:cubicBezTo>
                <a:cubicBezTo>
                  <a:pt x="305276" y="511731"/>
                  <a:pt x="323374" y="511612"/>
                  <a:pt x="334447" y="522803"/>
                </a:cubicBezTo>
                <a:lnTo>
                  <a:pt x="383262" y="571619"/>
                </a:lnTo>
                <a:lnTo>
                  <a:pt x="393978" y="571619"/>
                </a:lnTo>
                <a:cubicBezTo>
                  <a:pt x="416719" y="571619"/>
                  <a:pt x="438983" y="566499"/>
                  <a:pt x="459224" y="556974"/>
                </a:cubicBezTo>
                <a:lnTo>
                  <a:pt x="427434" y="525066"/>
                </a:lnTo>
                <a:cubicBezTo>
                  <a:pt x="416243" y="513874"/>
                  <a:pt x="416243" y="495776"/>
                  <a:pt x="427434" y="484703"/>
                </a:cubicBezTo>
                <a:cubicBezTo>
                  <a:pt x="438626" y="473631"/>
                  <a:pt x="456724" y="473512"/>
                  <a:pt x="467797" y="484703"/>
                </a:cubicBezTo>
                <a:lnTo>
                  <a:pt x="505897" y="522803"/>
                </a:lnTo>
                <a:lnTo>
                  <a:pt x="526732" y="501968"/>
                </a:lnTo>
                <a:cubicBezTo>
                  <a:pt x="537329" y="491371"/>
                  <a:pt x="540425" y="476012"/>
                  <a:pt x="535781" y="462558"/>
                </a:cubicBezTo>
                <a:lnTo>
                  <a:pt x="371594" y="299680"/>
                </a:lnTo>
                <a:lnTo>
                  <a:pt x="353854" y="317421"/>
                </a:lnTo>
                <a:cubicBezTo>
                  <a:pt x="295156" y="376118"/>
                  <a:pt x="200144" y="376118"/>
                  <a:pt x="141446" y="317421"/>
                </a:cubicBezTo>
                <a:cubicBezTo>
                  <a:pt x="114062" y="290036"/>
                  <a:pt x="112990" y="246102"/>
                  <a:pt x="138827" y="217408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3" name="Shape 10"/>
          <p:cNvSpPr/>
          <p:nvPr/>
        </p:nvSpPr>
        <p:spPr>
          <a:xfrm>
            <a:off x="4927600" y="4648200"/>
            <a:ext cx="2336800" cy="50800"/>
          </a:xfrm>
          <a:custGeom>
            <a:avLst/>
            <a:gdLst/>
            <a:ahLst/>
            <a:cxnLst/>
            <a:rect l="l" t="t" r="r" b="b"/>
            <a:pathLst>
              <a:path w="2336800" h="50800">
                <a:moveTo>
                  <a:pt x="0" y="0"/>
                </a:moveTo>
                <a:lnTo>
                  <a:pt x="2336800" y="0"/>
                </a:lnTo>
                <a:lnTo>
                  <a:pt x="2336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95EAF"/>
              </a:gs>
              <a:gs pos="100000">
                <a:srgbClr val="D3B9D7"/>
              </a:gs>
            </a:gsLst>
            <a:lin ang="0" scaled="1"/>
          </a:gradFill>
        </p:spPr>
      </p:sp>
      <p:sp>
        <p:nvSpPr>
          <p:cNvPr id="14" name="Shape 11"/>
          <p:cNvSpPr/>
          <p:nvPr/>
        </p:nvSpPr>
        <p:spPr>
          <a:xfrm>
            <a:off x="8991600" y="27940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9372600" y="30988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76200" y="0"/>
                </a:moveTo>
                <a:cubicBezTo>
                  <a:pt x="34171" y="0"/>
                  <a:pt x="0" y="34171"/>
                  <a:pt x="0" y="76200"/>
                </a:cubicBezTo>
                <a:lnTo>
                  <a:pt x="0" y="533400"/>
                </a:lnTo>
                <a:cubicBezTo>
                  <a:pt x="0" y="575429"/>
                  <a:pt x="34171" y="609600"/>
                  <a:pt x="76200" y="609600"/>
                </a:cubicBezTo>
                <a:lnTo>
                  <a:pt x="381000" y="609600"/>
                </a:lnTo>
                <a:cubicBezTo>
                  <a:pt x="423029" y="609600"/>
                  <a:pt x="457200" y="575429"/>
                  <a:pt x="457200" y="533400"/>
                </a:cubicBezTo>
                <a:lnTo>
                  <a:pt x="457200" y="76200"/>
                </a:lnTo>
                <a:cubicBezTo>
                  <a:pt x="457200" y="34171"/>
                  <a:pt x="423029" y="0"/>
                  <a:pt x="381000" y="0"/>
                </a:cubicBezTo>
                <a:lnTo>
                  <a:pt x="76200" y="0"/>
                </a:lnTo>
                <a:close/>
                <a:moveTo>
                  <a:pt x="209550" y="419100"/>
                </a:moveTo>
                <a:lnTo>
                  <a:pt x="247650" y="419100"/>
                </a:lnTo>
                <a:cubicBezTo>
                  <a:pt x="268724" y="419100"/>
                  <a:pt x="285750" y="436126"/>
                  <a:pt x="285750" y="457200"/>
                </a:cubicBezTo>
                <a:lnTo>
                  <a:pt x="285750" y="552450"/>
                </a:lnTo>
                <a:lnTo>
                  <a:pt x="171450" y="552450"/>
                </a:lnTo>
                <a:lnTo>
                  <a:pt x="171450" y="457200"/>
                </a:lnTo>
                <a:cubicBezTo>
                  <a:pt x="171450" y="436126"/>
                  <a:pt x="188476" y="419100"/>
                  <a:pt x="209550" y="419100"/>
                </a:cubicBezTo>
                <a:close/>
                <a:moveTo>
                  <a:pt x="114300" y="133350"/>
                </a:moveTo>
                <a:cubicBezTo>
                  <a:pt x="114300" y="122873"/>
                  <a:pt x="122873" y="114300"/>
                  <a:pt x="133350" y="114300"/>
                </a:cubicBezTo>
                <a:lnTo>
                  <a:pt x="171450" y="114300"/>
                </a:lnTo>
                <a:cubicBezTo>
                  <a:pt x="181928" y="114300"/>
                  <a:pt x="190500" y="122873"/>
                  <a:pt x="190500" y="133350"/>
                </a:cubicBezTo>
                <a:lnTo>
                  <a:pt x="190500" y="171450"/>
                </a:lnTo>
                <a:cubicBezTo>
                  <a:pt x="190500" y="181928"/>
                  <a:pt x="181928" y="190500"/>
                  <a:pt x="171450" y="190500"/>
                </a:cubicBezTo>
                <a:lnTo>
                  <a:pt x="133350" y="190500"/>
                </a:lnTo>
                <a:cubicBezTo>
                  <a:pt x="122873" y="190500"/>
                  <a:pt x="114300" y="181928"/>
                  <a:pt x="114300" y="171450"/>
                </a:cubicBezTo>
                <a:lnTo>
                  <a:pt x="114300" y="133350"/>
                </a:lnTo>
                <a:close/>
                <a:moveTo>
                  <a:pt x="285750" y="114300"/>
                </a:moveTo>
                <a:lnTo>
                  <a:pt x="323850" y="114300"/>
                </a:lnTo>
                <a:cubicBezTo>
                  <a:pt x="334328" y="114300"/>
                  <a:pt x="342900" y="122873"/>
                  <a:pt x="342900" y="133350"/>
                </a:cubicBezTo>
                <a:lnTo>
                  <a:pt x="342900" y="171450"/>
                </a:lnTo>
                <a:cubicBezTo>
                  <a:pt x="342900" y="181928"/>
                  <a:pt x="334328" y="190500"/>
                  <a:pt x="323850" y="190500"/>
                </a:cubicBezTo>
                <a:lnTo>
                  <a:pt x="285750" y="190500"/>
                </a:lnTo>
                <a:cubicBezTo>
                  <a:pt x="275273" y="190500"/>
                  <a:pt x="266700" y="181928"/>
                  <a:pt x="266700" y="171450"/>
                </a:cubicBezTo>
                <a:lnTo>
                  <a:pt x="266700" y="133350"/>
                </a:lnTo>
                <a:cubicBezTo>
                  <a:pt x="266700" y="122873"/>
                  <a:pt x="275273" y="114300"/>
                  <a:pt x="285750" y="114300"/>
                </a:cubicBezTo>
                <a:close/>
                <a:moveTo>
                  <a:pt x="114300" y="285750"/>
                </a:moveTo>
                <a:cubicBezTo>
                  <a:pt x="114300" y="275273"/>
                  <a:pt x="122873" y="266700"/>
                  <a:pt x="133350" y="266700"/>
                </a:cubicBezTo>
                <a:lnTo>
                  <a:pt x="171450" y="266700"/>
                </a:lnTo>
                <a:cubicBezTo>
                  <a:pt x="181928" y="266700"/>
                  <a:pt x="190500" y="275273"/>
                  <a:pt x="190500" y="285750"/>
                </a:cubicBezTo>
                <a:lnTo>
                  <a:pt x="190500" y="323850"/>
                </a:lnTo>
                <a:cubicBezTo>
                  <a:pt x="190500" y="334328"/>
                  <a:pt x="181928" y="342900"/>
                  <a:pt x="171450" y="342900"/>
                </a:cubicBezTo>
                <a:lnTo>
                  <a:pt x="133350" y="342900"/>
                </a:lnTo>
                <a:cubicBezTo>
                  <a:pt x="122873" y="342900"/>
                  <a:pt x="114300" y="334328"/>
                  <a:pt x="114300" y="323850"/>
                </a:cubicBezTo>
                <a:lnTo>
                  <a:pt x="114300" y="285750"/>
                </a:lnTo>
                <a:close/>
                <a:moveTo>
                  <a:pt x="285750" y="266700"/>
                </a:moveTo>
                <a:lnTo>
                  <a:pt x="323850" y="266700"/>
                </a:lnTo>
                <a:cubicBezTo>
                  <a:pt x="334328" y="266700"/>
                  <a:pt x="342900" y="275273"/>
                  <a:pt x="342900" y="285750"/>
                </a:cubicBezTo>
                <a:lnTo>
                  <a:pt x="342900" y="323850"/>
                </a:lnTo>
                <a:cubicBezTo>
                  <a:pt x="342900" y="334328"/>
                  <a:pt x="334328" y="342900"/>
                  <a:pt x="323850" y="342900"/>
                </a:cubicBezTo>
                <a:lnTo>
                  <a:pt x="285750" y="342900"/>
                </a:lnTo>
                <a:cubicBezTo>
                  <a:pt x="275273" y="342900"/>
                  <a:pt x="266700" y="334328"/>
                  <a:pt x="266700" y="323850"/>
                </a:cubicBezTo>
                <a:lnTo>
                  <a:pt x="266700" y="285750"/>
                </a:lnTo>
                <a:cubicBezTo>
                  <a:pt x="266700" y="275273"/>
                  <a:pt x="275273" y="266700"/>
                  <a:pt x="285750" y="266700"/>
                </a:cubicBezTo>
                <a:close/>
              </a:path>
            </a:pathLst>
          </a:custGeom>
          <a:solidFill>
            <a:srgbClr val="8F5C9A"/>
          </a:solidFill>
        </p:spPr>
      </p:sp>
      <p:sp>
        <p:nvSpPr>
          <p:cNvPr id="16" name="Text 13"/>
          <p:cNvSpPr/>
          <p:nvPr/>
        </p:nvSpPr>
        <p:spPr>
          <a:xfrm>
            <a:off x="8480227" y="4165600"/>
            <a:ext cx="224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Doanh Nghiệp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085931" y="5044440"/>
            <a:ext cx="30353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spcBef>
                <a:spcPts val="10"/>
              </a:spcBef>
              <a:buSzPct val="100000"/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Cung cấp thực tập có lương</a:t>
            </a:r>
            <a:endParaRPr lang="en-US" sz="1700" dirty="0">
              <a:latin typeface="Montserrat" charset="0"/>
              <a:cs typeface="Montserrat" charset="0"/>
            </a:endParaRPr>
          </a:p>
          <a:p>
            <a:pPr marL="0" indent="0" algn="l">
              <a:lnSpc>
                <a:spcPct val="150000"/>
              </a:lnSpc>
              <a:spcBef>
                <a:spcPts val="10"/>
              </a:spcBef>
              <a:buSzPct val="100000"/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Chia sẻ nhu cầu thực tế</a:t>
            </a:r>
            <a:endParaRPr lang="en-US" sz="1700" dirty="0">
              <a:latin typeface="Montserrat" charset="0"/>
              <a:cs typeface="Montserrat" charset="0"/>
            </a:endParaRPr>
          </a:p>
          <a:p>
            <a:pPr marL="222250" indent="-2222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Cam kết tuyển dụng sau tốt nghiệp</a:t>
            </a:r>
            <a:endParaRPr lang="en-US" sz="1700" dirty="0">
              <a:latin typeface="Montserrat" charset="0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649095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Cập Nhật Chương Trình Học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566670"/>
            <a:ext cx="5435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Chương trình đào tạo cần linh hoạt, thay đổi theo nhu cầu của thị trường để sinh viên ra trường có thể làm việc ngay.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254000" y="386016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381000" y="39871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75" y="95250"/>
                </a:moveTo>
                <a:lnTo>
                  <a:pt x="242094" y="95250"/>
                </a:lnTo>
                <a:cubicBezTo>
                  <a:pt x="248692" y="95250"/>
                  <a:pt x="254000" y="89942"/>
                  <a:pt x="254000" y="83344"/>
                </a:cubicBezTo>
                <a:lnTo>
                  <a:pt x="254000" y="11906"/>
                </a:lnTo>
                <a:cubicBezTo>
                  <a:pt x="254000" y="7094"/>
                  <a:pt x="251123" y="2729"/>
                  <a:pt x="246658" y="893"/>
                </a:cubicBezTo>
                <a:cubicBezTo>
                  <a:pt x="242193" y="-943"/>
                  <a:pt x="237083" y="99"/>
                  <a:pt x="233660" y="3473"/>
                </a:cubicBezTo>
                <a:lnTo>
                  <a:pt x="208012" y="29170"/>
                </a:lnTo>
                <a:cubicBezTo>
                  <a:pt x="186035" y="10964"/>
                  <a:pt x="157758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ubicBezTo>
                  <a:pt x="39291" y="67221"/>
                  <a:pt x="79028" y="31750"/>
                  <a:pt x="127000" y="31750"/>
                </a:cubicBezTo>
                <a:cubicBezTo>
                  <a:pt x="149027" y="31750"/>
                  <a:pt x="169267" y="39191"/>
                  <a:pt x="185390" y="51743"/>
                </a:cubicBezTo>
                <a:lnTo>
                  <a:pt x="162223" y="74910"/>
                </a:lnTo>
                <a:cubicBezTo>
                  <a:pt x="158800" y="78333"/>
                  <a:pt x="157807" y="83443"/>
                  <a:pt x="159643" y="87908"/>
                </a:cubicBezTo>
                <a:cubicBezTo>
                  <a:pt x="161479" y="92373"/>
                  <a:pt x="165844" y="95250"/>
                  <a:pt x="170656" y="95250"/>
                </a:cubicBezTo>
                <a:lnTo>
                  <a:pt x="238175" y="95250"/>
                </a:lnTo>
                <a:close/>
                <a:moveTo>
                  <a:pt x="252760" y="145107"/>
                </a:moveTo>
                <a:cubicBezTo>
                  <a:pt x="254000" y="136426"/>
                  <a:pt x="247948" y="128389"/>
                  <a:pt x="239316" y="127149"/>
                </a:cubicBezTo>
                <a:cubicBezTo>
                  <a:pt x="230684" y="125909"/>
                  <a:pt x="222597" y="131961"/>
                  <a:pt x="221357" y="140593"/>
                </a:cubicBezTo>
                <a:cubicBezTo>
                  <a:pt x="214759" y="186730"/>
                  <a:pt x="175022" y="222200"/>
                  <a:pt x="127050" y="222200"/>
                </a:cubicBezTo>
                <a:cubicBezTo>
                  <a:pt x="105023" y="222200"/>
                  <a:pt x="84782" y="214759"/>
                  <a:pt x="68659" y="202208"/>
                </a:cubicBezTo>
                <a:lnTo>
                  <a:pt x="91777" y="179090"/>
                </a:lnTo>
                <a:cubicBezTo>
                  <a:pt x="95200" y="175667"/>
                  <a:pt x="96193" y="170557"/>
                  <a:pt x="94357" y="166092"/>
                </a:cubicBezTo>
                <a:cubicBezTo>
                  <a:pt x="92521" y="161627"/>
                  <a:pt x="88156" y="158750"/>
                  <a:pt x="83344" y="158750"/>
                </a:cubicBezTo>
                <a:lnTo>
                  <a:pt x="11906" y="158750"/>
                </a:lnTo>
                <a:cubicBezTo>
                  <a:pt x="5308" y="158750"/>
                  <a:pt x="0" y="164058"/>
                  <a:pt x="0" y="170656"/>
                </a:cubicBezTo>
                <a:lnTo>
                  <a:pt x="0" y="242094"/>
                </a:lnTo>
                <a:cubicBezTo>
                  <a:pt x="0" y="246906"/>
                  <a:pt x="2877" y="251271"/>
                  <a:pt x="7342" y="253107"/>
                </a:cubicBezTo>
                <a:cubicBezTo>
                  <a:pt x="11807" y="254943"/>
                  <a:pt x="16917" y="253901"/>
                  <a:pt x="20340" y="250527"/>
                </a:cubicBezTo>
                <a:lnTo>
                  <a:pt x="46037" y="224830"/>
                </a:lnTo>
                <a:cubicBezTo>
                  <a:pt x="67965" y="243036"/>
                  <a:pt x="96242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965200" y="3724275"/>
            <a:ext cx="4356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Rà soát học phần định kỳ</a:t>
            </a:r>
            <a:endParaRPr lang="en-US" sz="20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965200" y="4324350"/>
            <a:ext cx="435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Cập nhật kiến thức mới, loại bỏ nội dung lạc hậu.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254000" y="521843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2" name="Shape 9"/>
          <p:cNvSpPr/>
          <p:nvPr>
            <p:custDataLst>
              <p:tags r:id="rId7"/>
            </p:custDataLst>
          </p:nvPr>
        </p:nvSpPr>
        <p:spPr>
          <a:xfrm>
            <a:off x="349250" y="534543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58638" y="30956"/>
                </a:moveTo>
                <a:cubicBezTo>
                  <a:pt x="50354" y="28178"/>
                  <a:pt x="45839" y="19149"/>
                  <a:pt x="48617" y="10864"/>
                </a:cubicBezTo>
                <a:cubicBezTo>
                  <a:pt x="51395" y="2580"/>
                  <a:pt x="60375" y="-1935"/>
                  <a:pt x="68709" y="794"/>
                </a:cubicBezTo>
                <a:lnTo>
                  <a:pt x="124768" y="19496"/>
                </a:lnTo>
                <a:cubicBezTo>
                  <a:pt x="131663" y="7838"/>
                  <a:pt x="144413" y="0"/>
                  <a:pt x="158948" y="0"/>
                </a:cubicBezTo>
                <a:cubicBezTo>
                  <a:pt x="180876" y="0"/>
                  <a:pt x="198636" y="17760"/>
                  <a:pt x="198636" y="39688"/>
                </a:cubicBezTo>
                <a:cubicBezTo>
                  <a:pt x="198636" y="41176"/>
                  <a:pt x="198537" y="42614"/>
                  <a:pt x="198388" y="44053"/>
                </a:cubicBezTo>
                <a:lnTo>
                  <a:pt x="259209" y="64343"/>
                </a:lnTo>
                <a:cubicBezTo>
                  <a:pt x="267543" y="67121"/>
                  <a:pt x="272008" y="76101"/>
                  <a:pt x="269230" y="84435"/>
                </a:cubicBezTo>
                <a:cubicBezTo>
                  <a:pt x="266452" y="92770"/>
                  <a:pt x="257473" y="97234"/>
                  <a:pt x="249138" y="94456"/>
                </a:cubicBezTo>
                <a:lnTo>
                  <a:pt x="181918" y="72033"/>
                </a:lnTo>
                <a:cubicBezTo>
                  <a:pt x="179685" y="73620"/>
                  <a:pt x="177304" y="74960"/>
                  <a:pt x="174774" y="76101"/>
                </a:cubicBezTo>
                <a:lnTo>
                  <a:pt x="174774" y="238175"/>
                </a:lnTo>
                <a:cubicBezTo>
                  <a:pt x="174774" y="246955"/>
                  <a:pt x="167680" y="254050"/>
                  <a:pt x="158899" y="254050"/>
                </a:cubicBezTo>
                <a:lnTo>
                  <a:pt x="63649" y="254050"/>
                </a:lnTo>
                <a:cubicBezTo>
                  <a:pt x="54868" y="254050"/>
                  <a:pt x="47774" y="246955"/>
                  <a:pt x="47774" y="238175"/>
                </a:cubicBezTo>
                <a:cubicBezTo>
                  <a:pt x="47774" y="229394"/>
                  <a:pt x="54868" y="222300"/>
                  <a:pt x="63649" y="222300"/>
                </a:cubicBezTo>
                <a:lnTo>
                  <a:pt x="143024" y="222300"/>
                </a:lnTo>
                <a:lnTo>
                  <a:pt x="143024" y="76101"/>
                </a:lnTo>
                <a:cubicBezTo>
                  <a:pt x="132606" y="71537"/>
                  <a:pt x="124569" y="62706"/>
                  <a:pt x="121096" y="51792"/>
                </a:cubicBezTo>
                <a:lnTo>
                  <a:pt x="58638" y="30956"/>
                </a:lnTo>
                <a:close/>
                <a:moveTo>
                  <a:pt x="99616" y="142875"/>
                </a:moveTo>
                <a:lnTo>
                  <a:pt x="63649" y="81260"/>
                </a:lnTo>
                <a:lnTo>
                  <a:pt x="27732" y="142875"/>
                </a:lnTo>
                <a:lnTo>
                  <a:pt x="99616" y="142875"/>
                </a:lnTo>
                <a:close/>
                <a:moveTo>
                  <a:pt x="63698" y="190500"/>
                </a:moveTo>
                <a:cubicBezTo>
                  <a:pt x="32494" y="190500"/>
                  <a:pt x="6548" y="173633"/>
                  <a:pt x="1191" y="151358"/>
                </a:cubicBezTo>
                <a:cubicBezTo>
                  <a:pt x="-99" y="145901"/>
                  <a:pt x="1687" y="140295"/>
                  <a:pt x="4514" y="135434"/>
                </a:cubicBezTo>
                <a:lnTo>
                  <a:pt x="51743" y="54471"/>
                </a:lnTo>
                <a:cubicBezTo>
                  <a:pt x="54223" y="50205"/>
                  <a:pt x="58787" y="47625"/>
                  <a:pt x="63698" y="47625"/>
                </a:cubicBezTo>
                <a:cubicBezTo>
                  <a:pt x="68610" y="47625"/>
                  <a:pt x="73174" y="50254"/>
                  <a:pt x="75654" y="54471"/>
                </a:cubicBezTo>
                <a:lnTo>
                  <a:pt x="122882" y="135434"/>
                </a:lnTo>
                <a:cubicBezTo>
                  <a:pt x="125710" y="140295"/>
                  <a:pt x="127496" y="145901"/>
                  <a:pt x="126206" y="151358"/>
                </a:cubicBezTo>
                <a:cubicBezTo>
                  <a:pt x="120848" y="173583"/>
                  <a:pt x="94903" y="190500"/>
                  <a:pt x="63698" y="190500"/>
                </a:cubicBezTo>
                <a:close/>
                <a:moveTo>
                  <a:pt x="253603" y="144760"/>
                </a:moveTo>
                <a:lnTo>
                  <a:pt x="217686" y="206375"/>
                </a:lnTo>
                <a:lnTo>
                  <a:pt x="289570" y="206375"/>
                </a:lnTo>
                <a:lnTo>
                  <a:pt x="253653" y="144760"/>
                </a:lnTo>
                <a:close/>
                <a:moveTo>
                  <a:pt x="316111" y="214858"/>
                </a:moveTo>
                <a:cubicBezTo>
                  <a:pt x="310753" y="237133"/>
                  <a:pt x="284807" y="254000"/>
                  <a:pt x="253603" y="254000"/>
                </a:cubicBezTo>
                <a:cubicBezTo>
                  <a:pt x="222399" y="254000"/>
                  <a:pt x="196453" y="237133"/>
                  <a:pt x="191095" y="214858"/>
                </a:cubicBezTo>
                <a:cubicBezTo>
                  <a:pt x="189805" y="209401"/>
                  <a:pt x="191591" y="203795"/>
                  <a:pt x="194419" y="198934"/>
                </a:cubicBezTo>
                <a:lnTo>
                  <a:pt x="241647" y="117971"/>
                </a:lnTo>
                <a:cubicBezTo>
                  <a:pt x="244128" y="113705"/>
                  <a:pt x="248692" y="111125"/>
                  <a:pt x="253603" y="111125"/>
                </a:cubicBezTo>
                <a:cubicBezTo>
                  <a:pt x="258514" y="111125"/>
                  <a:pt x="263079" y="113754"/>
                  <a:pt x="265559" y="117971"/>
                </a:cubicBezTo>
                <a:lnTo>
                  <a:pt x="312787" y="198934"/>
                </a:lnTo>
                <a:cubicBezTo>
                  <a:pt x="315615" y="203795"/>
                  <a:pt x="317401" y="209401"/>
                  <a:pt x="316111" y="21485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930275" y="5126990"/>
            <a:ext cx="5105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Tăng tỷ lệ thực hành</a:t>
            </a:r>
            <a:endParaRPr lang="en-US" sz="20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930275" y="5726430"/>
            <a:ext cx="4597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Phân bổ lý thuyết - thực hành </a:t>
            </a:r>
            <a:r>
              <a:rPr lang="en-US" sz="1700" dirty="0">
                <a:solidFill>
                  <a:srgbClr val="3C3542"/>
                </a:solidFill>
                <a:highlight>
                  <a:srgbClr val="D3B9D7">
                    <a:alpha val="100000"/>
                  </a:srgbClr>
                </a:highlight>
                <a:latin typeface="Montserrat" charset="0"/>
                <a:ea typeface="MiSans" pitchFamily="34" charset="-122"/>
                <a:cs typeface="Montserrat" charset="0"/>
              </a:rPr>
              <a:t> 40 - 60 </a:t>
            </a: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, tăng tính ứng dụng.</a:t>
            </a:r>
            <a:endParaRPr lang="en-US" sz="1700" dirty="0">
              <a:latin typeface="Montserrat" charset="0"/>
              <a:cs typeface="Montserrat" charset="0"/>
            </a:endParaRPr>
          </a:p>
        </p:txBody>
      </p:sp>
      <p:pic>
        <p:nvPicPr>
          <p:cNvPr id="15" name="Image 1" descr="https://kimi-web-img.moonshot.cn/img/img.freepik.com/7e2a063c6d55d08ea2e681e546a419096a28a4a5.jpg"/>
          <p:cNvPicPr>
            <a:picLocks noChangeAspect="1"/>
          </p:cNvPicPr>
          <p:nvPr/>
        </p:nvPicPr>
        <p:blipFill>
          <a:blip r:embed="rId10"/>
          <a:srcRect t="7770" b="7770"/>
          <a:stretch>
            <a:fillRect/>
          </a:stretch>
        </p:blipFill>
        <p:spPr>
          <a:xfrm>
            <a:off x="6299200" y="1282700"/>
            <a:ext cx="5638800" cy="4762500"/>
          </a:xfrm>
          <a:prstGeom prst="roundRect">
            <a:avLst>
              <a:gd name="adj" fmla="val 4267"/>
            </a:avLst>
          </a:prstGeom>
        </p:spPr>
      </p:pic>
      <p:sp>
        <p:nvSpPr>
          <p:cNvPr id="16" name="Text 2"/>
          <p:cNvSpPr/>
          <p:nvPr/>
        </p:nvSpPr>
        <p:spPr>
          <a:xfrm>
            <a:off x="1109980" y="30861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03. Giải pháp căn cơ</a:t>
            </a:r>
            <a:endParaRPr lang="en-US" sz="36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0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Khởi Nghiệp &amp; Thực Tập: Bước Đệm Vào Đời</a:t>
            </a:r>
            <a:endParaRPr lang="en-US" sz="30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0" y="1016000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>
                    <a:alpha val="80000"/>
                  </a:srgbClr>
                </a:solidFill>
                <a:latin typeface="Montserrat" charset="0"/>
                <a:ea typeface="MiSans" pitchFamily="34" charset="-122"/>
                <a:cs typeface="Montserrat" charset="0"/>
              </a:rPr>
              <a:t>Khuyến khích sinh viên chủ động tìm kiếm cơ hội thực tế để tích lũy kinh nghiệm và xây dựng mạng lưới.</a:t>
            </a:r>
            <a:endParaRPr lang="en-US" sz="1700" dirty="0">
              <a:solidFill>
                <a:srgbClr val="3C3542">
                  <a:alpha val="80000"/>
                </a:srgbClr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309245" y="1676400"/>
            <a:ext cx="5638800" cy="4927600"/>
          </a:xfrm>
          <a:custGeom>
            <a:avLst/>
            <a:gdLst/>
            <a:ahLst/>
            <a:cxnLst/>
            <a:rect l="l" t="t" r="r" b="b"/>
            <a:pathLst>
              <a:path w="5638800" h="4927600">
                <a:moveTo>
                  <a:pt x="152411" y="0"/>
                </a:moveTo>
                <a:lnTo>
                  <a:pt x="5486389" y="0"/>
                </a:lnTo>
                <a:cubicBezTo>
                  <a:pt x="5570563" y="0"/>
                  <a:pt x="5638800" y="68237"/>
                  <a:pt x="5638800" y="152411"/>
                </a:cubicBezTo>
                <a:lnTo>
                  <a:pt x="5638800" y="4775189"/>
                </a:lnTo>
                <a:cubicBezTo>
                  <a:pt x="5638800" y="4859363"/>
                  <a:pt x="5570563" y="4927600"/>
                  <a:pt x="5486389" y="4927600"/>
                </a:cubicBezTo>
                <a:lnTo>
                  <a:pt x="152411" y="4927600"/>
                </a:lnTo>
                <a:cubicBezTo>
                  <a:pt x="68237" y="4927600"/>
                  <a:pt x="0" y="4859363"/>
                  <a:pt x="0" y="477518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2667000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F5C9A"/>
          </a:solidFill>
        </p:spPr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>
            <a:off x="2933700" y="2413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2070298" y="3162300"/>
            <a:ext cx="2006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Khởi Nghiệp</a:t>
            </a:r>
            <a:endParaRPr lang="en-US" sz="17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558800" y="3403600"/>
            <a:ext cx="5029200" cy="289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Tham gia incubators, cuộc thi khởi nghiệp để biến ý tưởng thành hiện thực.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2" name="Shape 9"/>
          <p:cNvSpPr/>
          <p:nvPr>
            <p:custDataLst>
              <p:tags r:id="rId7"/>
            </p:custDataLst>
          </p:nvPr>
        </p:nvSpPr>
        <p:spPr>
          <a:xfrm>
            <a:off x="6299200" y="1676400"/>
            <a:ext cx="5638800" cy="4927600"/>
          </a:xfrm>
          <a:custGeom>
            <a:avLst/>
            <a:gdLst/>
            <a:ahLst/>
            <a:cxnLst/>
            <a:rect l="l" t="t" r="r" b="b"/>
            <a:pathLst>
              <a:path w="5638800" h="4927600">
                <a:moveTo>
                  <a:pt x="152411" y="0"/>
                </a:moveTo>
                <a:lnTo>
                  <a:pt x="5486389" y="0"/>
                </a:lnTo>
                <a:cubicBezTo>
                  <a:pt x="5570563" y="0"/>
                  <a:pt x="5638800" y="68237"/>
                  <a:pt x="5638800" y="152411"/>
                </a:cubicBezTo>
                <a:lnTo>
                  <a:pt x="5638800" y="4775189"/>
                </a:lnTo>
                <a:cubicBezTo>
                  <a:pt x="5638800" y="4859363"/>
                  <a:pt x="5570563" y="4927600"/>
                  <a:pt x="5486389" y="4927600"/>
                </a:cubicBezTo>
                <a:lnTo>
                  <a:pt x="152411" y="4927600"/>
                </a:lnTo>
                <a:cubicBezTo>
                  <a:pt x="68237" y="4927600"/>
                  <a:pt x="0" y="4859363"/>
                  <a:pt x="0" y="477518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8712200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8F5C9A"/>
          </a:solidFill>
        </p:spPr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8931275" y="241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8828" y="35719"/>
                </a:moveTo>
                <a:lnTo>
                  <a:pt x="232172" y="35719"/>
                </a:lnTo>
                <a:cubicBezTo>
                  <a:pt x="235446" y="35719"/>
                  <a:pt x="238125" y="38398"/>
                  <a:pt x="238125" y="41672"/>
                </a:cubicBezTo>
                <a:lnTo>
                  <a:pt x="238125" y="71438"/>
                </a:lnTo>
                <a:lnTo>
                  <a:pt x="142875" y="71438"/>
                </a:lnTo>
                <a:lnTo>
                  <a:pt x="142875" y="41672"/>
                </a:lnTo>
                <a:cubicBezTo>
                  <a:pt x="142875" y="38398"/>
                  <a:pt x="145554" y="35719"/>
                  <a:pt x="148828" y="35719"/>
                </a:cubicBezTo>
                <a:close/>
                <a:moveTo>
                  <a:pt x="107156" y="41672"/>
                </a:moveTo>
                <a:lnTo>
                  <a:pt x="107156" y="71438"/>
                </a:lnTo>
                <a:lnTo>
                  <a:pt x="47625" y="71438"/>
                </a:lnTo>
                <a:cubicBezTo>
                  <a:pt x="21357" y="71438"/>
                  <a:pt x="0" y="92794"/>
                  <a:pt x="0" y="119063"/>
                </a:cubicBezTo>
                <a:lnTo>
                  <a:pt x="0" y="190500"/>
                </a:lnTo>
                <a:lnTo>
                  <a:pt x="381000" y="190500"/>
                </a:lnTo>
                <a:lnTo>
                  <a:pt x="381000" y="119063"/>
                </a:lnTo>
                <a:cubicBezTo>
                  <a:pt x="381000" y="92794"/>
                  <a:pt x="359643" y="71438"/>
                  <a:pt x="333375" y="71438"/>
                </a:cubicBezTo>
                <a:lnTo>
                  <a:pt x="273844" y="71438"/>
                </a:lnTo>
                <a:lnTo>
                  <a:pt x="273844" y="41672"/>
                </a:lnTo>
                <a:cubicBezTo>
                  <a:pt x="273844" y="18678"/>
                  <a:pt x="255166" y="0"/>
                  <a:pt x="232172" y="0"/>
                </a:cubicBezTo>
                <a:lnTo>
                  <a:pt x="148828" y="0"/>
                </a:lnTo>
                <a:cubicBezTo>
                  <a:pt x="125834" y="0"/>
                  <a:pt x="107156" y="18678"/>
                  <a:pt x="107156" y="41672"/>
                </a:cubicBezTo>
                <a:close/>
                <a:moveTo>
                  <a:pt x="381000" y="226219"/>
                </a:moveTo>
                <a:lnTo>
                  <a:pt x="238125" y="226219"/>
                </a:lnTo>
                <a:lnTo>
                  <a:pt x="238125" y="238125"/>
                </a:lnTo>
                <a:cubicBezTo>
                  <a:pt x="238125" y="251296"/>
                  <a:pt x="227484" y="261938"/>
                  <a:pt x="214313" y="261938"/>
                </a:cubicBezTo>
                <a:lnTo>
                  <a:pt x="166688" y="261938"/>
                </a:lnTo>
                <a:cubicBezTo>
                  <a:pt x="153516" y="261938"/>
                  <a:pt x="142875" y="251296"/>
                  <a:pt x="142875" y="238125"/>
                </a:cubicBezTo>
                <a:lnTo>
                  <a:pt x="142875" y="226219"/>
                </a:lnTo>
                <a:lnTo>
                  <a:pt x="0" y="226219"/>
                </a:ln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333375" y="357188"/>
                </a:lnTo>
                <a:cubicBezTo>
                  <a:pt x="359643" y="357188"/>
                  <a:pt x="381000" y="335831"/>
                  <a:pt x="381000" y="309563"/>
                </a:cubicBezTo>
                <a:lnTo>
                  <a:pt x="381000" y="22621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311356" y="3162300"/>
            <a:ext cx="1612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Thực Tập</a:t>
            </a:r>
            <a:endParaRPr lang="en-US" sz="17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6604000" y="3403600"/>
            <a:ext cx="5029200" cy="289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Tìm kiếm thực tập đổi mới, xây dựng mạng lưới mentor và làm phong phú CV.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Hành động cá nhân</a:t>
            </a:r>
            <a:endParaRPr lang="en-US" sz="7200" b="1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1049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04</a:t>
            </a:r>
            <a:endParaRPr lang="en-US" sz="7200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89535"/>
            <a:ext cx="12350750" cy="6960235"/>
          </a:xfrm>
          <a:prstGeom prst="rect">
            <a:avLst/>
          </a:prstGeom>
        </p:spPr>
      </p:pic>
      <p:pic>
        <p:nvPicPr>
          <p:cNvPr id="5" name="Image 1" descr="https://kimi-web-img.moonshot.cn/img/img.freepik.com/14ef18f91c1759ed955f78f30ee3bf8307b72fb2.jpg"/>
          <p:cNvPicPr>
            <a:picLocks noChangeAspect="1"/>
          </p:cNvPicPr>
          <p:nvPr/>
        </p:nvPicPr>
        <p:blipFill>
          <a:blip r:embed="rId2"/>
          <a:srcRect l="21251" r="21251"/>
          <a:stretch>
            <a:fillRect/>
          </a:stretch>
        </p:blipFill>
        <p:spPr>
          <a:xfrm>
            <a:off x="254000" y="1524635"/>
            <a:ext cx="5638800" cy="4762500"/>
          </a:xfrm>
          <a:prstGeom prst="roundRect">
            <a:avLst>
              <a:gd name="adj" fmla="val 4267"/>
            </a:avLst>
          </a:prstGeom>
        </p:spPr>
      </p:pic>
      <p:sp>
        <p:nvSpPr>
          <p:cNvPr id="6" name="Text 2"/>
          <p:cNvSpPr/>
          <p:nvPr/>
        </p:nvSpPr>
        <p:spPr>
          <a:xfrm>
            <a:off x="6502400" y="1117600"/>
            <a:ext cx="543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Chủ Động Định Hướng Từ Sớm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502400" y="2216785"/>
            <a:ext cx="5435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Sinh viên cần làm chủ tương lai của mình bằng cách chủ động tìm hiểu và lập kế hoạch ngay từ năm nhất.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8" name="Shape 4"/>
          <p:cNvSpPr/>
          <p:nvPr>
            <p:custDataLst>
              <p:tags r:id="rId3"/>
            </p:custDataLst>
          </p:nvPr>
        </p:nvSpPr>
        <p:spPr>
          <a:xfrm>
            <a:off x="6502400" y="3321685"/>
            <a:ext cx="5435600" cy="711200"/>
          </a:xfrm>
          <a:custGeom>
            <a:avLst/>
            <a:gdLst/>
            <a:ahLst/>
            <a:cxnLst/>
            <a:rect l="l" t="t" r="r" b="b"/>
            <a:pathLst>
              <a:path w="5435600" h="7112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609598"/>
                </a:lnTo>
                <a:cubicBezTo>
                  <a:pt x="5435600" y="665711"/>
                  <a:pt x="5390111" y="711200"/>
                  <a:pt x="5333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</p:spPr>
      </p:sp>
      <p:sp>
        <p:nvSpPr>
          <p:cNvPr id="9" name="Shape 5"/>
          <p:cNvSpPr/>
          <p:nvPr>
            <p:custDataLst>
              <p:tags r:id="rId4"/>
            </p:custDataLst>
          </p:nvPr>
        </p:nvSpPr>
        <p:spPr>
          <a:xfrm>
            <a:off x="6680200" y="355028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7162800" y="3423285"/>
            <a:ext cx="4673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Khảo sát ngành nghề: Tìm hiểu xu hướng, nhu cầu tuyển dụng.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1" name="Shape 7"/>
          <p:cNvSpPr/>
          <p:nvPr>
            <p:custDataLst>
              <p:tags r:id="rId6"/>
            </p:custDataLst>
          </p:nvPr>
        </p:nvSpPr>
        <p:spPr>
          <a:xfrm>
            <a:off x="6502400" y="4426585"/>
            <a:ext cx="5435600" cy="711200"/>
          </a:xfrm>
          <a:custGeom>
            <a:avLst/>
            <a:gdLst/>
            <a:ahLst/>
            <a:cxnLst/>
            <a:rect l="l" t="t" r="r" b="b"/>
            <a:pathLst>
              <a:path w="5435600" h="7112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609598"/>
                </a:lnTo>
                <a:cubicBezTo>
                  <a:pt x="5435600" y="665711"/>
                  <a:pt x="5390111" y="711200"/>
                  <a:pt x="5333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</p:spPr>
      </p:sp>
      <p:sp>
        <p:nvSpPr>
          <p:cNvPr id="12" name="Shape 8"/>
          <p:cNvSpPr/>
          <p:nvPr>
            <p:custDataLst>
              <p:tags r:id="rId7"/>
            </p:custDataLst>
          </p:nvPr>
        </p:nvSpPr>
        <p:spPr>
          <a:xfrm>
            <a:off x="6680200" y="465518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198" y="0"/>
                </a:moveTo>
                <a:cubicBezTo>
                  <a:pt x="118418" y="0"/>
                  <a:pt x="111323" y="7094"/>
                  <a:pt x="111323" y="15875"/>
                </a:cubicBezTo>
                <a:lnTo>
                  <a:pt x="111323" y="31750"/>
                </a:lnTo>
                <a:lnTo>
                  <a:pt x="31948" y="31750"/>
                </a:lnTo>
                <a:cubicBezTo>
                  <a:pt x="23168" y="31750"/>
                  <a:pt x="16073" y="38844"/>
                  <a:pt x="16073" y="47625"/>
                </a:cubicBezTo>
                <a:lnTo>
                  <a:pt x="16073" y="79375"/>
                </a:lnTo>
                <a:cubicBezTo>
                  <a:pt x="16073" y="88156"/>
                  <a:pt x="23168" y="95250"/>
                  <a:pt x="31948" y="95250"/>
                </a:cubicBezTo>
                <a:lnTo>
                  <a:pt x="111323" y="95250"/>
                </a:lnTo>
                <a:lnTo>
                  <a:pt x="111323" y="127000"/>
                </a:lnTo>
                <a:lnTo>
                  <a:pt x="35223" y="127000"/>
                </a:lnTo>
                <a:cubicBezTo>
                  <a:pt x="33139" y="127000"/>
                  <a:pt x="31105" y="127843"/>
                  <a:pt x="29617" y="129332"/>
                </a:cubicBezTo>
                <a:lnTo>
                  <a:pt x="5804" y="153144"/>
                </a:lnTo>
                <a:cubicBezTo>
                  <a:pt x="2729" y="156220"/>
                  <a:pt x="2729" y="161280"/>
                  <a:pt x="5804" y="164356"/>
                </a:cubicBezTo>
                <a:lnTo>
                  <a:pt x="29617" y="188168"/>
                </a:lnTo>
                <a:cubicBezTo>
                  <a:pt x="31105" y="189657"/>
                  <a:pt x="33139" y="190500"/>
                  <a:pt x="35223" y="190500"/>
                </a:cubicBezTo>
                <a:lnTo>
                  <a:pt x="111323" y="190500"/>
                </a:lnTo>
                <a:lnTo>
                  <a:pt x="111323" y="238125"/>
                </a:lnTo>
                <a:cubicBezTo>
                  <a:pt x="111323" y="246906"/>
                  <a:pt x="118418" y="254000"/>
                  <a:pt x="127198" y="254000"/>
                </a:cubicBezTo>
                <a:cubicBezTo>
                  <a:pt x="135979" y="254000"/>
                  <a:pt x="143073" y="246906"/>
                  <a:pt x="143073" y="238125"/>
                </a:cubicBezTo>
                <a:lnTo>
                  <a:pt x="143073" y="190500"/>
                </a:lnTo>
                <a:lnTo>
                  <a:pt x="222448" y="190500"/>
                </a:lnTo>
                <a:cubicBezTo>
                  <a:pt x="231229" y="190500"/>
                  <a:pt x="238323" y="183406"/>
                  <a:pt x="238323" y="174625"/>
                </a:cubicBezTo>
                <a:lnTo>
                  <a:pt x="238323" y="142875"/>
                </a:lnTo>
                <a:cubicBezTo>
                  <a:pt x="238323" y="134094"/>
                  <a:pt x="231229" y="127000"/>
                  <a:pt x="222448" y="127000"/>
                </a:cubicBezTo>
                <a:lnTo>
                  <a:pt x="143073" y="127000"/>
                </a:lnTo>
                <a:lnTo>
                  <a:pt x="143073" y="95250"/>
                </a:lnTo>
                <a:lnTo>
                  <a:pt x="219174" y="95250"/>
                </a:lnTo>
                <a:cubicBezTo>
                  <a:pt x="221258" y="95250"/>
                  <a:pt x="223292" y="94407"/>
                  <a:pt x="224780" y="92918"/>
                </a:cubicBezTo>
                <a:lnTo>
                  <a:pt x="248593" y="69106"/>
                </a:lnTo>
                <a:cubicBezTo>
                  <a:pt x="251668" y="66030"/>
                  <a:pt x="251668" y="60970"/>
                  <a:pt x="248593" y="57894"/>
                </a:cubicBezTo>
                <a:lnTo>
                  <a:pt x="224780" y="34082"/>
                </a:lnTo>
                <a:cubicBezTo>
                  <a:pt x="223292" y="32593"/>
                  <a:pt x="221258" y="31750"/>
                  <a:pt x="219174" y="31750"/>
                </a:cubicBezTo>
                <a:lnTo>
                  <a:pt x="143073" y="31750"/>
                </a:lnTo>
                <a:lnTo>
                  <a:pt x="143073" y="15875"/>
                </a:lnTo>
                <a:cubicBezTo>
                  <a:pt x="143073" y="7094"/>
                  <a:pt x="135979" y="0"/>
                  <a:pt x="127198" y="0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3" name="Text 9"/>
          <p:cNvSpPr/>
          <p:nvPr>
            <p:custDataLst>
              <p:tags r:id="rId8"/>
            </p:custDataLst>
          </p:nvPr>
        </p:nvSpPr>
        <p:spPr>
          <a:xfrm>
            <a:off x="7162800" y="4528185"/>
            <a:ext cx="4673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Lập kế hoạch 4 năm: Đặt mục tiêu </a:t>
            </a:r>
            <a:r>
              <a:rPr lang="en-US" sz="1700" dirty="0">
                <a:solidFill>
                  <a:srgbClr val="FFFFFF"/>
                </a:solidFill>
                <a:highlight>
                  <a:srgbClr val="A95EAF">
                    <a:alpha val="100000"/>
                  </a:srgbClr>
                </a:highlight>
                <a:latin typeface="Montserrat" charset="0"/>
                <a:ea typeface="MiSans" pitchFamily="34" charset="-122"/>
                <a:cs typeface="Montserrat" charset="0"/>
              </a:rPr>
              <a:t>SMART </a:t>
            </a: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 cho học tập và nghề nghiệp.</a:t>
            </a:r>
            <a:endParaRPr lang="en-US" sz="1700" dirty="0">
              <a:latin typeface="Montserrat" charset="0"/>
              <a:cs typeface="Montserrat" charset="0"/>
            </a:endParaRPr>
          </a:p>
        </p:txBody>
      </p:sp>
      <p:sp>
        <p:nvSpPr>
          <p:cNvPr id="14" name="Shape 10"/>
          <p:cNvSpPr/>
          <p:nvPr>
            <p:custDataLst>
              <p:tags r:id="rId9"/>
            </p:custDataLst>
          </p:nvPr>
        </p:nvSpPr>
        <p:spPr>
          <a:xfrm>
            <a:off x="6502400" y="5531485"/>
            <a:ext cx="5435600" cy="711200"/>
          </a:xfrm>
          <a:custGeom>
            <a:avLst/>
            <a:gdLst/>
            <a:ahLst/>
            <a:cxnLst/>
            <a:rect l="l" t="t" r="r" b="b"/>
            <a:pathLst>
              <a:path w="5435600" h="7112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609598"/>
                </a:lnTo>
                <a:cubicBezTo>
                  <a:pt x="5435600" y="665711"/>
                  <a:pt x="5390111" y="711200"/>
                  <a:pt x="53339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</p:spPr>
      </p:sp>
      <p:sp>
        <p:nvSpPr>
          <p:cNvPr id="15" name="Shape 11"/>
          <p:cNvSpPr/>
          <p:nvPr>
            <p:custDataLst>
              <p:tags r:id="rId10"/>
            </p:custDataLst>
          </p:nvPr>
        </p:nvSpPr>
        <p:spPr>
          <a:xfrm>
            <a:off x="6648450" y="5760085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A95EAF"/>
          </a:solidFill>
        </p:spPr>
      </p:sp>
      <p:sp>
        <p:nvSpPr>
          <p:cNvPr id="16" name="Text 12"/>
          <p:cNvSpPr/>
          <p:nvPr>
            <p:custDataLst>
              <p:tags r:id="rId11"/>
            </p:custDataLst>
          </p:nvPr>
        </p:nvSpPr>
        <p:spPr>
          <a:xfrm>
            <a:off x="7162800" y="5633085"/>
            <a:ext cx="4673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Kết nối alumni: Học hỏi kinh nghiệm từ những người đi trước.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066800" y="89535"/>
            <a:ext cx="543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04. Hành động cá nhân</a:t>
            </a:r>
            <a:endParaRPr lang="en-US" sz="36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4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Tự Trau Dồi Kỹ Năng Để Nổi Bật</a:t>
            </a:r>
            <a:endParaRPr lang="en-US" sz="30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0" y="955675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3C3542">
                    <a:alpha val="80000"/>
                  </a:srgbClr>
                </a:solidFill>
                <a:latin typeface="Montserrat" charset="0"/>
                <a:ea typeface="MiSans" pitchFamily="34" charset="-122"/>
                <a:cs typeface="Montserrat" charset="0"/>
              </a:rPr>
              <a:t>Ngoài kiến thức chuyên môn, kỹ năng mềm là chìa khóa giúp bạn ghi điểm với nhà tuyển dụng.</a:t>
            </a:r>
            <a:endParaRPr lang="en-US" sz="1800" dirty="0">
              <a:solidFill>
                <a:srgbClr val="3C3542">
                  <a:alpha val="80000"/>
                </a:srgbClr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254000" y="1676400"/>
            <a:ext cx="3759200" cy="2057400"/>
          </a:xfrm>
          <a:custGeom>
            <a:avLst/>
            <a:gdLst/>
            <a:ahLst/>
            <a:cxnLst/>
            <a:rect l="l" t="t" r="r" b="b"/>
            <a:pathLst>
              <a:path w="3759200" h="2057400">
                <a:moveTo>
                  <a:pt x="101594" y="0"/>
                </a:moveTo>
                <a:lnTo>
                  <a:pt x="3657606" y="0"/>
                </a:lnTo>
                <a:cubicBezTo>
                  <a:pt x="3713715" y="0"/>
                  <a:pt x="3759200" y="45485"/>
                  <a:pt x="3759200" y="101594"/>
                </a:cubicBezTo>
                <a:lnTo>
                  <a:pt x="3759200" y="1955806"/>
                </a:lnTo>
                <a:cubicBezTo>
                  <a:pt x="3759200" y="2011915"/>
                  <a:pt x="3713715" y="2057400"/>
                  <a:pt x="3657606" y="2057400"/>
                </a:cubicBezTo>
                <a:lnTo>
                  <a:pt x="101594" y="2057400"/>
                </a:lnTo>
                <a:cubicBezTo>
                  <a:pt x="45485" y="2057400"/>
                  <a:pt x="0" y="2011915"/>
                  <a:pt x="0" y="19558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</p:spPr>
        <p:txBody>
          <a:bodyPr/>
          <a:p>
            <a:endParaRPr lang="en-US"/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438150" y="25527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85725"/>
                </a:moveTo>
                <a:cubicBezTo>
                  <a:pt x="228600" y="143589"/>
                  <a:pt x="177403" y="190500"/>
                  <a:pt x="114300" y="190500"/>
                </a:cubicBezTo>
                <a:cubicBezTo>
                  <a:pt x="98405" y="190500"/>
                  <a:pt x="83284" y="187523"/>
                  <a:pt x="69533" y="182166"/>
                </a:cubicBezTo>
                <a:lnTo>
                  <a:pt x="20955" y="207883"/>
                </a:lnTo>
                <a:cubicBezTo>
                  <a:pt x="15419" y="210800"/>
                  <a:pt x="8632" y="209788"/>
                  <a:pt x="4167" y="205383"/>
                </a:cubicBezTo>
                <a:cubicBezTo>
                  <a:pt x="-298" y="200978"/>
                  <a:pt x="-1310" y="194131"/>
                  <a:pt x="1667" y="188595"/>
                </a:cubicBezTo>
                <a:lnTo>
                  <a:pt x="22860" y="148590"/>
                </a:lnTo>
                <a:cubicBezTo>
                  <a:pt x="8513" y="131088"/>
                  <a:pt x="0" y="109299"/>
                  <a:pt x="0" y="85725"/>
                </a:cubicBezTo>
                <a:cubicBezTo>
                  <a:pt x="0" y="27861"/>
                  <a:pt x="51197" y="-19050"/>
                  <a:pt x="114300" y="-19050"/>
                </a:cubicBezTo>
                <a:cubicBezTo>
                  <a:pt x="177403" y="-19050"/>
                  <a:pt x="228600" y="27861"/>
                  <a:pt x="228600" y="85725"/>
                </a:cubicBezTo>
                <a:close/>
                <a:moveTo>
                  <a:pt x="228600" y="304800"/>
                </a:moveTo>
                <a:cubicBezTo>
                  <a:pt x="172581" y="304800"/>
                  <a:pt x="125968" y="267831"/>
                  <a:pt x="116205" y="219075"/>
                </a:cubicBezTo>
                <a:cubicBezTo>
                  <a:pt x="187643" y="218182"/>
                  <a:pt x="249734" y="167342"/>
                  <a:pt x="256580" y="98405"/>
                </a:cubicBezTo>
                <a:cubicBezTo>
                  <a:pt x="306169" y="109835"/>
                  <a:pt x="342900" y="150971"/>
                  <a:pt x="342900" y="200025"/>
                </a:cubicBezTo>
                <a:cubicBezTo>
                  <a:pt x="342900" y="223599"/>
                  <a:pt x="334387" y="245388"/>
                  <a:pt x="320040" y="262890"/>
                </a:cubicBezTo>
                <a:lnTo>
                  <a:pt x="341233" y="302895"/>
                </a:lnTo>
                <a:cubicBezTo>
                  <a:pt x="344150" y="308431"/>
                  <a:pt x="343138" y="315218"/>
                  <a:pt x="338733" y="319683"/>
                </a:cubicBezTo>
                <a:cubicBezTo>
                  <a:pt x="334328" y="324148"/>
                  <a:pt x="327481" y="325160"/>
                  <a:pt x="321945" y="322183"/>
                </a:cubicBezTo>
                <a:lnTo>
                  <a:pt x="273368" y="296466"/>
                </a:lnTo>
                <a:cubicBezTo>
                  <a:pt x="259616" y="301823"/>
                  <a:pt x="244495" y="304800"/>
                  <a:pt x="228600" y="304800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965200" y="2578100"/>
            <a:ext cx="1244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Giao tiếp</a:t>
            </a:r>
            <a:endParaRPr lang="en-US" sz="14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4216400" y="1676400"/>
            <a:ext cx="3759200" cy="2057400"/>
          </a:xfrm>
          <a:custGeom>
            <a:avLst/>
            <a:gdLst/>
            <a:ahLst/>
            <a:cxnLst/>
            <a:rect l="l" t="t" r="r" b="b"/>
            <a:pathLst>
              <a:path w="3759200" h="2057400">
                <a:moveTo>
                  <a:pt x="101594" y="0"/>
                </a:moveTo>
                <a:lnTo>
                  <a:pt x="3657606" y="0"/>
                </a:lnTo>
                <a:cubicBezTo>
                  <a:pt x="3713715" y="0"/>
                  <a:pt x="3759200" y="45485"/>
                  <a:pt x="3759200" y="101594"/>
                </a:cubicBezTo>
                <a:lnTo>
                  <a:pt x="3759200" y="1955806"/>
                </a:lnTo>
                <a:cubicBezTo>
                  <a:pt x="3759200" y="2011915"/>
                  <a:pt x="3713715" y="2057400"/>
                  <a:pt x="3657606" y="2057400"/>
                </a:cubicBezTo>
                <a:lnTo>
                  <a:pt x="101594" y="2057400"/>
                </a:lnTo>
                <a:cubicBezTo>
                  <a:pt x="45485" y="2057400"/>
                  <a:pt x="0" y="2011915"/>
                  <a:pt x="0" y="19558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</p:spPr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4381500" y="25527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A95EAF"/>
          </a:solidFill>
        </p:spPr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4927600" y="2578100"/>
            <a:ext cx="1727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Làm việc nhóm</a:t>
            </a:r>
            <a:endParaRPr lang="en-US" sz="14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8178800" y="1676400"/>
            <a:ext cx="3759200" cy="2057400"/>
          </a:xfrm>
          <a:custGeom>
            <a:avLst/>
            <a:gdLst/>
            <a:ahLst/>
            <a:cxnLst/>
            <a:rect l="l" t="t" r="r" b="b"/>
            <a:pathLst>
              <a:path w="3759200" h="2057400">
                <a:moveTo>
                  <a:pt x="101594" y="0"/>
                </a:moveTo>
                <a:lnTo>
                  <a:pt x="3657606" y="0"/>
                </a:lnTo>
                <a:cubicBezTo>
                  <a:pt x="3713715" y="0"/>
                  <a:pt x="3759200" y="45485"/>
                  <a:pt x="3759200" y="101594"/>
                </a:cubicBezTo>
                <a:lnTo>
                  <a:pt x="3759200" y="1955806"/>
                </a:lnTo>
                <a:cubicBezTo>
                  <a:pt x="3759200" y="2011915"/>
                  <a:pt x="3713715" y="2057400"/>
                  <a:pt x="3657606" y="2057400"/>
                </a:cubicBezTo>
                <a:lnTo>
                  <a:pt x="101594" y="2057400"/>
                </a:lnTo>
                <a:cubicBezTo>
                  <a:pt x="45485" y="2057400"/>
                  <a:pt x="0" y="2011915"/>
                  <a:pt x="0" y="19558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</p:spPr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8382000" y="2552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890000" y="2578100"/>
            <a:ext cx="1498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Thuyết trình</a:t>
            </a:r>
            <a:endParaRPr lang="en-US" sz="14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6" name="Shape 13"/>
          <p:cNvSpPr/>
          <p:nvPr>
            <p:custDataLst>
              <p:tags r:id="rId11"/>
            </p:custDataLst>
          </p:nvPr>
        </p:nvSpPr>
        <p:spPr>
          <a:xfrm>
            <a:off x="254000" y="3937000"/>
            <a:ext cx="3759200" cy="2057400"/>
          </a:xfrm>
          <a:custGeom>
            <a:avLst/>
            <a:gdLst/>
            <a:ahLst/>
            <a:cxnLst/>
            <a:rect l="l" t="t" r="r" b="b"/>
            <a:pathLst>
              <a:path w="3759200" h="2057400">
                <a:moveTo>
                  <a:pt x="101594" y="0"/>
                </a:moveTo>
                <a:lnTo>
                  <a:pt x="3657606" y="0"/>
                </a:lnTo>
                <a:cubicBezTo>
                  <a:pt x="3713715" y="0"/>
                  <a:pt x="3759200" y="45485"/>
                  <a:pt x="3759200" y="101594"/>
                </a:cubicBezTo>
                <a:lnTo>
                  <a:pt x="3759200" y="1955806"/>
                </a:lnTo>
                <a:cubicBezTo>
                  <a:pt x="3759200" y="2011915"/>
                  <a:pt x="3713715" y="2057400"/>
                  <a:pt x="3657606" y="2057400"/>
                </a:cubicBezTo>
                <a:lnTo>
                  <a:pt x="101594" y="2057400"/>
                </a:lnTo>
                <a:cubicBezTo>
                  <a:pt x="45485" y="2057400"/>
                  <a:pt x="0" y="2011915"/>
                  <a:pt x="0" y="19558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</p:spPr>
      </p:sp>
      <p:sp>
        <p:nvSpPr>
          <p:cNvPr id="17" name="Shape 14"/>
          <p:cNvSpPr/>
          <p:nvPr>
            <p:custDataLst>
              <p:tags r:id="rId12"/>
            </p:custDataLst>
          </p:nvPr>
        </p:nvSpPr>
        <p:spPr>
          <a:xfrm>
            <a:off x="419100" y="48133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8100" y="57150"/>
                </a:moveTo>
                <a:cubicBezTo>
                  <a:pt x="38100" y="36135"/>
                  <a:pt x="55185" y="19050"/>
                  <a:pt x="76200" y="19050"/>
                </a:cubicBezTo>
                <a:lnTo>
                  <a:pt x="304800" y="19050"/>
                </a:lnTo>
                <a:cubicBezTo>
                  <a:pt x="325815" y="19050"/>
                  <a:pt x="342900" y="36135"/>
                  <a:pt x="342900" y="57150"/>
                </a:cubicBezTo>
                <a:lnTo>
                  <a:pt x="342900" y="200025"/>
                </a:lnTo>
                <a:lnTo>
                  <a:pt x="304800" y="200025"/>
                </a:lnTo>
                <a:lnTo>
                  <a:pt x="304800" y="57150"/>
                </a:lnTo>
                <a:lnTo>
                  <a:pt x="76200" y="57150"/>
                </a:lnTo>
                <a:lnTo>
                  <a:pt x="76200" y="200025"/>
                </a:lnTo>
                <a:lnTo>
                  <a:pt x="38100" y="200025"/>
                </a:lnTo>
                <a:lnTo>
                  <a:pt x="38100" y="57150"/>
                </a:lnTo>
                <a:close/>
                <a:moveTo>
                  <a:pt x="0" y="240030"/>
                </a:moveTo>
                <a:cubicBezTo>
                  <a:pt x="0" y="233720"/>
                  <a:pt x="5120" y="228600"/>
                  <a:pt x="11430" y="228600"/>
                </a:cubicBezTo>
                <a:lnTo>
                  <a:pt x="369570" y="228600"/>
                </a:lnTo>
                <a:cubicBezTo>
                  <a:pt x="375880" y="228600"/>
                  <a:pt x="381000" y="233720"/>
                  <a:pt x="381000" y="240030"/>
                </a:cubicBezTo>
                <a:cubicBezTo>
                  <a:pt x="381000" y="265271"/>
                  <a:pt x="360521" y="285750"/>
                  <a:pt x="335280" y="285750"/>
                </a:cubicBezTo>
                <a:lnTo>
                  <a:pt x="45720" y="285750"/>
                </a:lnTo>
                <a:cubicBezTo>
                  <a:pt x="20479" y="285750"/>
                  <a:pt x="0" y="265271"/>
                  <a:pt x="0" y="240030"/>
                </a:cubicBezTo>
                <a:close/>
                <a:moveTo>
                  <a:pt x="167283" y="124420"/>
                </a:moveTo>
                <a:lnTo>
                  <a:pt x="148828" y="142875"/>
                </a:lnTo>
                <a:lnTo>
                  <a:pt x="167283" y="161330"/>
                </a:lnTo>
                <a:cubicBezTo>
                  <a:pt x="172879" y="166926"/>
                  <a:pt x="172879" y="175974"/>
                  <a:pt x="167283" y="181511"/>
                </a:cubicBezTo>
                <a:cubicBezTo>
                  <a:pt x="161687" y="187047"/>
                  <a:pt x="152638" y="187107"/>
                  <a:pt x="147102" y="181511"/>
                </a:cubicBezTo>
                <a:lnTo>
                  <a:pt x="118527" y="152936"/>
                </a:lnTo>
                <a:cubicBezTo>
                  <a:pt x="112931" y="147340"/>
                  <a:pt x="112931" y="138291"/>
                  <a:pt x="118527" y="132755"/>
                </a:cubicBezTo>
                <a:lnTo>
                  <a:pt x="147102" y="104180"/>
                </a:lnTo>
                <a:cubicBezTo>
                  <a:pt x="152698" y="98584"/>
                  <a:pt x="161746" y="98584"/>
                  <a:pt x="167283" y="104180"/>
                </a:cubicBezTo>
                <a:cubicBezTo>
                  <a:pt x="172819" y="109776"/>
                  <a:pt x="172879" y="118824"/>
                  <a:pt x="167283" y="124361"/>
                </a:cubicBezTo>
                <a:close/>
                <a:moveTo>
                  <a:pt x="233958" y="104180"/>
                </a:moveTo>
                <a:lnTo>
                  <a:pt x="262533" y="132755"/>
                </a:lnTo>
                <a:cubicBezTo>
                  <a:pt x="268129" y="138351"/>
                  <a:pt x="268129" y="147399"/>
                  <a:pt x="262533" y="152936"/>
                </a:cubicBezTo>
                <a:lnTo>
                  <a:pt x="233958" y="181511"/>
                </a:lnTo>
                <a:cubicBezTo>
                  <a:pt x="228362" y="187107"/>
                  <a:pt x="219313" y="187107"/>
                  <a:pt x="213777" y="181511"/>
                </a:cubicBezTo>
                <a:cubicBezTo>
                  <a:pt x="208240" y="175915"/>
                  <a:pt x="208181" y="166866"/>
                  <a:pt x="213777" y="161330"/>
                </a:cubicBezTo>
                <a:lnTo>
                  <a:pt x="232231" y="142875"/>
                </a:lnTo>
                <a:lnTo>
                  <a:pt x="213777" y="124420"/>
                </a:lnTo>
                <a:cubicBezTo>
                  <a:pt x="208181" y="118824"/>
                  <a:pt x="208181" y="109776"/>
                  <a:pt x="213777" y="104239"/>
                </a:cubicBezTo>
                <a:cubicBezTo>
                  <a:pt x="219373" y="98703"/>
                  <a:pt x="228421" y="98643"/>
                  <a:pt x="233958" y="104239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965200" y="4838700"/>
            <a:ext cx="2006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Tin học văn phòng</a:t>
            </a:r>
            <a:endParaRPr lang="en-US" sz="14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9" name="Shape 16"/>
          <p:cNvSpPr/>
          <p:nvPr>
            <p:custDataLst>
              <p:tags r:id="rId14"/>
            </p:custDataLst>
          </p:nvPr>
        </p:nvSpPr>
        <p:spPr>
          <a:xfrm>
            <a:off x="4216400" y="3937000"/>
            <a:ext cx="3759200" cy="2057400"/>
          </a:xfrm>
          <a:custGeom>
            <a:avLst/>
            <a:gdLst/>
            <a:ahLst/>
            <a:cxnLst/>
            <a:rect l="l" t="t" r="r" b="b"/>
            <a:pathLst>
              <a:path w="3759200" h="2057400">
                <a:moveTo>
                  <a:pt x="101594" y="0"/>
                </a:moveTo>
                <a:lnTo>
                  <a:pt x="3657606" y="0"/>
                </a:lnTo>
                <a:cubicBezTo>
                  <a:pt x="3713715" y="0"/>
                  <a:pt x="3759200" y="45485"/>
                  <a:pt x="3759200" y="101594"/>
                </a:cubicBezTo>
                <a:lnTo>
                  <a:pt x="3759200" y="1955806"/>
                </a:lnTo>
                <a:cubicBezTo>
                  <a:pt x="3759200" y="2011915"/>
                  <a:pt x="3713715" y="2057400"/>
                  <a:pt x="3657606" y="2057400"/>
                </a:cubicBezTo>
                <a:lnTo>
                  <a:pt x="101594" y="2057400"/>
                </a:lnTo>
                <a:cubicBezTo>
                  <a:pt x="45485" y="2057400"/>
                  <a:pt x="0" y="2011915"/>
                  <a:pt x="0" y="19558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</p:spPr>
      </p:sp>
      <p:sp>
        <p:nvSpPr>
          <p:cNvPr id="20" name="Shape 17"/>
          <p:cNvSpPr/>
          <p:nvPr>
            <p:custDataLst>
              <p:tags r:id="rId15"/>
            </p:custDataLst>
          </p:nvPr>
        </p:nvSpPr>
        <p:spPr>
          <a:xfrm>
            <a:off x="4400550" y="4813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95250" y="0"/>
                </a:moveTo>
                <a:cubicBezTo>
                  <a:pt x="105787" y="0"/>
                  <a:pt x="114300" y="8513"/>
                  <a:pt x="114300" y="19050"/>
                </a:cubicBezTo>
                <a:lnTo>
                  <a:pt x="114300" y="38100"/>
                </a:lnTo>
                <a:lnTo>
                  <a:pt x="190500" y="38100"/>
                </a:lnTo>
                <a:cubicBezTo>
                  <a:pt x="201037" y="38100"/>
                  <a:pt x="209550" y="46613"/>
                  <a:pt x="209550" y="57150"/>
                </a:cubicBezTo>
                <a:cubicBezTo>
                  <a:pt x="209550" y="67687"/>
                  <a:pt x="201037" y="76200"/>
                  <a:pt x="190500" y="76200"/>
                </a:cubicBezTo>
                <a:lnTo>
                  <a:pt x="184785" y="76200"/>
                </a:lnTo>
                <a:lnTo>
                  <a:pt x="179784" y="89952"/>
                </a:lnTo>
                <a:cubicBezTo>
                  <a:pt x="170021" y="116860"/>
                  <a:pt x="155317" y="141446"/>
                  <a:pt x="136803" y="162580"/>
                </a:cubicBezTo>
                <a:cubicBezTo>
                  <a:pt x="145256" y="167819"/>
                  <a:pt x="154067" y="172462"/>
                  <a:pt x="163235" y="176570"/>
                </a:cubicBezTo>
                <a:lnTo>
                  <a:pt x="193238" y="189905"/>
                </a:lnTo>
                <a:lnTo>
                  <a:pt x="230267" y="106561"/>
                </a:lnTo>
                <a:cubicBezTo>
                  <a:pt x="233303" y="99655"/>
                  <a:pt x="240149" y="95250"/>
                  <a:pt x="247650" y="95250"/>
                </a:cubicBezTo>
                <a:cubicBezTo>
                  <a:pt x="255151" y="95250"/>
                  <a:pt x="261997" y="99655"/>
                  <a:pt x="265033" y="106561"/>
                </a:cubicBezTo>
                <a:lnTo>
                  <a:pt x="341233" y="278011"/>
                </a:lnTo>
                <a:cubicBezTo>
                  <a:pt x="345519" y="287655"/>
                  <a:pt x="341174" y="298906"/>
                  <a:pt x="331589" y="303133"/>
                </a:cubicBezTo>
                <a:cubicBezTo>
                  <a:pt x="322005" y="307360"/>
                  <a:pt x="310694" y="303074"/>
                  <a:pt x="306467" y="293489"/>
                </a:cubicBezTo>
                <a:lnTo>
                  <a:pt x="294561" y="266700"/>
                </a:lnTo>
                <a:lnTo>
                  <a:pt x="200799" y="266700"/>
                </a:lnTo>
                <a:lnTo>
                  <a:pt x="188893" y="293489"/>
                </a:lnTo>
                <a:cubicBezTo>
                  <a:pt x="184606" y="303133"/>
                  <a:pt x="173355" y="307419"/>
                  <a:pt x="163770" y="303133"/>
                </a:cubicBezTo>
                <a:cubicBezTo>
                  <a:pt x="154186" y="298847"/>
                  <a:pt x="149840" y="287595"/>
                  <a:pt x="154126" y="278011"/>
                </a:cubicBezTo>
                <a:lnTo>
                  <a:pt x="177820" y="224730"/>
                </a:lnTo>
                <a:lnTo>
                  <a:pt x="147816" y="211395"/>
                </a:lnTo>
                <a:cubicBezTo>
                  <a:pt x="134124" y="205323"/>
                  <a:pt x="121027" y="198060"/>
                  <a:pt x="108645" y="189726"/>
                </a:cubicBezTo>
                <a:cubicBezTo>
                  <a:pt x="95964" y="199965"/>
                  <a:pt x="82094" y="208895"/>
                  <a:pt x="67270" y="216337"/>
                </a:cubicBezTo>
                <a:lnTo>
                  <a:pt x="46613" y="226576"/>
                </a:lnTo>
                <a:cubicBezTo>
                  <a:pt x="37207" y="231279"/>
                  <a:pt x="25777" y="227469"/>
                  <a:pt x="21074" y="218063"/>
                </a:cubicBezTo>
                <a:cubicBezTo>
                  <a:pt x="16371" y="208657"/>
                  <a:pt x="20181" y="197227"/>
                  <a:pt x="29587" y="192524"/>
                </a:cubicBezTo>
                <a:lnTo>
                  <a:pt x="50125" y="182225"/>
                </a:lnTo>
                <a:cubicBezTo>
                  <a:pt x="59829" y="177344"/>
                  <a:pt x="69056" y="171688"/>
                  <a:pt x="77748" y="165378"/>
                </a:cubicBezTo>
                <a:cubicBezTo>
                  <a:pt x="69533" y="157817"/>
                  <a:pt x="61793" y="149662"/>
                  <a:pt x="54590" y="141030"/>
                </a:cubicBezTo>
                <a:lnTo>
                  <a:pt x="48578" y="133767"/>
                </a:lnTo>
                <a:cubicBezTo>
                  <a:pt x="41850" y="125670"/>
                  <a:pt x="42922" y="113645"/>
                  <a:pt x="51018" y="106918"/>
                </a:cubicBezTo>
                <a:cubicBezTo>
                  <a:pt x="59115" y="100191"/>
                  <a:pt x="71140" y="101263"/>
                  <a:pt x="77867" y="109359"/>
                </a:cubicBezTo>
                <a:lnTo>
                  <a:pt x="83939" y="116622"/>
                </a:lnTo>
                <a:cubicBezTo>
                  <a:pt x="90785" y="124897"/>
                  <a:pt x="98286" y="132576"/>
                  <a:pt x="106204" y="139660"/>
                </a:cubicBezTo>
                <a:cubicBezTo>
                  <a:pt x="122575" y="121563"/>
                  <a:pt x="135493" y="100310"/>
                  <a:pt x="144006" y="76914"/>
                </a:cubicBezTo>
                <a:lnTo>
                  <a:pt x="144304" y="76200"/>
                </a:lnTo>
                <a:lnTo>
                  <a:pt x="19110" y="76200"/>
                </a:lnTo>
                <a:cubicBezTo>
                  <a:pt x="8513" y="76200"/>
                  <a:pt x="0" y="67687"/>
                  <a:pt x="0" y="57150"/>
                </a:cubicBezTo>
                <a:cubicBezTo>
                  <a:pt x="0" y="46613"/>
                  <a:pt x="8513" y="38100"/>
                  <a:pt x="19050" y="38100"/>
                </a:cubicBezTo>
                <a:lnTo>
                  <a:pt x="76200" y="38100"/>
                </a:lnTo>
                <a:lnTo>
                  <a:pt x="76200" y="19050"/>
                </a:lnTo>
                <a:cubicBezTo>
                  <a:pt x="76200" y="8513"/>
                  <a:pt x="84713" y="0"/>
                  <a:pt x="95250" y="0"/>
                </a:cubicBezTo>
                <a:close/>
                <a:moveTo>
                  <a:pt x="247650" y="161211"/>
                </a:moveTo>
                <a:lnTo>
                  <a:pt x="217706" y="228600"/>
                </a:lnTo>
                <a:lnTo>
                  <a:pt x="277594" y="228600"/>
                </a:lnTo>
                <a:lnTo>
                  <a:pt x="247650" y="161211"/>
                </a:lnTo>
                <a:close/>
              </a:path>
            </a:pathLst>
          </a:custGeom>
          <a:solidFill>
            <a:srgbClr val="A95EAF"/>
          </a:solidFill>
        </p:spPr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4927600" y="4838700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Tiếng Anh</a:t>
            </a:r>
            <a:endParaRPr lang="en-US" sz="14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22" name="Shape 19"/>
          <p:cNvSpPr/>
          <p:nvPr>
            <p:custDataLst>
              <p:tags r:id="rId17"/>
            </p:custDataLst>
          </p:nvPr>
        </p:nvSpPr>
        <p:spPr>
          <a:xfrm>
            <a:off x="8178800" y="3937000"/>
            <a:ext cx="3759200" cy="2057400"/>
          </a:xfrm>
          <a:custGeom>
            <a:avLst/>
            <a:gdLst/>
            <a:ahLst/>
            <a:cxnLst/>
            <a:rect l="l" t="t" r="r" b="b"/>
            <a:pathLst>
              <a:path w="3759200" h="2057400">
                <a:moveTo>
                  <a:pt x="101594" y="0"/>
                </a:moveTo>
                <a:lnTo>
                  <a:pt x="3657606" y="0"/>
                </a:lnTo>
                <a:cubicBezTo>
                  <a:pt x="3713715" y="0"/>
                  <a:pt x="3759200" y="45485"/>
                  <a:pt x="3759200" y="101594"/>
                </a:cubicBezTo>
                <a:lnTo>
                  <a:pt x="3759200" y="1955806"/>
                </a:lnTo>
                <a:cubicBezTo>
                  <a:pt x="3759200" y="2011915"/>
                  <a:pt x="3713715" y="2057400"/>
                  <a:pt x="3657606" y="2057400"/>
                </a:cubicBezTo>
                <a:lnTo>
                  <a:pt x="101594" y="2057400"/>
                </a:lnTo>
                <a:cubicBezTo>
                  <a:pt x="45485" y="2057400"/>
                  <a:pt x="0" y="2011915"/>
                  <a:pt x="0" y="19558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</p:spPr>
      </p:sp>
      <p:sp>
        <p:nvSpPr>
          <p:cNvPr id="23" name="Shape 20"/>
          <p:cNvSpPr/>
          <p:nvPr>
            <p:custDataLst>
              <p:tags r:id="rId18"/>
            </p:custDataLst>
          </p:nvPr>
        </p:nvSpPr>
        <p:spPr>
          <a:xfrm>
            <a:off x="8382000" y="4813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24" name="Text 21"/>
          <p:cNvSpPr/>
          <p:nvPr>
            <p:custDataLst>
              <p:tags r:id="rId19"/>
            </p:custDataLst>
          </p:nvPr>
        </p:nvSpPr>
        <p:spPr>
          <a:xfrm>
            <a:off x="8890000" y="4838700"/>
            <a:ext cx="191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Giải quyết vấn đề</a:t>
            </a:r>
            <a:endParaRPr lang="en-US" sz="14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0" y="6299200"/>
            <a:ext cx="1219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Hãy tận dụng các nền tảng học trực tuyến và dự án tình nguyện để rèn luyện.</a:t>
            </a:r>
            <a:endParaRPr lang="en-US" sz="16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102235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58115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Xây Dựng Thái Độ Tích Cực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284095"/>
            <a:ext cx="5435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Hành trình tìm việc chưa bao giờ dễ dàng. Thái độ sẽ quyết định bạn đi được bao xa.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 rot="-5400000">
            <a:off x="374650" y="3365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6212" y="114300"/>
                </a:moveTo>
                <a:cubicBezTo>
                  <a:pt x="163651" y="107097"/>
                  <a:pt x="151031" y="99893"/>
                  <a:pt x="133350" y="96857"/>
                </a:cubicBezTo>
                <a:lnTo>
                  <a:pt x="133350" y="13335"/>
                </a:lnTo>
                <a:cubicBezTo>
                  <a:pt x="153412" y="7739"/>
                  <a:pt x="185380" y="0"/>
                  <a:pt x="209550" y="0"/>
                </a:cubicBezTo>
                <a:cubicBezTo>
                  <a:pt x="266700" y="0"/>
                  <a:pt x="342900" y="28575"/>
                  <a:pt x="342900" y="76200"/>
                </a:cubicBezTo>
                <a:cubicBezTo>
                  <a:pt x="342900" y="123825"/>
                  <a:pt x="271701" y="133350"/>
                  <a:pt x="238125" y="133350"/>
                </a:cubicBezTo>
                <a:cubicBezTo>
                  <a:pt x="209550" y="133350"/>
                  <a:pt x="192881" y="123825"/>
                  <a:pt x="176212" y="114300"/>
                </a:cubicBezTo>
                <a:close/>
                <a:moveTo>
                  <a:pt x="76200" y="19050"/>
                </a:moveTo>
                <a:lnTo>
                  <a:pt x="104775" y="19050"/>
                </a:lnTo>
                <a:lnTo>
                  <a:pt x="104775" y="95250"/>
                </a:lnTo>
                <a:lnTo>
                  <a:pt x="76200" y="95250"/>
                </a:lnTo>
                <a:cubicBezTo>
                  <a:pt x="55185" y="95250"/>
                  <a:pt x="38100" y="78165"/>
                  <a:pt x="38100" y="57150"/>
                </a:cubicBezTo>
                <a:cubicBezTo>
                  <a:pt x="38100" y="36135"/>
                  <a:pt x="55185" y="19050"/>
                  <a:pt x="76200" y="19050"/>
                </a:cubicBezTo>
                <a:close/>
                <a:moveTo>
                  <a:pt x="138113" y="190500"/>
                </a:moveTo>
                <a:cubicBezTo>
                  <a:pt x="154781" y="180975"/>
                  <a:pt x="171450" y="171450"/>
                  <a:pt x="200025" y="171450"/>
                </a:cubicBezTo>
                <a:cubicBezTo>
                  <a:pt x="233601" y="171450"/>
                  <a:pt x="304800" y="180975"/>
                  <a:pt x="304800" y="228600"/>
                </a:cubicBezTo>
                <a:cubicBezTo>
                  <a:pt x="304800" y="276225"/>
                  <a:pt x="228600" y="304800"/>
                  <a:pt x="171450" y="304800"/>
                </a:cubicBezTo>
                <a:cubicBezTo>
                  <a:pt x="147340" y="304800"/>
                  <a:pt x="115312" y="297061"/>
                  <a:pt x="95250" y="291465"/>
                </a:cubicBezTo>
                <a:lnTo>
                  <a:pt x="95250" y="207943"/>
                </a:lnTo>
                <a:cubicBezTo>
                  <a:pt x="112931" y="204847"/>
                  <a:pt x="125551" y="197644"/>
                  <a:pt x="138113" y="190440"/>
                </a:cubicBezTo>
                <a:close/>
                <a:moveTo>
                  <a:pt x="38100" y="285750"/>
                </a:moveTo>
                <a:cubicBezTo>
                  <a:pt x="17085" y="285750"/>
                  <a:pt x="0" y="268665"/>
                  <a:pt x="0" y="247650"/>
                </a:cubicBezTo>
                <a:cubicBezTo>
                  <a:pt x="0" y="226635"/>
                  <a:pt x="17085" y="209550"/>
                  <a:pt x="38100" y="209550"/>
                </a:cubicBezTo>
                <a:lnTo>
                  <a:pt x="66675" y="209550"/>
                </a:lnTo>
                <a:lnTo>
                  <a:pt x="66675" y="285750"/>
                </a:lnTo>
                <a:lnTo>
                  <a:pt x="38100" y="285750"/>
                </a:lnTo>
                <a:close/>
              </a:path>
            </a:pathLst>
          </a:custGeom>
          <a:solidFill>
            <a:srgbClr val="A95EAF"/>
          </a:solidFill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965200" y="3302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Kiên trì và bền bỉ</a:t>
            </a:r>
            <a:endParaRPr lang="en-US" sz="20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965200" y="3834765"/>
            <a:ext cx="4724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Thành công đến từ việc không ngừng cố gắng, ngay cả khi gặp thất bại.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0" name="Shape 7"/>
          <p:cNvSpPr/>
          <p:nvPr>
            <p:custDataLst>
              <p:tags r:id="rId5"/>
            </p:custDataLst>
          </p:nvPr>
        </p:nvSpPr>
        <p:spPr>
          <a:xfrm>
            <a:off x="355600" y="49974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90488"/>
                </a:moveTo>
                <a:cubicBezTo>
                  <a:pt x="181313" y="90488"/>
                  <a:pt x="204787" y="67013"/>
                  <a:pt x="204787" y="38100"/>
                </a:cubicBezTo>
                <a:cubicBezTo>
                  <a:pt x="204787" y="9187"/>
                  <a:pt x="181313" y="-14287"/>
                  <a:pt x="152400" y="-14287"/>
                </a:cubicBezTo>
                <a:cubicBezTo>
                  <a:pt x="123487" y="-14287"/>
                  <a:pt x="100013" y="9187"/>
                  <a:pt x="100013" y="38100"/>
                </a:cubicBezTo>
                <a:cubicBezTo>
                  <a:pt x="100013" y="67013"/>
                  <a:pt x="123487" y="90488"/>
                  <a:pt x="152400" y="90488"/>
                </a:cubicBezTo>
                <a:close/>
                <a:moveTo>
                  <a:pt x="152400" y="268307"/>
                </a:moveTo>
                <a:lnTo>
                  <a:pt x="152400" y="179427"/>
                </a:lnTo>
                <a:cubicBezTo>
                  <a:pt x="162104" y="175379"/>
                  <a:pt x="171986" y="171271"/>
                  <a:pt x="181987" y="167104"/>
                </a:cubicBezTo>
                <a:cubicBezTo>
                  <a:pt x="205204" y="157460"/>
                  <a:pt x="230088" y="152460"/>
                  <a:pt x="255270" y="152460"/>
                </a:cubicBezTo>
                <a:lnTo>
                  <a:pt x="266700" y="152460"/>
                </a:lnTo>
                <a:lnTo>
                  <a:pt x="266700" y="247710"/>
                </a:lnTo>
                <a:lnTo>
                  <a:pt x="255270" y="247710"/>
                </a:lnTo>
                <a:cubicBezTo>
                  <a:pt x="220087" y="247710"/>
                  <a:pt x="185202" y="254675"/>
                  <a:pt x="152698" y="268248"/>
                </a:cubicBezTo>
                <a:lnTo>
                  <a:pt x="152400" y="268367"/>
                </a:lnTo>
                <a:close/>
                <a:moveTo>
                  <a:pt x="152400" y="138113"/>
                </a:moveTo>
                <a:lnTo>
                  <a:pt x="137458" y="131862"/>
                </a:lnTo>
                <a:cubicBezTo>
                  <a:pt x="109597" y="120253"/>
                  <a:pt x="79712" y="114300"/>
                  <a:pt x="49530" y="114300"/>
                </a:cubicBezTo>
                <a:lnTo>
                  <a:pt x="28575" y="114300"/>
                </a:lnTo>
                <a:cubicBezTo>
                  <a:pt x="12799" y="114300"/>
                  <a:pt x="0" y="127099"/>
                  <a:pt x="0" y="142875"/>
                </a:cubicBezTo>
                <a:lnTo>
                  <a:pt x="0" y="257175"/>
                </a:lnTo>
                <a:cubicBezTo>
                  <a:pt x="0" y="272951"/>
                  <a:pt x="12799" y="285750"/>
                  <a:pt x="28575" y="285750"/>
                </a:cubicBezTo>
                <a:lnTo>
                  <a:pt x="49530" y="285750"/>
                </a:lnTo>
                <a:cubicBezTo>
                  <a:pt x="79712" y="285750"/>
                  <a:pt x="109597" y="291703"/>
                  <a:pt x="137458" y="303312"/>
                </a:cubicBezTo>
                <a:lnTo>
                  <a:pt x="145078" y="306467"/>
                </a:lnTo>
                <a:cubicBezTo>
                  <a:pt x="149781" y="308431"/>
                  <a:pt x="155019" y="308431"/>
                  <a:pt x="159722" y="306467"/>
                </a:cubicBezTo>
                <a:lnTo>
                  <a:pt x="167342" y="303312"/>
                </a:lnTo>
                <a:cubicBezTo>
                  <a:pt x="195203" y="291703"/>
                  <a:pt x="225088" y="285750"/>
                  <a:pt x="255270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142875"/>
                </a:lnTo>
                <a:cubicBezTo>
                  <a:pt x="304800" y="127099"/>
                  <a:pt x="292001" y="114300"/>
                  <a:pt x="276225" y="114300"/>
                </a:cubicBezTo>
                <a:lnTo>
                  <a:pt x="255270" y="114300"/>
                </a:lnTo>
                <a:cubicBezTo>
                  <a:pt x="225088" y="114300"/>
                  <a:pt x="195203" y="120253"/>
                  <a:pt x="167342" y="131862"/>
                </a:cubicBezTo>
                <a:lnTo>
                  <a:pt x="152400" y="138113"/>
                </a:lnTo>
                <a:close/>
              </a:path>
            </a:pathLst>
          </a:custGeom>
          <a:solidFill>
            <a:srgbClr val="A95EAF"/>
          </a:solidFill>
        </p:spPr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965200" y="494919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Học hỏi liên tục</a:t>
            </a:r>
            <a:endParaRPr lang="en-US" sz="20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965200" y="5426710"/>
            <a:ext cx="47244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Coi mỗi lần trượt là một bài học quý giá để hoàn thiện bản thân.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pic>
        <p:nvPicPr>
          <p:cNvPr id="13" name="Image 1" descr="https://kimi-web-img.moonshot.cn/img/video.cgtn.com/e47bf8c41482917cbfd7d5caf2cd9eadeb90dafd.jpg"/>
          <p:cNvPicPr>
            <a:picLocks noChangeAspect="1"/>
          </p:cNvPicPr>
          <p:nvPr/>
        </p:nvPicPr>
        <p:blipFill>
          <a:blip r:embed="rId8"/>
          <a:srcRect l="16644" r="16644"/>
          <a:stretch>
            <a:fillRect/>
          </a:stretch>
        </p:blipFill>
        <p:spPr>
          <a:xfrm>
            <a:off x="6299200" y="1255395"/>
            <a:ext cx="5638800" cy="4762500"/>
          </a:xfrm>
          <a:prstGeom prst="roundRect">
            <a:avLst>
              <a:gd name="adj" fmla="val 4267"/>
            </a:avLst>
          </a:prstGeom>
        </p:spPr>
      </p:pic>
      <p:sp>
        <p:nvSpPr>
          <p:cNvPr id="17" name="Text 2"/>
          <p:cNvSpPr/>
          <p:nvPr/>
        </p:nvSpPr>
        <p:spPr>
          <a:xfrm>
            <a:off x="1066800" y="89535"/>
            <a:ext cx="543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04. Hành động cá nhân</a:t>
            </a:r>
            <a:endParaRPr lang="en-US" sz="36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541655" y="2687320"/>
            <a:ext cx="11172825" cy="230695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Kết luận &amp; hành động</a:t>
            </a:r>
            <a:endParaRPr lang="en-US" sz="7200" b="1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15235" y="1350010"/>
            <a:ext cx="716153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05</a:t>
            </a:r>
            <a:endParaRPr lang="en-US" sz="7200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50800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7018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Tổng Kết: Cần Sự Phối Hợp Đồng Bộ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0" y="2362200"/>
            <a:ext cx="1219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>
                    <a:alpha val="80000"/>
                  </a:srgbClr>
                </a:solidFill>
                <a:latin typeface="Montserrat" charset="0"/>
                <a:ea typeface="MiSans" pitchFamily="34" charset="-122"/>
                <a:cs typeface="Montserrat" charset="0"/>
              </a:rPr>
              <a:t>Vấn đề thất nghiệp chỉ có thể giải quyết khi cả hệ sinh thái cùng chung tay.</a:t>
            </a:r>
            <a:endParaRPr lang="en-US" sz="1700" dirty="0">
              <a:solidFill>
                <a:srgbClr val="3C3542">
                  <a:alpha val="80000"/>
                </a:srgbClr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587500" y="3225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1968500" y="3606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2798" y="18038"/>
                </a:moveTo>
                <a:cubicBezTo>
                  <a:pt x="234047" y="13037"/>
                  <a:pt x="223242" y="13037"/>
                  <a:pt x="214402" y="18038"/>
                </a:cubicBezTo>
                <a:lnTo>
                  <a:pt x="14377" y="132338"/>
                </a:lnTo>
                <a:cubicBezTo>
                  <a:pt x="3125" y="138767"/>
                  <a:pt x="-2411" y="151983"/>
                  <a:pt x="893" y="164485"/>
                </a:cubicBezTo>
                <a:cubicBezTo>
                  <a:pt x="4197" y="176986"/>
                  <a:pt x="15627" y="185738"/>
                  <a:pt x="28575" y="185738"/>
                </a:cubicBezTo>
                <a:lnTo>
                  <a:pt x="57150" y="185738"/>
                </a:lnTo>
                <a:lnTo>
                  <a:pt x="57150" y="371475"/>
                </a:lnTo>
                <a:lnTo>
                  <a:pt x="57150" y="371475"/>
                </a:lnTo>
                <a:lnTo>
                  <a:pt x="11430" y="405765"/>
                </a:lnTo>
                <a:cubicBezTo>
                  <a:pt x="4197" y="411123"/>
                  <a:pt x="0" y="419606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9606"/>
                  <a:pt x="453003" y="411123"/>
                  <a:pt x="445770" y="405765"/>
                </a:cubicBezTo>
                <a:lnTo>
                  <a:pt x="400050" y="371475"/>
                </a:lnTo>
                <a:lnTo>
                  <a:pt x="400050" y="185738"/>
                </a:lnTo>
                <a:lnTo>
                  <a:pt x="428625" y="185738"/>
                </a:lnTo>
                <a:cubicBezTo>
                  <a:pt x="441573" y="185738"/>
                  <a:pt x="452914" y="176986"/>
                  <a:pt x="456218" y="164485"/>
                </a:cubicBezTo>
                <a:cubicBezTo>
                  <a:pt x="459522" y="151983"/>
                  <a:pt x="453985" y="138767"/>
                  <a:pt x="442734" y="132338"/>
                </a:cubicBezTo>
                <a:lnTo>
                  <a:pt x="242709" y="18038"/>
                </a:lnTo>
                <a:close/>
                <a:moveTo>
                  <a:pt x="357188" y="185738"/>
                </a:moveTo>
                <a:lnTo>
                  <a:pt x="357188" y="371475"/>
                </a:lnTo>
                <a:lnTo>
                  <a:pt x="300038" y="371475"/>
                </a:lnTo>
                <a:lnTo>
                  <a:pt x="300038" y="185738"/>
                </a:lnTo>
                <a:lnTo>
                  <a:pt x="357188" y="185738"/>
                </a:lnTo>
                <a:close/>
                <a:moveTo>
                  <a:pt x="257175" y="185738"/>
                </a:moveTo>
                <a:lnTo>
                  <a:pt x="257175" y="371475"/>
                </a:lnTo>
                <a:lnTo>
                  <a:pt x="200025" y="371475"/>
                </a:lnTo>
                <a:lnTo>
                  <a:pt x="200025" y="185738"/>
                </a:lnTo>
                <a:lnTo>
                  <a:pt x="257175" y="185738"/>
                </a:lnTo>
                <a:close/>
                <a:moveTo>
                  <a:pt x="157163" y="185738"/>
                </a:moveTo>
                <a:lnTo>
                  <a:pt x="157163" y="371475"/>
                </a:lnTo>
                <a:lnTo>
                  <a:pt x="100013" y="371475"/>
                </a:lnTo>
                <a:lnTo>
                  <a:pt x="100013" y="185738"/>
                </a:lnTo>
                <a:lnTo>
                  <a:pt x="157163" y="185738"/>
                </a:lnTo>
                <a:close/>
                <a:moveTo>
                  <a:pt x="228600" y="85725"/>
                </a:moveTo>
                <a:cubicBezTo>
                  <a:pt x="244371" y="85725"/>
                  <a:pt x="257175" y="98529"/>
                  <a:pt x="257175" y="114300"/>
                </a:cubicBezTo>
                <a:cubicBezTo>
                  <a:pt x="257175" y="130071"/>
                  <a:pt x="244371" y="142875"/>
                  <a:pt x="228600" y="142875"/>
                </a:cubicBezTo>
                <a:cubicBezTo>
                  <a:pt x="212829" y="142875"/>
                  <a:pt x="200025" y="130071"/>
                  <a:pt x="200025" y="114300"/>
                </a:cubicBezTo>
                <a:cubicBezTo>
                  <a:pt x="200025" y="98529"/>
                  <a:pt x="212829" y="85725"/>
                  <a:pt x="228600" y="85725"/>
                </a:cubicBezTo>
                <a:close/>
              </a:path>
            </a:pathLst>
          </a:custGeom>
          <a:solidFill>
            <a:srgbClr val="8F5C9A"/>
          </a:solidFill>
        </p:spPr>
      </p:sp>
      <p:sp>
        <p:nvSpPr>
          <p:cNvPr id="9" name="Text 6"/>
          <p:cNvSpPr/>
          <p:nvPr/>
        </p:nvSpPr>
        <p:spPr>
          <a:xfrm>
            <a:off x="1290042" y="4546600"/>
            <a:ext cx="1816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Nhà Trường</a:t>
            </a:r>
            <a:endParaRPr lang="en-US" sz="17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05719" y="5003800"/>
            <a:ext cx="17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Đổi mới đào tạo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946525" y="39751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57150"/>
                </a:moveTo>
                <a:cubicBezTo>
                  <a:pt x="228600" y="41344"/>
                  <a:pt x="215831" y="28575"/>
                  <a:pt x="200025" y="28575"/>
                </a:cubicBezTo>
                <a:cubicBezTo>
                  <a:pt x="184219" y="28575"/>
                  <a:pt x="171450" y="41344"/>
                  <a:pt x="171450" y="57150"/>
                </a:cubicBezTo>
                <a:lnTo>
                  <a:pt x="17145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71450" y="257175"/>
                </a:lnTo>
                <a:lnTo>
                  <a:pt x="171450" y="400050"/>
                </a:lnTo>
                <a:cubicBezTo>
                  <a:pt x="171450" y="415856"/>
                  <a:pt x="184219" y="428625"/>
                  <a:pt x="200025" y="428625"/>
                </a:cubicBezTo>
                <a:cubicBezTo>
                  <a:pt x="215831" y="428625"/>
                  <a:pt x="228600" y="415856"/>
                  <a:pt x="228600" y="400050"/>
                </a:cubicBezTo>
                <a:lnTo>
                  <a:pt x="228600" y="257175"/>
                </a:lnTo>
                <a:lnTo>
                  <a:pt x="371475" y="257175"/>
                </a:lnTo>
                <a:cubicBezTo>
                  <a:pt x="387281" y="257175"/>
                  <a:pt x="400050" y="244406"/>
                  <a:pt x="400050" y="228600"/>
                </a:cubicBezTo>
                <a:cubicBezTo>
                  <a:pt x="400050" y="212794"/>
                  <a:pt x="387281" y="200025"/>
                  <a:pt x="371475" y="200025"/>
                </a:cubicBezTo>
                <a:lnTo>
                  <a:pt x="228600" y="200025"/>
                </a:lnTo>
                <a:lnTo>
                  <a:pt x="228600" y="57150"/>
                </a:lnTo>
                <a:close/>
              </a:path>
            </a:pathLst>
          </a:custGeom>
          <a:solidFill>
            <a:srgbClr val="A95EAF"/>
          </a:solidFill>
        </p:spPr>
      </p:sp>
      <p:sp>
        <p:nvSpPr>
          <p:cNvPr id="12" name="Shape 9"/>
          <p:cNvSpPr/>
          <p:nvPr/>
        </p:nvSpPr>
        <p:spPr>
          <a:xfrm>
            <a:off x="5486400" y="3225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5924550" y="3606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8F5C9A"/>
          </a:solidFill>
        </p:spPr>
      </p:sp>
      <p:sp>
        <p:nvSpPr>
          <p:cNvPr id="14" name="Text 11"/>
          <p:cNvSpPr/>
          <p:nvPr/>
        </p:nvSpPr>
        <p:spPr>
          <a:xfrm>
            <a:off x="5061744" y="4546600"/>
            <a:ext cx="2070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Doanh Nghiệp</a:t>
            </a:r>
            <a:endParaRPr lang="en-US" sz="17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232202" y="5003800"/>
            <a:ext cx="1727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Mở rộng cơ hội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845425" y="39751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57150"/>
                </a:moveTo>
                <a:cubicBezTo>
                  <a:pt x="228600" y="41344"/>
                  <a:pt x="215831" y="28575"/>
                  <a:pt x="200025" y="28575"/>
                </a:cubicBezTo>
                <a:cubicBezTo>
                  <a:pt x="184219" y="28575"/>
                  <a:pt x="171450" y="41344"/>
                  <a:pt x="171450" y="57150"/>
                </a:cubicBezTo>
                <a:lnTo>
                  <a:pt x="17145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71450" y="257175"/>
                </a:lnTo>
                <a:lnTo>
                  <a:pt x="171450" y="400050"/>
                </a:lnTo>
                <a:cubicBezTo>
                  <a:pt x="171450" y="415856"/>
                  <a:pt x="184219" y="428625"/>
                  <a:pt x="200025" y="428625"/>
                </a:cubicBezTo>
                <a:cubicBezTo>
                  <a:pt x="215831" y="428625"/>
                  <a:pt x="228600" y="415856"/>
                  <a:pt x="228600" y="400050"/>
                </a:cubicBezTo>
                <a:lnTo>
                  <a:pt x="228600" y="257175"/>
                </a:lnTo>
                <a:lnTo>
                  <a:pt x="371475" y="257175"/>
                </a:lnTo>
                <a:cubicBezTo>
                  <a:pt x="387281" y="257175"/>
                  <a:pt x="400050" y="244406"/>
                  <a:pt x="400050" y="228600"/>
                </a:cubicBezTo>
                <a:cubicBezTo>
                  <a:pt x="400050" y="212794"/>
                  <a:pt x="387281" y="200025"/>
                  <a:pt x="371475" y="200025"/>
                </a:cubicBezTo>
                <a:lnTo>
                  <a:pt x="228600" y="200025"/>
                </a:lnTo>
                <a:lnTo>
                  <a:pt x="228600" y="57150"/>
                </a:lnTo>
                <a:close/>
              </a:path>
            </a:pathLst>
          </a:custGeom>
          <a:solidFill>
            <a:srgbClr val="A95EAF"/>
          </a:solidFill>
        </p:spPr>
      </p:sp>
      <p:sp>
        <p:nvSpPr>
          <p:cNvPr id="17" name="Shape 14"/>
          <p:cNvSpPr/>
          <p:nvPr/>
        </p:nvSpPr>
        <p:spPr>
          <a:xfrm>
            <a:off x="9385300" y="3225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D3B9D7">
              <a:alpha val="60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9794875" y="36068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15473" y="-11609"/>
                </a:moveTo>
                <a:cubicBezTo>
                  <a:pt x="205294" y="-13662"/>
                  <a:pt x="194846" y="-13662"/>
                  <a:pt x="184666" y="-11609"/>
                </a:cubicBezTo>
                <a:lnTo>
                  <a:pt x="17234" y="21878"/>
                </a:lnTo>
                <a:cubicBezTo>
                  <a:pt x="7233" y="23842"/>
                  <a:pt x="0" y="32683"/>
                  <a:pt x="0" y="42863"/>
                </a:cubicBezTo>
                <a:cubicBezTo>
                  <a:pt x="0" y="52060"/>
                  <a:pt x="5804" y="60097"/>
                  <a:pt x="14288" y="63044"/>
                </a:cubicBezTo>
                <a:lnTo>
                  <a:pt x="14288" y="128588"/>
                </a:lnTo>
                <a:lnTo>
                  <a:pt x="268" y="198775"/>
                </a:lnTo>
                <a:cubicBezTo>
                  <a:pt x="89" y="199579"/>
                  <a:pt x="0" y="200471"/>
                  <a:pt x="0" y="201364"/>
                </a:cubicBezTo>
                <a:cubicBezTo>
                  <a:pt x="0" y="208508"/>
                  <a:pt x="5804" y="214402"/>
                  <a:pt x="13037" y="214402"/>
                </a:cubicBezTo>
                <a:lnTo>
                  <a:pt x="44202" y="214402"/>
                </a:lnTo>
                <a:cubicBezTo>
                  <a:pt x="51346" y="214402"/>
                  <a:pt x="57239" y="208598"/>
                  <a:pt x="57239" y="201364"/>
                </a:cubicBezTo>
                <a:cubicBezTo>
                  <a:pt x="57239" y="200471"/>
                  <a:pt x="57150" y="199668"/>
                  <a:pt x="56971" y="198775"/>
                </a:cubicBezTo>
                <a:lnTo>
                  <a:pt x="42863" y="128588"/>
                </a:lnTo>
                <a:lnTo>
                  <a:pt x="42863" y="69026"/>
                </a:lnTo>
                <a:lnTo>
                  <a:pt x="85725" y="77599"/>
                </a:lnTo>
                <a:lnTo>
                  <a:pt x="85725" y="128588"/>
                </a:lnTo>
                <a:cubicBezTo>
                  <a:pt x="85725" y="191720"/>
                  <a:pt x="136892" y="242888"/>
                  <a:pt x="200025" y="242888"/>
                </a:cubicBezTo>
                <a:cubicBezTo>
                  <a:pt x="263158" y="242888"/>
                  <a:pt x="314325" y="191720"/>
                  <a:pt x="314325" y="128588"/>
                </a:cubicBezTo>
                <a:lnTo>
                  <a:pt x="314325" y="77599"/>
                </a:lnTo>
                <a:lnTo>
                  <a:pt x="382816" y="63937"/>
                </a:lnTo>
                <a:cubicBezTo>
                  <a:pt x="392817" y="61883"/>
                  <a:pt x="400050" y="53042"/>
                  <a:pt x="400050" y="42863"/>
                </a:cubicBezTo>
                <a:cubicBezTo>
                  <a:pt x="400050" y="32683"/>
                  <a:pt x="392817" y="23842"/>
                  <a:pt x="382816" y="21878"/>
                </a:cubicBezTo>
                <a:lnTo>
                  <a:pt x="215473" y="-11609"/>
                </a:lnTo>
                <a:close/>
                <a:moveTo>
                  <a:pt x="200025" y="200025"/>
                </a:moveTo>
                <a:cubicBezTo>
                  <a:pt x="160556" y="200025"/>
                  <a:pt x="128588" y="168057"/>
                  <a:pt x="128588" y="128588"/>
                </a:cubicBezTo>
                <a:lnTo>
                  <a:pt x="271463" y="128588"/>
                </a:lnTo>
                <a:cubicBezTo>
                  <a:pt x="271463" y="168057"/>
                  <a:pt x="239494" y="200025"/>
                  <a:pt x="200025" y="200025"/>
                </a:cubicBezTo>
                <a:close/>
                <a:moveTo>
                  <a:pt x="107246" y="285839"/>
                </a:moveTo>
                <a:cubicBezTo>
                  <a:pt x="52417" y="311021"/>
                  <a:pt x="14288" y="366385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178594" y="457200"/>
                </a:lnTo>
                <a:lnTo>
                  <a:pt x="178594" y="326827"/>
                </a:lnTo>
                <a:lnTo>
                  <a:pt x="127337" y="288429"/>
                </a:lnTo>
                <a:cubicBezTo>
                  <a:pt x="121533" y="284053"/>
                  <a:pt x="113764" y="282893"/>
                  <a:pt x="107156" y="285929"/>
                </a:cubicBezTo>
                <a:close/>
                <a:moveTo>
                  <a:pt x="221456" y="457200"/>
                </a:move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66385"/>
                  <a:pt x="347633" y="311021"/>
                  <a:pt x="292804" y="285929"/>
                </a:cubicBezTo>
                <a:cubicBezTo>
                  <a:pt x="286196" y="282893"/>
                  <a:pt x="278428" y="284053"/>
                  <a:pt x="272623" y="288429"/>
                </a:cubicBezTo>
                <a:lnTo>
                  <a:pt x="221367" y="326827"/>
                </a:lnTo>
                <a:lnTo>
                  <a:pt x="221367" y="457200"/>
                </a:lnTo>
                <a:close/>
              </a:path>
            </a:pathLst>
          </a:custGeom>
          <a:solidFill>
            <a:srgbClr val="8F5C9A"/>
          </a:solidFill>
        </p:spPr>
      </p:sp>
      <p:sp>
        <p:nvSpPr>
          <p:cNvPr id="19" name="Text 16"/>
          <p:cNvSpPr/>
          <p:nvPr/>
        </p:nvSpPr>
        <p:spPr>
          <a:xfrm>
            <a:off x="9235083" y="4546600"/>
            <a:ext cx="1524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Sinh Viên</a:t>
            </a:r>
            <a:endParaRPr lang="en-US" sz="17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278620" y="5215890"/>
            <a:ext cx="148018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Chủ động học - hành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21" name="Text 2"/>
          <p:cNvSpPr/>
          <p:nvPr/>
        </p:nvSpPr>
        <p:spPr>
          <a:xfrm>
            <a:off x="1052195" y="31115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05. Kết luận &amp; hành động</a:t>
            </a:r>
            <a:endParaRPr lang="en-US" sz="36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pic>
        <p:nvPicPr>
          <p:cNvPr id="4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50" y="-102235"/>
            <a:ext cx="12350750" cy="69602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000" y="1272540"/>
            <a:ext cx="54356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Hãy Bắt Đầu Từ Hôm Nay!</a:t>
            </a:r>
            <a:endParaRPr lang="en-US" sz="22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339975"/>
            <a:ext cx="54356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Đừng để thất nghiệp là nỗi ám ảnh. Hãy biến những lời khuyên thành hành động cụ thể ngay lập tức.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4000" y="3556000"/>
            <a:ext cx="5435600" cy="2734310"/>
          </a:xfrm>
          <a:custGeom>
            <a:avLst/>
            <a:gdLst/>
            <a:ahLst/>
            <a:cxnLst/>
            <a:rect l="l" t="t" r="r" b="b"/>
            <a:pathLst>
              <a:path w="5435600" h="1981200">
                <a:moveTo>
                  <a:pt x="101596" y="0"/>
                </a:moveTo>
                <a:lnTo>
                  <a:pt x="5334004" y="0"/>
                </a:lnTo>
                <a:cubicBezTo>
                  <a:pt x="5390114" y="0"/>
                  <a:pt x="5435600" y="45486"/>
                  <a:pt x="5435600" y="101596"/>
                </a:cubicBezTo>
                <a:lnTo>
                  <a:pt x="5435600" y="1879604"/>
                </a:lnTo>
                <a:cubicBezTo>
                  <a:pt x="5435600" y="1935714"/>
                  <a:pt x="5390114" y="1981200"/>
                  <a:pt x="5334004" y="1981200"/>
                </a:cubicBezTo>
                <a:lnTo>
                  <a:pt x="101596" y="1981200"/>
                </a:lnTo>
                <a:cubicBezTo>
                  <a:pt x="45486" y="1981200"/>
                  <a:pt x="0" y="1935714"/>
                  <a:pt x="0" y="1879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D3B9D7">
              <a:alpha val="40000"/>
            </a:srgbClr>
          </a:solidFill>
        </p:spPr>
        <p:txBody>
          <a:bodyPr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759200"/>
            <a:ext cx="5537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Cam kết một việc ngay hôm nay:</a:t>
            </a:r>
            <a:endParaRPr lang="en-US" sz="20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8160" y="438467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0" name="Text 7"/>
          <p:cNvSpPr/>
          <p:nvPr/>
        </p:nvSpPr>
        <p:spPr>
          <a:xfrm>
            <a:off x="924560" y="4283075"/>
            <a:ext cx="2425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Cập nhật CV của bạn.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18160" y="500062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2" name="Text 9"/>
          <p:cNvSpPr/>
          <p:nvPr/>
        </p:nvSpPr>
        <p:spPr>
          <a:xfrm>
            <a:off x="924560" y="4949825"/>
            <a:ext cx="431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Đăng ký một khóa học kỹ năng trực tuyến.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18160" y="5734050"/>
            <a:ext cx="19304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A95EAF"/>
          </a:solidFill>
        </p:spPr>
      </p:sp>
      <p:sp>
        <p:nvSpPr>
          <p:cNvPr id="14" name="Text 11"/>
          <p:cNvSpPr/>
          <p:nvPr/>
        </p:nvSpPr>
        <p:spPr>
          <a:xfrm>
            <a:off x="924560" y="5683250"/>
            <a:ext cx="480758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C3542"/>
                </a:solidFill>
                <a:latin typeface="Montserrat" charset="0"/>
                <a:ea typeface="MiSans" pitchFamily="34" charset="-122"/>
                <a:cs typeface="Montserrat" charset="0"/>
              </a:rPr>
              <a:t>Liên hệ một doanh nghiệp để tìm hiểu về thực tập.</a:t>
            </a:r>
            <a:endParaRPr lang="en-US" sz="1700" dirty="0">
              <a:solidFill>
                <a:srgbClr val="3C3542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pic>
        <p:nvPicPr>
          <p:cNvPr id="15" name="Image 1" descr="https://kimi-web-img.moonshot.cn/img/video.cgtn.com/130e80841ab637df9a2fdad5c9264b5db1de9aa1.jpg"/>
          <p:cNvPicPr>
            <a:picLocks noChangeAspect="1"/>
          </p:cNvPicPr>
          <p:nvPr/>
        </p:nvPicPr>
        <p:blipFill>
          <a:blip r:embed="rId2"/>
          <a:srcRect l="16700" r="16700"/>
          <a:stretch>
            <a:fillRect/>
          </a:stretch>
        </p:blipFill>
        <p:spPr>
          <a:xfrm>
            <a:off x="6299200" y="1452245"/>
            <a:ext cx="5638800" cy="4762500"/>
          </a:xfrm>
          <a:prstGeom prst="roundRect">
            <a:avLst>
              <a:gd name="adj" fmla="val 4267"/>
            </a:avLst>
          </a:prstGeom>
        </p:spPr>
      </p:pic>
      <p:sp>
        <p:nvSpPr>
          <p:cNvPr id="21" name="Text 2"/>
          <p:cNvSpPr/>
          <p:nvPr/>
        </p:nvSpPr>
        <p:spPr>
          <a:xfrm>
            <a:off x="1052195" y="31115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8F5C9A"/>
                </a:solidFill>
                <a:latin typeface="Montserrat" charset="0"/>
                <a:ea typeface="MiSans" pitchFamily="34" charset="-122"/>
                <a:cs typeface="Montserrat" charset="0"/>
              </a:rPr>
              <a:t>05. Kết luận &amp; hành động</a:t>
            </a:r>
            <a:endParaRPr lang="en-US" sz="3600" dirty="0">
              <a:solidFill>
                <a:srgbClr val="8F5C9A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/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</p:spPr>
      </p:sp>
      <p:sp>
        <p:nvSpPr>
          <p:cNvPr id="3" name="Text 1"/>
          <p:cNvSpPr/>
          <p:nvPr/>
        </p:nvSpPr>
        <p:spPr>
          <a:xfrm rot="5940000">
            <a:off x="367665" y="335915"/>
            <a:ext cx="558800" cy="59499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gradFill flip="none" rotWithShape="1">
            <a:gsLst>
              <a:gs pos="0">
                <a:srgbClr val="D7B1D4"/>
              </a:gs>
              <a:gs pos="34000">
                <a:srgbClr val="BC7DB7"/>
              </a:gs>
              <a:gs pos="100000">
                <a:srgbClr val="30225F"/>
              </a:gs>
            </a:gsLst>
            <a:lin ang="13500000" scaled="1"/>
          </a:gradFill>
        </p:spPr>
      </p:sp>
      <p:sp>
        <p:nvSpPr>
          <p:cNvPr id="5" name="Text 3"/>
          <p:cNvSpPr/>
          <p:nvPr/>
        </p:nvSpPr>
        <p:spPr>
          <a:xfrm>
            <a:off x="4445" y="0"/>
            <a:ext cx="12187555" cy="68757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280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85280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3665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665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42049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142049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0434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34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88185" y="469900"/>
            <a:ext cx="106680" cy="1066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988185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72030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2030" y="469900"/>
            <a:ext cx="106680" cy="1066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456035" y="38163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11456035" y="38163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456035" y="501650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1456035" y="501650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456035" y="621665"/>
            <a:ext cx="351155" cy="438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11456035" y="621665"/>
            <a:ext cx="351155" cy="438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727190" y="6306820"/>
            <a:ext cx="10080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52805" y="6177280"/>
            <a:ext cx="259080" cy="25908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852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79805" y="6177280"/>
            <a:ext cx="259080" cy="25908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9805" y="6177280"/>
            <a:ext cx="259080" cy="259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527175" y="2022475"/>
            <a:ext cx="9594850" cy="181165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0" b="1" dirty="0">
                <a:solidFill>
                  <a:srgbClr val="FFFFFF"/>
                </a:solidFill>
                <a:latin typeface="Montserrat" charset="0"/>
                <a:ea typeface="MiSans" pitchFamily="34" charset="-122"/>
                <a:cs typeface="Montserrat" charset="0"/>
              </a:rPr>
              <a:t>THANK YOU</a:t>
            </a:r>
            <a:endParaRPr lang="en-US" sz="11500" b="1" dirty="0">
              <a:solidFill>
                <a:srgbClr val="FFFFF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875723" y="449516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3875723" y="4495165"/>
            <a:ext cx="2057400" cy="518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779838" y="4554855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2E7F"/>
                </a:solidFill>
                <a:latin typeface="Montserrat" charset="0"/>
                <a:ea typeface="MiSans" pitchFamily="34" charset="-122"/>
                <a:cs typeface="Montserrat" charset="0"/>
              </a:rPr>
              <a:t>Thiên Long</a:t>
            </a:r>
            <a:endParaRPr lang="en-US" sz="2000" dirty="0">
              <a:solidFill>
                <a:srgbClr val="402E7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58243" y="4495165"/>
            <a:ext cx="2057400" cy="518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6258243" y="4495165"/>
            <a:ext cx="2057400" cy="518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Montserrat" charset="0"/>
              <a:cs typeface="Montserrat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62358" y="4554855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402E7F"/>
                </a:solidFill>
                <a:latin typeface="Montserrat" charset="0"/>
                <a:ea typeface="MiSans" pitchFamily="34" charset="-122"/>
                <a:cs typeface="Montserrat" charset="0"/>
              </a:rPr>
              <a:t>2025/01/01</a:t>
            </a:r>
            <a:endParaRPr lang="en-US" sz="2000" dirty="0">
              <a:solidFill>
                <a:srgbClr val="402E7F"/>
              </a:solidFill>
              <a:latin typeface="Montserrat" charset="0"/>
              <a:ea typeface="MiSans" pitchFamily="34" charset="-122"/>
              <a:cs typeface="Montserrat" charset="0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2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3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4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5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6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7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8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9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10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11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12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13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14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15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16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17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18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19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20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21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22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23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24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25.xml><?xml version="1.0" encoding="utf-8"?>
<p:tagLst xmlns:p="http://schemas.openxmlformats.org/presentationml/2006/main">
  <p:tag name="KSO_WM_DIAGRAM_VIRTUALLY_FRAME" val="{&quot;height&quot;:306.9,&quot;left&quot;:-2.8,&quot;top&quot;:174.5,&quot;width&quot;:960.85}"/>
</p:tagLst>
</file>

<file path=ppt/tags/tag26.xml><?xml version="1.0" encoding="utf-8"?>
<p:tagLst xmlns:p="http://schemas.openxmlformats.org/presentationml/2006/main">
  <p:tag name="KSO_WM_DIAGRAM_VIRTUALLY_FRAME" val="{&quot;height&quot;:293.35,&quot;left&quot;:342.6562204724409,&quot;top&quot;:160.65,&quot;width&quot;:637.3500000000001}"/>
</p:tagLst>
</file>

<file path=ppt/tags/tag27.xml><?xml version="1.0" encoding="utf-8"?>
<p:tagLst xmlns:p="http://schemas.openxmlformats.org/presentationml/2006/main">
  <p:tag name="KSO_WM_DIAGRAM_VIRTUALLY_FRAME" val="{&quot;height&quot;:293.35,&quot;left&quot;:342.6562204724409,&quot;top&quot;:160.65,&quot;width&quot;:637.3500000000001}"/>
</p:tagLst>
</file>

<file path=ppt/tags/tag28.xml><?xml version="1.0" encoding="utf-8"?>
<p:tagLst xmlns:p="http://schemas.openxmlformats.org/presentationml/2006/main">
  <p:tag name="KSO_WM_DIAGRAM_VIRTUALLY_FRAME" val="{&quot;height&quot;:293.35,&quot;left&quot;:342.6562204724409,&quot;top&quot;:160.65,&quot;width&quot;:637.3500000000001}"/>
</p:tagLst>
</file>

<file path=ppt/tags/tag29.xml><?xml version="1.0" encoding="utf-8"?>
<p:tagLst xmlns:p="http://schemas.openxmlformats.org/presentationml/2006/main">
  <p:tag name="KSO_WM_DIAGRAM_VIRTUALLY_FRAME" val="{&quot;height&quot;:293.35,&quot;left&quot;:342.6562204724409,&quot;top&quot;:160.65,&quot;width&quot;:637.3500000000001}"/>
</p:tagLst>
</file>

<file path=ppt/tags/tag30.xml><?xml version="1.0" encoding="utf-8"?>
<p:tagLst xmlns:p="http://schemas.openxmlformats.org/presentationml/2006/main">
  <p:tag name="KSO_WM_DIAGRAM_VIRTUALLY_FRAME" val="{&quot;height&quot;:293.35,&quot;left&quot;:342.6562204724409,&quot;top&quot;:160.65,&quot;width&quot;:637.3500000000001}"/>
</p:tagLst>
</file>

<file path=ppt/tags/tag31.xml><?xml version="1.0" encoding="utf-8"?>
<p:tagLst xmlns:p="http://schemas.openxmlformats.org/presentationml/2006/main">
  <p:tag name="KSO_WM_DIAGRAM_VIRTUALLY_FRAME" val="{&quot;height&quot;:293.35,&quot;left&quot;:342.6562204724409,&quot;top&quot;:160.65,&quot;width&quot;:637.3500000000001}"/>
</p:tagLst>
</file>

<file path=ppt/tags/tag32.xml><?xml version="1.0" encoding="utf-8"?>
<p:tagLst xmlns:p="http://schemas.openxmlformats.org/presentationml/2006/main">
  <p:tag name="KSO_WM_DIAGRAM_VIRTUALLY_FRAME" val="{&quot;height&quot;:293.35,&quot;left&quot;:342.6562204724409,&quot;top&quot;:160.65,&quot;width&quot;:637.3500000000001}"/>
</p:tagLst>
</file>

<file path=ppt/tags/tag33.xml><?xml version="1.0" encoding="utf-8"?>
<p:tagLst xmlns:p="http://schemas.openxmlformats.org/presentationml/2006/main">
  <p:tag name="KSO_WM_DIAGRAM_VIRTUALLY_FRAME" val="{&quot;height&quot;:293.35,&quot;left&quot;:342.6562204724409,&quot;top&quot;:160.65,&quot;width&quot;:637.3500000000001}"/>
</p:tagLst>
</file>

<file path=ppt/tags/tag34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35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36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37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38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39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40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41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42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43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44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45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46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47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48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49.xml><?xml version="1.0" encoding="utf-8"?>
<p:tagLst xmlns:p="http://schemas.openxmlformats.org/presentationml/2006/main">
  <p:tag name="KSO_WM_DIAGRAM_VIRTUALLY_FRAME" val="{&quot;height&quot;:296,&quot;left&quot;:20,&quot;top&quot;:88,&quot;width&quot;:960}"/>
</p:tagLst>
</file>

<file path=ppt/tags/tag50.xml><?xml version="1.0" encoding="utf-8"?>
<p:tagLst xmlns:p="http://schemas.openxmlformats.org/presentationml/2006/main">
  <p:tag name="KSO_WM_DIAGRAM_VIRTUALLY_FRAME" val="{&quot;height&quot;:180,&quot;left&quot;:20,&quot;top&quot;:290.9,&quot;width&quot;:458}"/>
</p:tagLst>
</file>

<file path=ppt/tags/tag51.xml><?xml version="1.0" encoding="utf-8"?>
<p:tagLst xmlns:p="http://schemas.openxmlformats.org/presentationml/2006/main">
  <p:tag name="KSO_WM_DIAGRAM_VIRTUALLY_FRAME" val="{&quot;height&quot;:180,&quot;left&quot;:20,&quot;top&quot;:290.9,&quot;width&quot;:458}"/>
</p:tagLst>
</file>

<file path=ppt/tags/tag52.xml><?xml version="1.0" encoding="utf-8"?>
<p:tagLst xmlns:p="http://schemas.openxmlformats.org/presentationml/2006/main">
  <p:tag name="KSO_WM_DIAGRAM_VIRTUALLY_FRAME" val="{&quot;height&quot;:180,&quot;left&quot;:20,&quot;top&quot;:290.9,&quot;width&quot;:458}"/>
</p:tagLst>
</file>

<file path=ppt/tags/tag53.xml><?xml version="1.0" encoding="utf-8"?>
<p:tagLst xmlns:p="http://schemas.openxmlformats.org/presentationml/2006/main">
  <p:tag name="KSO_WM_DIAGRAM_VIRTUALLY_FRAME" val="{&quot;height&quot;:180,&quot;left&quot;:20,&quot;top&quot;:290.9,&quot;width&quot;:458}"/>
</p:tagLst>
</file>

<file path=ppt/tags/tag54.xml><?xml version="1.0" encoding="utf-8"?>
<p:tagLst xmlns:p="http://schemas.openxmlformats.org/presentationml/2006/main">
  <p:tag name="KSO_WM_DIAGRAM_VIRTUALLY_FRAME" val="{&quot;height&quot;:180,&quot;left&quot;:20,&quot;top&quot;:290.9,&quot;width&quot;:458}"/>
</p:tagLst>
</file>

<file path=ppt/tags/tag55.xml><?xml version="1.0" encoding="utf-8"?>
<p:tagLst xmlns:p="http://schemas.openxmlformats.org/presentationml/2006/main">
  <p:tag name="KSO_WM_DIAGRAM_VIRTUALLY_FRAME" val="{&quot;height&quot;:180,&quot;left&quot;:20,&quot;top&quot;:290.9,&quot;width&quot;:458}"/>
</p:tagLst>
</file>

<file path=ppt/tags/tag56.xml><?xml version="1.0" encoding="utf-8"?>
<p:tagLst xmlns:p="http://schemas.openxmlformats.org/presentationml/2006/main">
  <p:tag name="KSO_WM_DIAGRAM_VIRTUALLY_FRAME" val="{&quot;height&quot;:180,&quot;left&quot;:20,&quot;top&quot;:290.9,&quot;width&quot;:458}"/>
</p:tagLst>
</file>

<file path=ppt/tags/tag57.xml><?xml version="1.0" encoding="utf-8"?>
<p:tagLst xmlns:p="http://schemas.openxmlformats.org/presentationml/2006/main">
  <p:tag name="KSO_WM_DIAGRAM_VIRTUALLY_FRAME" val="{&quot;height&quot;:180,&quot;left&quot;:20,&quot;top&quot;:290.9,&quot;width&quot;:458}"/>
</p:tagLst>
</file>

<file path=ppt/tags/tag58.xml><?xml version="1.0" encoding="utf-8"?>
<p:tagLst xmlns:p="http://schemas.openxmlformats.org/presentationml/2006/main">
  <p:tag name="KSO_WM_DIAGRAM_VIRTUALLY_FRAME" val="{&quot;height&quot;:405,&quot;left&quot;:20,&quot;top&quot;:132,&quot;width&quot;:920}"/>
</p:tagLst>
</file>

<file path=ppt/tags/tag59.xml><?xml version="1.0" encoding="utf-8"?>
<p:tagLst xmlns:p="http://schemas.openxmlformats.org/presentationml/2006/main">
  <p:tag name="KSO_WM_DIAGRAM_VIRTUALLY_FRAME" val="{&quot;height&quot;:405,&quot;left&quot;:20,&quot;top&quot;:132,&quot;width&quot;:920}"/>
</p:tagLst>
</file>

<file path=ppt/tags/tag60.xml><?xml version="1.0" encoding="utf-8"?>
<p:tagLst xmlns:p="http://schemas.openxmlformats.org/presentationml/2006/main">
  <p:tag name="KSO_WM_DIAGRAM_VIRTUALLY_FRAME" val="{&quot;height&quot;:405,&quot;left&quot;:20,&quot;top&quot;:132,&quot;width&quot;:920}"/>
</p:tagLst>
</file>

<file path=ppt/tags/tag61.xml><?xml version="1.0" encoding="utf-8"?>
<p:tagLst xmlns:p="http://schemas.openxmlformats.org/presentationml/2006/main">
  <p:tag name="KSO_WM_DIAGRAM_VIRTUALLY_FRAME" val="{&quot;height&quot;:405,&quot;left&quot;:20,&quot;top&quot;:132,&quot;width&quot;:920}"/>
</p:tagLst>
</file>

<file path=ppt/tags/tag62.xml><?xml version="1.0" encoding="utf-8"?>
<p:tagLst xmlns:p="http://schemas.openxmlformats.org/presentationml/2006/main">
  <p:tag name="KSO_WM_DIAGRAM_VIRTUALLY_FRAME" val="{&quot;height&quot;:405,&quot;left&quot;:20,&quot;top&quot;:132,&quot;width&quot;:920}"/>
</p:tagLst>
</file>

<file path=ppt/tags/tag63.xml><?xml version="1.0" encoding="utf-8"?>
<p:tagLst xmlns:p="http://schemas.openxmlformats.org/presentationml/2006/main">
  <p:tag name="KSO_WM_DIAGRAM_VIRTUALLY_FRAME" val="{&quot;height&quot;:405,&quot;left&quot;:20,&quot;top&quot;:132,&quot;width&quot;:920}"/>
</p:tagLst>
</file>

<file path=ppt/tags/tag64.xml><?xml version="1.0" encoding="utf-8"?>
<p:tagLst xmlns:p="http://schemas.openxmlformats.org/presentationml/2006/main">
  <p:tag name="KSO_WM_DIAGRAM_VIRTUALLY_FRAME" val="{&quot;height&quot;:405,&quot;left&quot;:20,&quot;top&quot;:132,&quot;width&quot;:920}"/>
</p:tagLst>
</file>

<file path=ppt/tags/tag65.xml><?xml version="1.0" encoding="utf-8"?>
<p:tagLst xmlns:p="http://schemas.openxmlformats.org/presentationml/2006/main">
  <p:tag name="KSO_WM_DIAGRAM_VIRTUALLY_FRAME" val="{&quot;height&quot;:405,&quot;left&quot;:20,&quot;top&quot;:132,&quot;width&quot;:920}"/>
</p:tagLst>
</file>

<file path=ppt/tags/tag66.xml><?xml version="1.0" encoding="utf-8"?>
<p:tagLst xmlns:p="http://schemas.openxmlformats.org/presentationml/2006/main">
  <p:tag name="KSO_WM_DIAGRAM_VIRTUALLY_FRAME" val="{&quot;height&quot;:405,&quot;left&quot;:20,&quot;top&quot;:132,&quot;width&quot;:920}"/>
</p:tagLst>
</file>

<file path=ppt/tags/tag67.xml><?xml version="1.0" encoding="utf-8"?>
<p:tagLst xmlns:p="http://schemas.openxmlformats.org/presentationml/2006/main">
  <p:tag name="KSO_WM_DIAGRAM_VIRTUALLY_FRAME" val="{&quot;height&quot;:405,&quot;left&quot;:20,&quot;top&quot;:132,&quot;width&quot;:920}"/>
</p:tagLst>
</file>

<file path=ppt/tags/tag68.xml><?xml version="1.0" encoding="utf-8"?>
<p:tagLst xmlns:p="http://schemas.openxmlformats.org/presentationml/2006/main">
  <p:tag name="KSO_WM_DIAGRAM_VIRTUALLY_FRAME" val="{&quot;height&quot;:237.55,&quot;left&quot;:512,&quot;top&quot;:254,&quot;width&quot;:428}"/>
</p:tagLst>
</file>

<file path=ppt/tags/tag69.xml><?xml version="1.0" encoding="utf-8"?>
<p:tagLst xmlns:p="http://schemas.openxmlformats.org/presentationml/2006/main">
  <p:tag name="KSO_WM_DIAGRAM_VIRTUALLY_FRAME" val="{&quot;height&quot;:237.55,&quot;left&quot;:512,&quot;top&quot;:254,&quot;width&quot;:428}"/>
</p:tagLst>
</file>

<file path=ppt/tags/tag70.xml><?xml version="1.0" encoding="utf-8"?>
<p:tagLst xmlns:p="http://schemas.openxmlformats.org/presentationml/2006/main">
  <p:tag name="KSO_WM_DIAGRAM_VIRTUALLY_FRAME" val="{&quot;height&quot;:237.55,&quot;left&quot;:512,&quot;top&quot;:254,&quot;width&quot;:428}"/>
</p:tagLst>
</file>

<file path=ppt/tags/tag71.xml><?xml version="1.0" encoding="utf-8"?>
<p:tagLst xmlns:p="http://schemas.openxmlformats.org/presentationml/2006/main">
  <p:tag name="KSO_WM_DIAGRAM_VIRTUALLY_FRAME" val="{&quot;height&quot;:237.55,&quot;left&quot;:512,&quot;top&quot;:254,&quot;width&quot;:428}"/>
</p:tagLst>
</file>

<file path=ppt/tags/tag72.xml><?xml version="1.0" encoding="utf-8"?>
<p:tagLst xmlns:p="http://schemas.openxmlformats.org/presentationml/2006/main">
  <p:tag name="KSO_WM_DIAGRAM_VIRTUALLY_FRAME" val="{&quot;height&quot;:237.55,&quot;left&quot;:512,&quot;top&quot;:254,&quot;width&quot;:428}"/>
</p:tagLst>
</file>

<file path=ppt/tags/tag73.xml><?xml version="1.0" encoding="utf-8"?>
<p:tagLst xmlns:p="http://schemas.openxmlformats.org/presentationml/2006/main">
  <p:tag name="KSO_WM_DIAGRAM_VIRTUALLY_FRAME" val="{&quot;height&quot;:237.55,&quot;left&quot;:512,&quot;top&quot;:254,&quot;width&quot;:428}"/>
</p:tagLst>
</file>

<file path=ppt/tags/tag74.xml><?xml version="1.0" encoding="utf-8"?>
<p:tagLst xmlns:p="http://schemas.openxmlformats.org/presentationml/2006/main">
  <p:tag name="KSO_WM_DIAGRAM_VIRTUALLY_FRAME" val="{&quot;height&quot;:237.55,&quot;left&quot;:512,&quot;top&quot;:254,&quot;width&quot;:428}"/>
</p:tagLst>
</file>

<file path=ppt/tags/tag75.xml><?xml version="1.0" encoding="utf-8"?>
<p:tagLst xmlns:p="http://schemas.openxmlformats.org/presentationml/2006/main">
  <p:tag name="KSO_WM_DIAGRAM_VIRTUALLY_FRAME" val="{&quot;height&quot;:237.55,&quot;left&quot;:512,&quot;top&quot;:254,&quot;width&quot;:428}"/>
</p:tagLst>
</file>

<file path=ppt/tags/tag76.xml><?xml version="1.0" encoding="utf-8"?>
<p:tagLst xmlns:p="http://schemas.openxmlformats.org/presentationml/2006/main">
  <p:tag name="KSO_WM_DIAGRAM_VIRTUALLY_FRAME" val="{&quot;height&quot;:237.55,&quot;left&quot;:512,&quot;top&quot;:254,&quot;width&quot;:428}"/>
</p:tagLst>
</file>

<file path=ppt/tags/tag77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78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79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80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81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82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83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84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85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86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87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88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89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90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91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92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93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94.xml><?xml version="1.0" encoding="utf-8"?>
<p:tagLst xmlns:p="http://schemas.openxmlformats.org/presentationml/2006/main">
  <p:tag name="KSO_WM_DIAGRAM_VIRTUALLY_FRAME" val="{&quot;height&quot;:340,&quot;left&quot;:20,&quot;top&quot;:132,&quot;width&quot;:920}"/>
</p:tagLst>
</file>

<file path=ppt/tags/tag95.xml><?xml version="1.0" encoding="utf-8"?>
<p:tagLst xmlns:p="http://schemas.openxmlformats.org/presentationml/2006/main">
  <p:tag name="KSO_WM_DIAGRAM_VIRTUALLY_FRAME" val="{&quot;height&quot;:207.3,&quot;left&quot;:28,&quot;top&quot;:260,&quot;width&quot;:461.55}"/>
</p:tagLst>
</file>

<file path=ppt/tags/tag96.xml><?xml version="1.0" encoding="utf-8"?>
<p:tagLst xmlns:p="http://schemas.openxmlformats.org/presentationml/2006/main">
  <p:tag name="KSO_WM_DIAGRAM_VIRTUALLY_FRAME" val="{&quot;height&quot;:207.3,&quot;left&quot;:28,&quot;top&quot;:260,&quot;width&quot;:461.55}"/>
</p:tagLst>
</file>

<file path=ppt/tags/tag97.xml><?xml version="1.0" encoding="utf-8"?>
<p:tagLst xmlns:p="http://schemas.openxmlformats.org/presentationml/2006/main">
  <p:tag name="KSO_WM_DIAGRAM_VIRTUALLY_FRAME" val="{&quot;height&quot;:207.3,&quot;left&quot;:28,&quot;top&quot;:260,&quot;width&quot;:461.55}"/>
</p:tagLst>
</file>

<file path=ppt/tags/tag98.xml><?xml version="1.0" encoding="utf-8"?>
<p:tagLst xmlns:p="http://schemas.openxmlformats.org/presentationml/2006/main">
  <p:tag name="KSO_WM_DIAGRAM_VIRTUALLY_FRAME" val="{&quot;height&quot;:207.3,&quot;left&quot;:28,&quot;top&quot;:260,&quot;width&quot;:461.55}"/>
</p:tagLst>
</file>

<file path=ppt/tags/tag99.xml><?xml version="1.0" encoding="utf-8"?>
<p:tagLst xmlns:p="http://schemas.openxmlformats.org/presentationml/2006/main">
  <p:tag name="KSO_WM_DIAGRAM_VIRTUALLY_FRAME" val="{&quot;height&quot;:207.3,&quot;left&quot;:28,&quot;top&quot;:260,&quot;width&quot;:461.55}"/>
</p:tagLst>
</file>

<file path=ppt/tags/tag100.xml><?xml version="1.0" encoding="utf-8"?>
<p:tagLst xmlns:p="http://schemas.openxmlformats.org/presentationml/2006/main">
  <p:tag name="KSO_WM_DIAGRAM_VIRTUALLY_FRAME" val="{&quot;height&quot;:207.3,&quot;left&quot;:28,&quot;top&quot;:260,&quot;width&quot;:461.5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1E1C0D"/>
      </a:dk1>
      <a:lt1>
        <a:srgbClr val="FFFFFF"/>
      </a:lt1>
      <a:dk2>
        <a:srgbClr val="DC62FA"/>
      </a:dk2>
      <a:lt2>
        <a:srgbClr val="E8DBCE"/>
      </a:lt2>
      <a:accent1>
        <a:srgbClr val="402E7F"/>
      </a:accent1>
      <a:accent2>
        <a:srgbClr val="BC7DB7"/>
      </a:accent2>
      <a:accent3>
        <a:srgbClr val="AF9DCD"/>
      </a:accent3>
      <a:accent4>
        <a:srgbClr val="FFFFFF"/>
      </a:accent4>
      <a:accent5>
        <a:srgbClr val="1E1C0D"/>
      </a:accent5>
      <a:accent6>
        <a:srgbClr val="00B0F0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1E1C0D"/>
      </a:dk1>
      <a:lt1>
        <a:srgbClr val="FFFFFF"/>
      </a:lt1>
      <a:dk2>
        <a:srgbClr val="DC62FA"/>
      </a:dk2>
      <a:lt2>
        <a:srgbClr val="E8DBCE"/>
      </a:lt2>
      <a:accent1>
        <a:srgbClr val="402E7F"/>
      </a:accent1>
      <a:accent2>
        <a:srgbClr val="BC7DB7"/>
      </a:accent2>
      <a:accent3>
        <a:srgbClr val="AF9DCD"/>
      </a:accent3>
      <a:accent4>
        <a:srgbClr val="FFFFFF"/>
      </a:accent4>
      <a:accent5>
        <a:srgbClr val="1E1C0D"/>
      </a:accent5>
      <a:accent6>
        <a:srgbClr val="00B0F0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">
    <a:dk1>
      <a:srgbClr val="1E1C0D"/>
    </a:dk1>
    <a:lt1>
      <a:srgbClr val="FFFFFF"/>
    </a:lt1>
    <a:dk2>
      <a:srgbClr val="DC62FA"/>
    </a:dk2>
    <a:lt2>
      <a:srgbClr val="E8DBCE"/>
    </a:lt2>
    <a:accent1>
      <a:srgbClr val="402E7F"/>
    </a:accent1>
    <a:accent2>
      <a:srgbClr val="BC7DB7"/>
    </a:accent2>
    <a:accent3>
      <a:srgbClr val="AF9DCD"/>
    </a:accent3>
    <a:accent4>
      <a:srgbClr val="FFFFFF"/>
    </a:accent4>
    <a:accent5>
      <a:srgbClr val="1E1C0D"/>
    </a:accent5>
    <a:accent6>
      <a:srgbClr val="00B0F0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Custom">
    <a:dk1>
      <a:srgbClr val="1E1C0D"/>
    </a:dk1>
    <a:lt1>
      <a:srgbClr val="FFFFFF"/>
    </a:lt1>
    <a:dk2>
      <a:srgbClr val="DC62FA"/>
    </a:dk2>
    <a:lt2>
      <a:srgbClr val="E8DBCE"/>
    </a:lt2>
    <a:accent1>
      <a:srgbClr val="402E7F"/>
    </a:accent1>
    <a:accent2>
      <a:srgbClr val="BC7DB7"/>
    </a:accent2>
    <a:accent3>
      <a:srgbClr val="AF9DCD"/>
    </a:accent3>
    <a:accent4>
      <a:srgbClr val="FFFFFF"/>
    </a:accent4>
    <a:accent5>
      <a:srgbClr val="1E1C0D"/>
    </a:accent5>
    <a:accent6>
      <a:srgbClr val="00B0F0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4104</Words>
  <Application>WPS Presentation</Application>
  <PresentationFormat>On-screen Show (16:9)</PresentationFormat>
  <Paragraphs>230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Montserrat</vt:lpstr>
      <vt:lpstr>MiSans</vt:lpstr>
      <vt:lpstr>MiSans</vt:lpstr>
      <vt:lpstr>Calibri</vt:lpstr>
      <vt:lpstr>Microsoft YaHei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Sinh Viên Ra Trường: Vượt Thất Nghiệp</dc:title>
  <dc:creator>Kimi</dc:creator>
  <dc:subject>Sinh Viên Ra Trường: Vượt Thất Nghiệp</dc:subject>
  <cp:lastModifiedBy>Tú Thiên Long Nguyễn</cp:lastModifiedBy>
  <cp:revision>3</cp:revision>
  <dcterms:created xsi:type="dcterms:W3CDTF">2025-10-09T11:09:00Z</dcterms:created>
  <dcterms:modified xsi:type="dcterms:W3CDTF">2025-10-09T14:21:39Z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{"Label":"Sinh Viên Ra Trường: Vượt Thất Nghiệp","ContentProducer":"001191110108MACG2KBH8F10000","ProduceID":"d3jp449b9p59vug1rjb0","ReservedCode1":"","ContentPropagator":"001191110108MACG2KBH8F20000","PropagateID":"d3jp449b9p59vug1rjb0","ReservedCode2":""}</vt:lpwstr>
  </property>
  <property fmtid="{D5CDD505-2E9C-101B-9397-08002B2CF9AE}" pid="3" name="ICV">
    <vt:lpwstr>761A189C6D7042E591C1CF6D035B3E44_12</vt:lpwstr>
  </property>
  <property fmtid="{D5CDD505-2E9C-101B-9397-08002B2CF9AE}" pid="4" name="KSOProductBuildVer">
    <vt:lpwstr>1033-12.2.0.22549</vt:lpwstr>
  </property>
</Properties>
</file>