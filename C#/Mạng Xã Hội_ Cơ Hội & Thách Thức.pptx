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12192000" cy="6858000"/>
  <p:notesSz cx="6858000" cy="12192000"/>
  <p:embeddedFontLst>
    <p:embeddedFont>
      <p:font typeface="MiSans" pitchFamily="34" charset="-122"/>
      <p:regular r:id="rId28"/>
    </p:embeddedFont>
    <p:embeddedFont>
      <p:font typeface="MiSans" pitchFamily="34" charset="-120"/>
      <p:regular r:id="rId29"/>
    </p:embeddedFont>
    <p:embeddedFont>
      <p:font typeface="Calibri" panose="020F0502020204030204" charset="0"/>
      <p:regular r:id="rId30"/>
      <p:bold r:id="rId31"/>
      <p:italic r:id="rId32"/>
      <p:boldItalic r:id="rId3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font" Target="fonts/font6.fntdata"/><Relationship Id="rId32" Type="http://schemas.openxmlformats.org/officeDocument/2006/relationships/font" Target="fonts/font5.fntdata"/><Relationship Id="rId31" Type="http://schemas.openxmlformats.org/officeDocument/2006/relationships/font" Target="fonts/font4.fntdata"/><Relationship Id="rId30" Type="http://schemas.openxmlformats.org/officeDocument/2006/relationships/font" Target="fonts/font3.fntdata"/><Relationship Id="rId3" Type="http://schemas.openxmlformats.org/officeDocument/2006/relationships/slide" Target="slides/slide1.xml"/><Relationship Id="rId29" Type="http://schemas.openxmlformats.org/officeDocument/2006/relationships/font" Target="fonts/font2.fntdata"/><Relationship Id="rId28" Type="http://schemas.openxmlformats.org/officeDocument/2006/relationships/font" Target="fonts/font1.fntdata"/><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image" Target="../media/image7.png"/><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8" Type="http://schemas.openxmlformats.org/officeDocument/2006/relationships/notesSlide" Target="../notesSlides/notesSlide2.xml"/><Relationship Id="rId27" Type="http://schemas.openxmlformats.org/officeDocument/2006/relationships/slideLayout" Target="../slideLayouts/slideLayout1.xml"/><Relationship Id="rId26" Type="http://schemas.openxmlformats.org/officeDocument/2006/relationships/tags" Target="../tags/tag24.xml"/><Relationship Id="rId25" Type="http://schemas.openxmlformats.org/officeDocument/2006/relationships/tags" Target="../tags/tag23.xml"/><Relationship Id="rId24" Type="http://schemas.openxmlformats.org/officeDocument/2006/relationships/tags" Target="../tags/tag22.xml"/><Relationship Id="rId23" Type="http://schemas.openxmlformats.org/officeDocument/2006/relationships/tags" Target="../tags/tag21.xml"/><Relationship Id="rId22" Type="http://schemas.openxmlformats.org/officeDocument/2006/relationships/tags" Target="../tags/tag20.xml"/><Relationship Id="rId21" Type="http://schemas.openxmlformats.org/officeDocument/2006/relationships/tags" Target="../tags/tag19.xml"/><Relationship Id="rId20" Type="http://schemas.openxmlformats.org/officeDocument/2006/relationships/tags" Target="../tags/tag18.xml"/><Relationship Id="rId2" Type="http://schemas.openxmlformats.org/officeDocument/2006/relationships/image" Target="../media/image6.png"/><Relationship Id="rId19" Type="http://schemas.openxmlformats.org/officeDocument/2006/relationships/tags" Target="../tags/tag17.xml"/><Relationship Id="rId18" Type="http://schemas.openxmlformats.org/officeDocument/2006/relationships/tags" Target="../tags/tag16.xml"/><Relationship Id="rId17" Type="http://schemas.openxmlformats.org/officeDocument/2006/relationships/tags" Target="../tags/tag15.xml"/><Relationship Id="rId16" Type="http://schemas.openxmlformats.org/officeDocument/2006/relationships/tags" Target="../tags/tag14.xml"/><Relationship Id="rId15" Type="http://schemas.openxmlformats.org/officeDocument/2006/relationships/tags" Target="../tags/tag13.xml"/><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image" Target="../media/image10.jpeg"/><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xml"/><Relationship Id="rId4" Type="http://schemas.openxmlformats.org/officeDocument/2006/relationships/image" Target="../media/image11.jpeg"/><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xml"/><Relationship Id="rId4" Type="http://schemas.openxmlformats.org/officeDocument/2006/relationships/image" Target="../media/image12.jpeg"/><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1.jpe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image" Target="../media/image1.jpeg"/></Relationships>
</file>

<file path=ppt/slides/_rels/slide21.xml.rels><?xml version="1.0" encoding="UTF-8" standalone="yes"?>
<Relationships xmlns="http://schemas.openxmlformats.org/package/2006/relationships"><Relationship Id="rId9" Type="http://schemas.openxmlformats.org/officeDocument/2006/relationships/notesSlide" Target="../notesSlides/notesSlide21.xml"/><Relationship Id="rId8" Type="http://schemas.openxmlformats.org/officeDocument/2006/relationships/slideLayout" Target="../slideLayouts/slideLayout1.xml"/><Relationship Id="rId7" Type="http://schemas.openxmlformats.org/officeDocument/2006/relationships/image" Target="../media/image19.png"/><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D31E2"/>
        </a:solidFill>
        <a:effectLst/>
      </p:bgPr>
    </p:bg>
    <p:spTree>
      <p:nvGrpSpPr>
        <p:cNvPr id="1" name=""/>
        <p:cNvGrpSpPr/>
        <p:nvPr/>
      </p:nvGrpSpPr>
      <p:grpSpPr>
        <a:xfrm>
          <a:off x="0" y="0"/>
          <a:ext cx="0" cy="0"/>
          <a:chOff x="0" y="0"/>
          <a:chExt cx="0" cy="0"/>
        </a:xfrm>
      </p:grpSpPr>
      <p:pic>
        <p:nvPicPr>
          <p:cNvPr id="2" name="Image 0" descr="https://kimi-img.moonshot.cn/pub/slides/slides_tmpl/image/25-08-27-20:07:28-d2nfa018bjvh7rlj0eug.jpg"/>
          <p:cNvPicPr>
            <a:picLocks noChangeAspect="1"/>
          </p:cNvPicPr>
          <p:nvPr/>
        </p:nvPicPr>
        <p:blipFill>
          <a:blip r:embed="rId1"/>
          <a:stretch>
            <a:fillRect/>
          </a:stretch>
        </p:blipFill>
        <p:spPr>
          <a:xfrm>
            <a:off x="0" y="0"/>
            <a:ext cx="12203430" cy="7070725"/>
          </a:xfrm>
          <a:prstGeom prst="rect">
            <a:avLst/>
          </a:prstGeom>
        </p:spPr>
      </p:pic>
      <p:sp>
        <p:nvSpPr>
          <p:cNvPr id="3" name="Text 0"/>
          <p:cNvSpPr/>
          <p:nvPr/>
        </p:nvSpPr>
        <p:spPr>
          <a:xfrm>
            <a:off x="1552575" y="1550035"/>
            <a:ext cx="6264275" cy="2274570"/>
          </a:xfrm>
          <a:prstGeom prst="rect">
            <a:avLst/>
          </a:prstGeom>
          <a:noFill/>
        </p:spPr>
        <p:txBody>
          <a:bodyPr wrap="square" lIns="91440" tIns="45720" rIns="91440" bIns="45720" rtlCol="0" anchor="t"/>
          <a:lstStyle/>
          <a:p>
            <a:pPr marL="0" indent="0" algn="l">
              <a:lnSpc>
                <a:spcPct val="100000"/>
              </a:lnSpc>
              <a:buNone/>
            </a:pPr>
            <a:r>
              <a:rPr lang="en-US" sz="5400" b="1" dirty="0">
                <a:solidFill>
                  <a:srgbClr val="1D31E2"/>
                </a:solidFill>
                <a:latin typeface="MiSans" pitchFamily="34" charset="-122"/>
                <a:ea typeface="MiSans" pitchFamily="34" charset="-122"/>
                <a:cs typeface="MiSans" pitchFamily="34" charset="-120"/>
              </a:rPr>
              <a:t>Mạng Xã Hội: Cơ Hội &amp; Thách Thức</a:t>
            </a:r>
            <a:endParaRPr lang="en-US" sz="1600" dirty="0"/>
          </a:p>
        </p:txBody>
      </p:sp>
      <p:pic>
        <p:nvPicPr>
          <p:cNvPr id="4" name="Image 1" descr="https://kimi-img.moonshot.cn/pub/slides/slides_tmpl/image/25-08-27-20:07:28-d2nfa018bjvh7rlj0etg.png"/>
          <p:cNvPicPr>
            <a:picLocks noChangeAspect="1"/>
          </p:cNvPicPr>
          <p:nvPr/>
        </p:nvPicPr>
        <p:blipFill>
          <a:blip r:embed="rId2"/>
          <a:stretch>
            <a:fillRect/>
          </a:stretch>
        </p:blipFill>
        <p:spPr>
          <a:xfrm>
            <a:off x="1682115" y="4500245"/>
            <a:ext cx="2195830" cy="544195"/>
          </a:xfrm>
          <a:prstGeom prst="rect">
            <a:avLst/>
          </a:prstGeom>
        </p:spPr>
      </p:pic>
      <p:sp>
        <p:nvSpPr>
          <p:cNvPr id="5" name="Text 1"/>
          <p:cNvSpPr/>
          <p:nvPr/>
        </p:nvSpPr>
        <p:spPr>
          <a:xfrm>
            <a:off x="1820545" y="4554855"/>
            <a:ext cx="2058035" cy="337185"/>
          </a:xfrm>
          <a:prstGeom prst="rect">
            <a:avLst/>
          </a:prstGeom>
          <a:noFill/>
        </p:spPr>
        <p:txBody>
          <a:bodyPr wrap="square" lIns="91440" tIns="45720" rIns="91440" bIns="45720" rtlCol="0" anchor="t">
            <a:spAutoFit/>
          </a:bodyPr>
          <a:lstStyle/>
          <a:p>
            <a:pPr marL="0" indent="0" algn="ctr">
              <a:lnSpc>
                <a:spcPct val="100000"/>
              </a:lnSpc>
              <a:buNone/>
            </a:pPr>
            <a:r>
              <a:rPr lang="en-US" sz="1600" dirty="0">
                <a:solidFill>
                  <a:srgbClr val="FFFFFF"/>
                </a:solidFill>
                <a:latin typeface="MiSans" pitchFamily="34" charset="-122"/>
                <a:ea typeface="MiSans" pitchFamily="34" charset="-122"/>
                <a:cs typeface="MiSans" pitchFamily="34" charset="-120"/>
              </a:rPr>
              <a:t>Thiên Long</a:t>
            </a:r>
            <a:endParaRPr lang="en-US" sz="1600" dirty="0"/>
          </a:p>
        </p:txBody>
      </p:sp>
      <p:pic>
        <p:nvPicPr>
          <p:cNvPr id="6" name="Image 2" descr="https://kimi-img.moonshot.cn/pub/slides/slides_tmpl/image/25-08-27-20:07:28-d2nfa018bjvh7rlj0etg.png"/>
          <p:cNvPicPr>
            <a:picLocks noChangeAspect="1"/>
          </p:cNvPicPr>
          <p:nvPr/>
        </p:nvPicPr>
        <p:blipFill>
          <a:blip r:embed="rId2"/>
          <a:stretch>
            <a:fillRect/>
          </a:stretch>
        </p:blipFill>
        <p:spPr>
          <a:xfrm>
            <a:off x="4154805" y="4500245"/>
            <a:ext cx="2195830" cy="544195"/>
          </a:xfrm>
          <a:prstGeom prst="rect">
            <a:avLst/>
          </a:prstGeom>
        </p:spPr>
      </p:pic>
      <p:sp>
        <p:nvSpPr>
          <p:cNvPr id="7" name="Text 2"/>
          <p:cNvSpPr/>
          <p:nvPr/>
        </p:nvSpPr>
        <p:spPr>
          <a:xfrm>
            <a:off x="4452359" y="4554855"/>
            <a:ext cx="1726250" cy="254000"/>
          </a:xfrm>
          <a:prstGeom prst="rect">
            <a:avLst/>
          </a:prstGeom>
          <a:noFill/>
        </p:spPr>
        <p:txBody>
          <a:bodyPr wrap="square" lIns="91440" tIns="45720" rIns="91440" bIns="45720" rtlCol="0" anchor="t">
            <a:spAutoFit/>
          </a:bodyPr>
          <a:lstStyle/>
          <a:p>
            <a:pPr marL="0" indent="0" algn="ctr">
              <a:lnSpc>
                <a:spcPct val="100000"/>
              </a:lnSpc>
              <a:buNone/>
            </a:pPr>
            <a:r>
              <a:rPr lang="en-US" sz="1600" dirty="0">
                <a:solidFill>
                  <a:srgbClr val="FFFFFF"/>
                </a:solidFill>
                <a:latin typeface="MiSans" pitchFamily="34" charset="-122"/>
                <a:ea typeface="MiSans" pitchFamily="34" charset="-122"/>
                <a:cs typeface="MiSans" pitchFamily="34" charset="-120"/>
              </a:rPr>
              <a:t>2025/08/05</a:t>
            </a:r>
            <a:endParaRPr lang="en-US" sz="1600" dirty="0"/>
          </a:p>
        </p:txBody>
      </p:sp>
      <p:pic>
        <p:nvPicPr>
          <p:cNvPr id="8" name="Image 3" descr="https://kimi-img.moonshot.cn/pub/slides/slides_tmpl/image/25-08-27-20:07:28-d2nfa018bjvh7rlj0eu0.png"/>
          <p:cNvPicPr>
            <a:picLocks noChangeAspect="1"/>
          </p:cNvPicPr>
          <p:nvPr/>
        </p:nvPicPr>
        <p:blipFill>
          <a:blip r:embed="rId3"/>
          <a:stretch>
            <a:fillRect/>
          </a:stretch>
        </p:blipFill>
        <p:spPr>
          <a:xfrm>
            <a:off x="10076180" y="0"/>
            <a:ext cx="2116455" cy="2286000"/>
          </a:xfrm>
          <a:prstGeom prst="rect">
            <a:avLst/>
          </a:prstGeom>
        </p:spPr>
      </p:pic>
      <p:pic>
        <p:nvPicPr>
          <p:cNvPr id="9" name="Image 4" descr="https://kimi-img.moonshot.cn/pub/slides/slides_tmpl/image/25-08-27-20:07:28-d2nfa018bjvh7rlj0et0.png"/>
          <p:cNvPicPr>
            <a:picLocks noChangeAspect="1"/>
          </p:cNvPicPr>
          <p:nvPr/>
        </p:nvPicPr>
        <p:blipFill>
          <a:blip r:embed="rId4"/>
          <a:stretch>
            <a:fillRect/>
          </a:stretch>
        </p:blipFill>
        <p:spPr>
          <a:xfrm>
            <a:off x="0" y="5230495"/>
            <a:ext cx="2066290" cy="1627505"/>
          </a:xfrm>
          <a:prstGeom prst="rect">
            <a:avLst/>
          </a:prstGeom>
        </p:spPr>
      </p:pic>
      <p:pic>
        <p:nvPicPr>
          <p:cNvPr id="10" name="Image 5" descr="https://kimi-img.moonshot.cn/pub/slides/slides_tmpl/image/25-08-27-20:07:28-d2nfa018bjvh7rlj0f0g.png"/>
          <p:cNvPicPr>
            <a:picLocks noChangeAspect="1"/>
          </p:cNvPicPr>
          <p:nvPr/>
        </p:nvPicPr>
        <p:blipFill>
          <a:blip r:embed="rId5"/>
          <a:stretch>
            <a:fillRect/>
          </a:stretch>
        </p:blipFill>
        <p:spPr>
          <a:xfrm flipH="1">
            <a:off x="7745730" y="584200"/>
            <a:ext cx="3561080" cy="628015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D31E2"/>
        </a:solidFill>
        <a:effectLst/>
      </p:bgPr>
    </p:bg>
    <p:spTree>
      <p:nvGrpSpPr>
        <p:cNvPr id="1" name=""/>
        <p:cNvGrpSpPr/>
        <p:nvPr/>
      </p:nvGrpSpPr>
      <p:grpSpPr>
        <a:xfrm>
          <a:off x="0" y="0"/>
          <a:ext cx="0" cy="0"/>
          <a:chOff x="0" y="0"/>
          <a:chExt cx="0" cy="0"/>
        </a:xfrm>
      </p:grpSpPr>
      <p:pic>
        <p:nvPicPr>
          <p:cNvPr id="2" name="Image 0" descr="https://kimi-img.moonshot.cn/pub/slides/slides_tmpl/image/25-08-27-20:07:28-d2nfa018bjvh7rlj0f6g.png"/>
          <p:cNvPicPr>
            <a:picLocks noChangeAspect="1"/>
          </p:cNvPicPr>
          <p:nvPr>
            <p:custDataLst>
              <p:tags r:id="rId1"/>
            </p:custDataLst>
          </p:nvPr>
        </p:nvPicPr>
        <p:blipFill>
          <a:blip r:embed="rId2"/>
          <a:stretch>
            <a:fillRect/>
          </a:stretch>
        </p:blipFill>
        <p:spPr>
          <a:xfrm>
            <a:off x="1398270" y="3591560"/>
            <a:ext cx="2379345" cy="76200"/>
          </a:xfrm>
          <a:prstGeom prst="rect">
            <a:avLst/>
          </a:prstGeom>
        </p:spPr>
      </p:pic>
      <p:pic>
        <p:nvPicPr>
          <p:cNvPr id="3" name="Image 1" descr="https://kimi-img.moonshot.cn/pub/slides/slides_tmpl/image/25-08-27-20:07:28-d2nfa018bjvh7rlj0f6g.png"/>
          <p:cNvPicPr>
            <a:picLocks noChangeAspect="1"/>
          </p:cNvPicPr>
          <p:nvPr>
            <p:custDataLst>
              <p:tags r:id="rId3"/>
            </p:custDataLst>
          </p:nvPr>
        </p:nvPicPr>
        <p:blipFill>
          <a:blip r:embed="rId2"/>
          <a:stretch>
            <a:fillRect/>
          </a:stretch>
        </p:blipFill>
        <p:spPr>
          <a:xfrm>
            <a:off x="4868545" y="3591560"/>
            <a:ext cx="2379345" cy="76200"/>
          </a:xfrm>
          <a:prstGeom prst="rect">
            <a:avLst/>
          </a:prstGeom>
        </p:spPr>
      </p:pic>
      <p:pic>
        <p:nvPicPr>
          <p:cNvPr id="4" name="Image 2" descr="https://kimi-img.moonshot.cn/pub/slides/slides_tmpl/image/25-08-27-20:07:28-d2nfa018bjvh7rlj0f6g.png"/>
          <p:cNvPicPr>
            <a:picLocks noChangeAspect="1"/>
          </p:cNvPicPr>
          <p:nvPr>
            <p:custDataLst>
              <p:tags r:id="rId4"/>
            </p:custDataLst>
          </p:nvPr>
        </p:nvPicPr>
        <p:blipFill>
          <a:blip r:embed="rId2"/>
          <a:stretch>
            <a:fillRect/>
          </a:stretch>
        </p:blipFill>
        <p:spPr>
          <a:xfrm>
            <a:off x="8231505" y="3585210"/>
            <a:ext cx="2379345" cy="76200"/>
          </a:xfrm>
          <a:prstGeom prst="rect">
            <a:avLst/>
          </a:prstGeom>
        </p:spPr>
      </p:pic>
      <p:pic>
        <p:nvPicPr>
          <p:cNvPr id="5" name="Image 3" descr="https://kimi-img.moonshot.cn/pub/slides/slides_tmpl/image/25-08-27-20:07:28-d2nfa018bjvh7rlj0f6g.png"/>
          <p:cNvPicPr>
            <a:picLocks noChangeAspect="1"/>
          </p:cNvPicPr>
          <p:nvPr>
            <p:custDataLst>
              <p:tags r:id="rId5"/>
            </p:custDataLst>
          </p:nvPr>
        </p:nvPicPr>
        <p:blipFill>
          <a:blip r:embed="rId2"/>
          <a:stretch>
            <a:fillRect/>
          </a:stretch>
        </p:blipFill>
        <p:spPr>
          <a:xfrm>
            <a:off x="1398270" y="5613400"/>
            <a:ext cx="2379345" cy="76200"/>
          </a:xfrm>
          <a:prstGeom prst="rect">
            <a:avLst/>
          </a:prstGeom>
        </p:spPr>
      </p:pic>
      <p:pic>
        <p:nvPicPr>
          <p:cNvPr id="6" name="Image 4" descr="https://kimi-img.moonshot.cn/pub/slides/slides_tmpl/image/25-08-27-20:07:28-d2nfa018bjvh7rlj0f6g.png"/>
          <p:cNvPicPr>
            <a:picLocks noChangeAspect="1"/>
          </p:cNvPicPr>
          <p:nvPr>
            <p:custDataLst>
              <p:tags r:id="rId6"/>
            </p:custDataLst>
          </p:nvPr>
        </p:nvPicPr>
        <p:blipFill>
          <a:blip r:embed="rId2"/>
          <a:stretch>
            <a:fillRect/>
          </a:stretch>
        </p:blipFill>
        <p:spPr>
          <a:xfrm>
            <a:off x="4946650" y="5613400"/>
            <a:ext cx="2379345" cy="76200"/>
          </a:xfrm>
          <a:prstGeom prst="rect">
            <a:avLst/>
          </a:prstGeom>
        </p:spPr>
      </p:pic>
      <p:pic>
        <p:nvPicPr>
          <p:cNvPr id="7" name="Image 5" descr="https://kimi-img.moonshot.cn/pub/slides/slides_tmpl/image/25-08-27-20:07:28-d2nfa018bjvh7rlj0f6g.png"/>
          <p:cNvPicPr>
            <a:picLocks noChangeAspect="1"/>
          </p:cNvPicPr>
          <p:nvPr>
            <p:custDataLst>
              <p:tags r:id="rId7"/>
            </p:custDataLst>
          </p:nvPr>
        </p:nvPicPr>
        <p:blipFill>
          <a:blip r:embed="rId2"/>
          <a:stretch>
            <a:fillRect/>
          </a:stretch>
        </p:blipFill>
        <p:spPr>
          <a:xfrm>
            <a:off x="8231505" y="5613400"/>
            <a:ext cx="2379345" cy="76200"/>
          </a:xfrm>
          <a:prstGeom prst="rect">
            <a:avLst/>
          </a:prstGeom>
        </p:spPr>
      </p:pic>
      <p:pic>
        <p:nvPicPr>
          <p:cNvPr id="8" name="Image 6" descr="https://kimi-img.moonshot.cn/pub/slides/slides_tmpl/image/25-08-27-20:07:28-d2nfa018bjvh7rlj0ev0.png"/>
          <p:cNvPicPr>
            <a:picLocks noChangeAspect="1"/>
          </p:cNvPicPr>
          <p:nvPr/>
        </p:nvPicPr>
        <p:blipFill>
          <a:blip r:embed="rId8"/>
          <a:stretch>
            <a:fillRect/>
          </a:stretch>
        </p:blipFill>
        <p:spPr>
          <a:xfrm>
            <a:off x="1023620" y="565785"/>
            <a:ext cx="2978150" cy="879475"/>
          </a:xfrm>
          <a:prstGeom prst="rect">
            <a:avLst/>
          </a:prstGeom>
        </p:spPr>
      </p:pic>
      <p:sp>
        <p:nvSpPr>
          <p:cNvPr id="10" name="Shape 1"/>
          <p:cNvSpPr/>
          <p:nvPr>
            <p:custDataLst>
              <p:tags r:id="rId9"/>
            </p:custDataLst>
          </p:nvPr>
        </p:nvSpPr>
        <p:spPr>
          <a:xfrm>
            <a:off x="2220432" y="2070018"/>
            <a:ext cx="652471" cy="598996"/>
          </a:xfrm>
          <a:prstGeom prst="roundRect">
            <a:avLst/>
          </a:prstGeom>
          <a:solidFill>
            <a:srgbClr val="000000">
              <a:alpha val="0"/>
            </a:srgbClr>
          </a:solidFill>
        </p:spPr>
      </p:sp>
      <p:sp>
        <p:nvSpPr>
          <p:cNvPr id="11" name="Text 2"/>
          <p:cNvSpPr/>
          <p:nvPr>
            <p:custDataLst>
              <p:tags r:id="rId10"/>
            </p:custDataLst>
          </p:nvPr>
        </p:nvSpPr>
        <p:spPr>
          <a:xfrm>
            <a:off x="2220432" y="2070018"/>
            <a:ext cx="652471" cy="598996"/>
          </a:xfrm>
          <a:prstGeom prst="rect">
            <a:avLst/>
          </a:prstGeom>
          <a:noFill/>
        </p:spPr>
        <p:txBody>
          <a:bodyPr wrap="square" lIns="0" tIns="0" rIns="0" bIns="0" rtlCol="0" anchor="t"/>
          <a:lstStyle/>
          <a:p>
            <a:pPr marL="0" indent="0" algn="ctr">
              <a:lnSpc>
                <a:spcPct val="110000"/>
              </a:lnSpc>
              <a:buNone/>
            </a:pPr>
            <a:r>
              <a:rPr lang="en-US" sz="3200" dirty="0">
                <a:solidFill>
                  <a:srgbClr val="FFFFFF"/>
                </a:solidFill>
                <a:latin typeface="MiSans" pitchFamily="34" charset="-122"/>
                <a:ea typeface="MiSans" pitchFamily="34" charset="-122"/>
                <a:cs typeface="MiSans" pitchFamily="34" charset="-120"/>
              </a:rPr>
              <a:t>01</a:t>
            </a:r>
            <a:endParaRPr lang="en-US" sz="1600" dirty="0"/>
          </a:p>
        </p:txBody>
      </p:sp>
      <p:sp>
        <p:nvSpPr>
          <p:cNvPr id="12" name="Text 3"/>
          <p:cNvSpPr/>
          <p:nvPr>
            <p:custDataLst>
              <p:tags r:id="rId11"/>
            </p:custDataLst>
          </p:nvPr>
        </p:nvSpPr>
        <p:spPr>
          <a:xfrm>
            <a:off x="1703070" y="2669540"/>
            <a:ext cx="1711960" cy="738505"/>
          </a:xfrm>
          <a:prstGeom prst="rect">
            <a:avLst/>
          </a:prstGeom>
          <a:noFill/>
        </p:spPr>
        <p:txBody>
          <a:bodyPr wrap="square" lIns="0" tIns="0" rIns="0" bIns="0" rtlCol="0" anchor="t">
            <a:spAutoFit/>
          </a:bodyPr>
          <a:lstStyle/>
          <a:p>
            <a:pPr marL="0" indent="0" algn="ctr">
              <a:lnSpc>
                <a:spcPct val="150000"/>
              </a:lnSpc>
              <a:buNone/>
            </a:pPr>
            <a:r>
              <a:rPr lang="en-US" sz="1600" dirty="0">
                <a:solidFill>
                  <a:srgbClr val="FFFFFF"/>
                </a:solidFill>
                <a:latin typeface="MiSans" pitchFamily="34" charset="-122"/>
                <a:ea typeface="MiSans" pitchFamily="34" charset="-122"/>
                <a:cs typeface="MiSans" pitchFamily="34" charset="-120"/>
              </a:rPr>
              <a:t>Giới thiệu mạng xã hội</a:t>
            </a:r>
            <a:endParaRPr lang="en-US" sz="1600" dirty="0"/>
          </a:p>
        </p:txBody>
      </p:sp>
      <p:sp>
        <p:nvSpPr>
          <p:cNvPr id="13" name="Shape 4"/>
          <p:cNvSpPr/>
          <p:nvPr>
            <p:custDataLst>
              <p:tags r:id="rId12"/>
            </p:custDataLst>
          </p:nvPr>
        </p:nvSpPr>
        <p:spPr>
          <a:xfrm>
            <a:off x="5592282" y="2069383"/>
            <a:ext cx="652471" cy="599500"/>
          </a:xfrm>
          <a:prstGeom prst="roundRect">
            <a:avLst/>
          </a:prstGeom>
          <a:solidFill>
            <a:srgbClr val="000000">
              <a:alpha val="0"/>
            </a:srgbClr>
          </a:solidFill>
        </p:spPr>
      </p:sp>
      <p:sp>
        <p:nvSpPr>
          <p:cNvPr id="14" name="Text 5"/>
          <p:cNvSpPr/>
          <p:nvPr>
            <p:custDataLst>
              <p:tags r:id="rId13"/>
            </p:custDataLst>
          </p:nvPr>
        </p:nvSpPr>
        <p:spPr>
          <a:xfrm>
            <a:off x="5674197" y="2070018"/>
            <a:ext cx="652471" cy="599500"/>
          </a:xfrm>
          <a:prstGeom prst="rect">
            <a:avLst/>
          </a:prstGeom>
          <a:noFill/>
        </p:spPr>
        <p:txBody>
          <a:bodyPr wrap="square" lIns="0" tIns="0" rIns="0" bIns="0" rtlCol="0" anchor="t"/>
          <a:lstStyle/>
          <a:p>
            <a:pPr marL="0" indent="0" algn="ctr">
              <a:lnSpc>
                <a:spcPct val="110000"/>
              </a:lnSpc>
              <a:buNone/>
            </a:pPr>
            <a:r>
              <a:rPr lang="en-US" sz="3200" dirty="0">
                <a:solidFill>
                  <a:srgbClr val="FFFFFF"/>
                </a:solidFill>
                <a:latin typeface="MiSans" pitchFamily="34" charset="-122"/>
                <a:ea typeface="MiSans" pitchFamily="34" charset="-122"/>
                <a:cs typeface="MiSans" pitchFamily="34" charset="-120"/>
              </a:rPr>
              <a:t>02</a:t>
            </a:r>
            <a:endParaRPr lang="en-US" sz="1600" dirty="0"/>
          </a:p>
        </p:txBody>
      </p:sp>
      <p:sp>
        <p:nvSpPr>
          <p:cNvPr id="15" name="Text 6"/>
          <p:cNvSpPr/>
          <p:nvPr>
            <p:custDataLst>
              <p:tags r:id="rId14"/>
            </p:custDataLst>
          </p:nvPr>
        </p:nvSpPr>
        <p:spPr>
          <a:xfrm>
            <a:off x="4696460" y="2715260"/>
            <a:ext cx="2798445" cy="365720"/>
          </a:xfrm>
          <a:prstGeom prst="rect">
            <a:avLst/>
          </a:prstGeom>
          <a:noFill/>
        </p:spPr>
        <p:txBody>
          <a:bodyPr wrap="square" lIns="0" tIns="0" rIns="0" bIns="0" rtlCol="0" anchor="t">
            <a:spAutoFit/>
          </a:bodyPr>
          <a:lstStyle/>
          <a:p>
            <a:pPr marL="0" indent="0" algn="ctr">
              <a:lnSpc>
                <a:spcPct val="150000"/>
              </a:lnSpc>
              <a:buNone/>
            </a:pPr>
            <a:r>
              <a:rPr lang="en-US" sz="1600" dirty="0">
                <a:solidFill>
                  <a:srgbClr val="FFFFFF"/>
                </a:solidFill>
                <a:latin typeface="MiSans" pitchFamily="34" charset="-122"/>
                <a:ea typeface="MiSans" pitchFamily="34" charset="-122"/>
                <a:cs typeface="MiSans" pitchFamily="34" charset="-120"/>
              </a:rPr>
              <a:t>Biểu hiện nổi bật</a:t>
            </a:r>
            <a:endParaRPr lang="en-US" sz="1600" dirty="0"/>
          </a:p>
        </p:txBody>
      </p:sp>
      <p:sp>
        <p:nvSpPr>
          <p:cNvPr id="16" name="Shape 7"/>
          <p:cNvSpPr/>
          <p:nvPr>
            <p:custDataLst>
              <p:tags r:id="rId15"/>
            </p:custDataLst>
          </p:nvPr>
        </p:nvSpPr>
        <p:spPr>
          <a:xfrm>
            <a:off x="5598632" y="4141388"/>
            <a:ext cx="652471" cy="599500"/>
          </a:xfrm>
          <a:prstGeom prst="roundRect">
            <a:avLst/>
          </a:prstGeom>
          <a:solidFill>
            <a:srgbClr val="000000">
              <a:alpha val="0"/>
            </a:srgbClr>
          </a:solidFill>
        </p:spPr>
      </p:sp>
      <p:sp>
        <p:nvSpPr>
          <p:cNvPr id="17" name="Text 8"/>
          <p:cNvSpPr/>
          <p:nvPr>
            <p:custDataLst>
              <p:tags r:id="rId16"/>
            </p:custDataLst>
          </p:nvPr>
        </p:nvSpPr>
        <p:spPr>
          <a:xfrm>
            <a:off x="5674197" y="4131863"/>
            <a:ext cx="652471" cy="599500"/>
          </a:xfrm>
          <a:prstGeom prst="rect">
            <a:avLst/>
          </a:prstGeom>
          <a:noFill/>
        </p:spPr>
        <p:txBody>
          <a:bodyPr wrap="square" lIns="0" tIns="0" rIns="0" bIns="0" rtlCol="0" anchor="t"/>
          <a:lstStyle/>
          <a:p>
            <a:pPr marL="0" indent="0" algn="ctr">
              <a:lnSpc>
                <a:spcPct val="110000"/>
              </a:lnSpc>
              <a:buNone/>
            </a:pPr>
            <a:r>
              <a:rPr lang="en-US" sz="3200" dirty="0">
                <a:solidFill>
                  <a:srgbClr val="FFFFFF"/>
                </a:solidFill>
                <a:latin typeface="MiSans" pitchFamily="34" charset="-122"/>
                <a:ea typeface="MiSans" pitchFamily="34" charset="-122"/>
                <a:cs typeface="MiSans" pitchFamily="34" charset="-120"/>
              </a:rPr>
              <a:t>05</a:t>
            </a:r>
            <a:endParaRPr lang="en-US" sz="1600" dirty="0"/>
          </a:p>
        </p:txBody>
      </p:sp>
      <p:sp>
        <p:nvSpPr>
          <p:cNvPr id="18" name="Text 9"/>
          <p:cNvSpPr/>
          <p:nvPr>
            <p:custDataLst>
              <p:tags r:id="rId17"/>
            </p:custDataLst>
          </p:nvPr>
        </p:nvSpPr>
        <p:spPr>
          <a:xfrm>
            <a:off x="4739005" y="4786630"/>
            <a:ext cx="2794000" cy="365720"/>
          </a:xfrm>
          <a:prstGeom prst="rect">
            <a:avLst/>
          </a:prstGeom>
          <a:noFill/>
        </p:spPr>
        <p:txBody>
          <a:bodyPr wrap="square" lIns="0" tIns="0" rIns="0" bIns="0" rtlCol="0" anchor="t">
            <a:spAutoFit/>
          </a:bodyPr>
          <a:lstStyle/>
          <a:p>
            <a:pPr marL="0" indent="0" algn="ctr">
              <a:lnSpc>
                <a:spcPct val="150000"/>
              </a:lnSpc>
              <a:buNone/>
            </a:pPr>
            <a:r>
              <a:rPr lang="en-US" sz="1600" dirty="0">
                <a:solidFill>
                  <a:srgbClr val="FFFFFF"/>
                </a:solidFill>
                <a:latin typeface="MiSans" pitchFamily="34" charset="-122"/>
                <a:ea typeface="MiSans" pitchFamily="34" charset="-122"/>
                <a:cs typeface="MiSans" pitchFamily="34" charset="-120"/>
              </a:rPr>
              <a:t>Ưu điểm vượt trội</a:t>
            </a:r>
            <a:endParaRPr lang="en-US" sz="1600" dirty="0"/>
          </a:p>
        </p:txBody>
      </p:sp>
      <p:sp>
        <p:nvSpPr>
          <p:cNvPr id="19" name="Shape 10"/>
          <p:cNvSpPr/>
          <p:nvPr>
            <p:custDataLst>
              <p:tags r:id="rId18"/>
            </p:custDataLst>
          </p:nvPr>
        </p:nvSpPr>
        <p:spPr>
          <a:xfrm>
            <a:off x="9002867" y="2070018"/>
            <a:ext cx="652471" cy="599500"/>
          </a:xfrm>
          <a:prstGeom prst="roundRect">
            <a:avLst/>
          </a:prstGeom>
          <a:solidFill>
            <a:srgbClr val="000000">
              <a:alpha val="0"/>
            </a:srgbClr>
          </a:solidFill>
        </p:spPr>
      </p:sp>
      <p:sp>
        <p:nvSpPr>
          <p:cNvPr id="20" name="Text 11"/>
          <p:cNvSpPr/>
          <p:nvPr>
            <p:custDataLst>
              <p:tags r:id="rId19"/>
            </p:custDataLst>
          </p:nvPr>
        </p:nvSpPr>
        <p:spPr>
          <a:xfrm>
            <a:off x="9002867" y="2070018"/>
            <a:ext cx="652471" cy="599500"/>
          </a:xfrm>
          <a:prstGeom prst="rect">
            <a:avLst/>
          </a:prstGeom>
          <a:noFill/>
        </p:spPr>
        <p:txBody>
          <a:bodyPr wrap="square" lIns="0" tIns="0" rIns="0" bIns="0" rtlCol="0" anchor="t"/>
          <a:lstStyle/>
          <a:p>
            <a:pPr marL="0" indent="0" algn="ctr">
              <a:lnSpc>
                <a:spcPct val="110000"/>
              </a:lnSpc>
              <a:buNone/>
            </a:pPr>
            <a:r>
              <a:rPr lang="en-US" sz="3200" dirty="0">
                <a:solidFill>
                  <a:srgbClr val="FFFFFF"/>
                </a:solidFill>
                <a:latin typeface="MiSans" pitchFamily="34" charset="-122"/>
                <a:ea typeface="MiSans" pitchFamily="34" charset="-122"/>
                <a:cs typeface="MiSans" pitchFamily="34" charset="-120"/>
              </a:rPr>
              <a:t>03</a:t>
            </a:r>
            <a:endParaRPr lang="en-US" sz="1600" dirty="0"/>
          </a:p>
        </p:txBody>
      </p:sp>
      <p:sp>
        <p:nvSpPr>
          <p:cNvPr id="21" name="Text 12"/>
          <p:cNvSpPr/>
          <p:nvPr>
            <p:custDataLst>
              <p:tags r:id="rId20"/>
            </p:custDataLst>
          </p:nvPr>
        </p:nvSpPr>
        <p:spPr>
          <a:xfrm>
            <a:off x="8187055" y="2715260"/>
            <a:ext cx="2379345" cy="365720"/>
          </a:xfrm>
          <a:prstGeom prst="rect">
            <a:avLst/>
          </a:prstGeom>
          <a:noFill/>
        </p:spPr>
        <p:txBody>
          <a:bodyPr wrap="square" lIns="0" tIns="0" rIns="0" bIns="0" rtlCol="0" anchor="t">
            <a:spAutoFit/>
          </a:bodyPr>
          <a:lstStyle/>
          <a:p>
            <a:pPr marL="0" indent="0" algn="ctr">
              <a:lnSpc>
                <a:spcPct val="150000"/>
              </a:lnSpc>
              <a:buNone/>
            </a:pPr>
            <a:r>
              <a:rPr lang="en-US" sz="1600" dirty="0">
                <a:solidFill>
                  <a:srgbClr val="FFFFFF"/>
                </a:solidFill>
                <a:latin typeface="MiSans" pitchFamily="34" charset="-122"/>
                <a:ea typeface="MiSans" pitchFamily="34" charset="-122"/>
                <a:cs typeface="MiSans" pitchFamily="34" charset="-120"/>
              </a:rPr>
              <a:t>Nhược điểm và rủi ro</a:t>
            </a:r>
            <a:endParaRPr lang="en-US" sz="1600" dirty="0"/>
          </a:p>
        </p:txBody>
      </p:sp>
      <p:sp>
        <p:nvSpPr>
          <p:cNvPr id="22" name="Shape 13"/>
          <p:cNvSpPr/>
          <p:nvPr>
            <p:custDataLst>
              <p:tags r:id="rId21"/>
            </p:custDataLst>
          </p:nvPr>
        </p:nvSpPr>
        <p:spPr>
          <a:xfrm>
            <a:off x="2220432" y="4131863"/>
            <a:ext cx="652471" cy="599550"/>
          </a:xfrm>
          <a:prstGeom prst="roundRect">
            <a:avLst/>
          </a:prstGeom>
          <a:solidFill>
            <a:srgbClr val="000000">
              <a:alpha val="0"/>
            </a:srgbClr>
          </a:solidFill>
        </p:spPr>
      </p:sp>
      <p:sp>
        <p:nvSpPr>
          <p:cNvPr id="23" name="Text 14"/>
          <p:cNvSpPr/>
          <p:nvPr>
            <p:custDataLst>
              <p:tags r:id="rId22"/>
            </p:custDataLst>
          </p:nvPr>
        </p:nvSpPr>
        <p:spPr>
          <a:xfrm>
            <a:off x="2261870" y="4178300"/>
            <a:ext cx="652780" cy="599440"/>
          </a:xfrm>
          <a:prstGeom prst="rect">
            <a:avLst/>
          </a:prstGeom>
          <a:noFill/>
        </p:spPr>
        <p:txBody>
          <a:bodyPr wrap="square" lIns="0" tIns="0" rIns="0" bIns="0" rtlCol="0" anchor="t"/>
          <a:lstStyle/>
          <a:p>
            <a:pPr marL="0" indent="0" algn="ctr">
              <a:lnSpc>
                <a:spcPct val="110000"/>
              </a:lnSpc>
              <a:buNone/>
            </a:pPr>
            <a:r>
              <a:rPr lang="en-US" sz="3200" dirty="0">
                <a:solidFill>
                  <a:srgbClr val="FFFFFF"/>
                </a:solidFill>
                <a:latin typeface="MiSans" pitchFamily="34" charset="-122"/>
                <a:ea typeface="MiSans" pitchFamily="34" charset="-122"/>
                <a:cs typeface="MiSans" pitchFamily="34" charset="-120"/>
              </a:rPr>
              <a:t>04</a:t>
            </a:r>
            <a:endParaRPr lang="en-US" sz="1600" dirty="0"/>
          </a:p>
        </p:txBody>
      </p:sp>
      <p:sp>
        <p:nvSpPr>
          <p:cNvPr id="24" name="Text 15"/>
          <p:cNvSpPr/>
          <p:nvPr>
            <p:custDataLst>
              <p:tags r:id="rId23"/>
            </p:custDataLst>
          </p:nvPr>
        </p:nvSpPr>
        <p:spPr>
          <a:xfrm>
            <a:off x="1149350" y="4777740"/>
            <a:ext cx="2797810" cy="365720"/>
          </a:xfrm>
          <a:prstGeom prst="rect">
            <a:avLst/>
          </a:prstGeom>
          <a:noFill/>
        </p:spPr>
        <p:txBody>
          <a:bodyPr wrap="square" lIns="0" tIns="0" rIns="0" bIns="0" rtlCol="0" anchor="t">
            <a:spAutoFit/>
          </a:bodyPr>
          <a:lstStyle/>
          <a:p>
            <a:pPr marL="0" indent="0" algn="ctr">
              <a:lnSpc>
                <a:spcPct val="150000"/>
              </a:lnSpc>
              <a:buNone/>
            </a:pPr>
            <a:r>
              <a:rPr lang="en-US" sz="1600" dirty="0">
                <a:solidFill>
                  <a:srgbClr val="FFFFFF"/>
                </a:solidFill>
                <a:latin typeface="MiSans" pitchFamily="34" charset="-122"/>
                <a:ea typeface="MiSans" pitchFamily="34" charset="-122"/>
                <a:cs typeface="MiSans" pitchFamily="34" charset="-120"/>
              </a:rPr>
              <a:t>Cách khắc phục</a:t>
            </a:r>
            <a:endParaRPr lang="en-US" sz="1600" dirty="0"/>
          </a:p>
        </p:txBody>
      </p:sp>
      <p:sp>
        <p:nvSpPr>
          <p:cNvPr id="25" name="Shape 16"/>
          <p:cNvSpPr/>
          <p:nvPr>
            <p:custDataLst>
              <p:tags r:id="rId24"/>
            </p:custDataLst>
          </p:nvPr>
        </p:nvSpPr>
        <p:spPr>
          <a:xfrm>
            <a:off x="9006360" y="4131863"/>
            <a:ext cx="652471" cy="599550"/>
          </a:xfrm>
          <a:prstGeom prst="roundRect">
            <a:avLst/>
          </a:prstGeom>
          <a:solidFill>
            <a:srgbClr val="000000">
              <a:alpha val="0"/>
            </a:srgbClr>
          </a:solidFill>
        </p:spPr>
      </p:sp>
      <p:sp>
        <p:nvSpPr>
          <p:cNvPr id="26" name="Text 17"/>
          <p:cNvSpPr/>
          <p:nvPr>
            <p:custDataLst>
              <p:tags r:id="rId25"/>
            </p:custDataLst>
          </p:nvPr>
        </p:nvSpPr>
        <p:spPr>
          <a:xfrm>
            <a:off x="9006360" y="4131863"/>
            <a:ext cx="652471" cy="599550"/>
          </a:xfrm>
          <a:prstGeom prst="rect">
            <a:avLst/>
          </a:prstGeom>
          <a:noFill/>
        </p:spPr>
        <p:txBody>
          <a:bodyPr wrap="square" lIns="0" tIns="0" rIns="0" bIns="0" rtlCol="0" anchor="t"/>
          <a:lstStyle/>
          <a:p>
            <a:pPr marL="0" indent="0" algn="ctr">
              <a:lnSpc>
                <a:spcPct val="110000"/>
              </a:lnSpc>
              <a:buNone/>
            </a:pPr>
            <a:r>
              <a:rPr lang="en-US" sz="3200" dirty="0">
                <a:solidFill>
                  <a:srgbClr val="FFFFFF"/>
                </a:solidFill>
                <a:latin typeface="MiSans" pitchFamily="34" charset="-122"/>
                <a:ea typeface="MiSans" pitchFamily="34" charset="-122"/>
                <a:cs typeface="MiSans" pitchFamily="34" charset="-120"/>
              </a:rPr>
              <a:t>06</a:t>
            </a:r>
            <a:endParaRPr lang="en-US" sz="1600" dirty="0"/>
          </a:p>
        </p:txBody>
      </p:sp>
      <p:sp>
        <p:nvSpPr>
          <p:cNvPr id="27" name="Text 18"/>
          <p:cNvSpPr/>
          <p:nvPr>
            <p:custDataLst>
              <p:tags r:id="rId26"/>
            </p:custDataLst>
          </p:nvPr>
        </p:nvSpPr>
        <p:spPr>
          <a:xfrm>
            <a:off x="8187055" y="4777740"/>
            <a:ext cx="2379345" cy="365720"/>
          </a:xfrm>
          <a:prstGeom prst="rect">
            <a:avLst/>
          </a:prstGeom>
          <a:noFill/>
        </p:spPr>
        <p:txBody>
          <a:bodyPr wrap="square" lIns="0" tIns="0" rIns="0" bIns="0" rtlCol="0" anchor="t">
            <a:spAutoFit/>
          </a:bodyPr>
          <a:lstStyle/>
          <a:p>
            <a:pPr marL="0" indent="0" algn="ctr">
              <a:lnSpc>
                <a:spcPct val="150000"/>
              </a:lnSpc>
              <a:buNone/>
            </a:pPr>
            <a:r>
              <a:rPr lang="en-US" sz="1600" dirty="0">
                <a:solidFill>
                  <a:srgbClr val="FFFFFF"/>
                </a:solidFill>
                <a:latin typeface="MiSans" pitchFamily="34" charset="-122"/>
                <a:ea typeface="MiSans" pitchFamily="34" charset="-122"/>
                <a:cs typeface="MiSans" pitchFamily="34" charset="-120"/>
              </a:rPr>
              <a:t>Kết luận</a:t>
            </a:r>
            <a:endParaRPr lang="en-US" sz="1600" dirty="0"/>
          </a:p>
        </p:txBody>
      </p:sp>
      <p:sp>
        <p:nvSpPr>
          <p:cNvPr id="29" name="Text Box 28"/>
          <p:cNvSpPr txBox="1"/>
          <p:nvPr/>
        </p:nvSpPr>
        <p:spPr>
          <a:xfrm>
            <a:off x="1703070" y="687705"/>
            <a:ext cx="4236720" cy="549910"/>
          </a:xfrm>
          <a:prstGeom prst="rect">
            <a:avLst/>
          </a:prstGeom>
          <a:noFill/>
        </p:spPr>
        <p:txBody>
          <a:bodyPr wrap="square" rtlCol="0">
            <a:noAutofit/>
          </a:bodyPr>
          <a:p>
            <a:r>
              <a:rPr lang="en-US" sz="2400" kern="0" spc="300" dirty="0">
                <a:solidFill>
                  <a:srgbClr val="1D31E2"/>
                </a:solidFill>
                <a:latin typeface="MiSans" pitchFamily="34" charset="-122"/>
                <a:ea typeface="MiSans" pitchFamily="34" charset="-122"/>
                <a:cs typeface="MiSans" pitchFamily="34" charset="-120"/>
              </a:rPr>
              <a:t>Nội dung</a:t>
            </a: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D31E2"/>
        </a:solidFill>
        <a:effectLst/>
      </p:bgPr>
    </p:bg>
    <p:spTree>
      <p:nvGrpSpPr>
        <p:cNvPr id="1" name=""/>
        <p:cNvGrpSpPr/>
        <p:nvPr/>
      </p:nvGrpSpPr>
      <p:grpSpPr>
        <a:xfrm>
          <a:off x="0" y="0"/>
          <a:ext cx="0" cy="0"/>
          <a:chOff x="0" y="0"/>
          <a:chExt cx="0" cy="0"/>
        </a:xfrm>
      </p:grpSpPr>
      <p:pic>
        <p:nvPicPr>
          <p:cNvPr id="2" name="Image 0" descr="https://kimi-img.moonshot.cn/pub/slides/slides_tmpl/image/25-08-27-20:07:28-d2nfa018bjvh7rlj0eug.jpg"/>
          <p:cNvPicPr>
            <a:picLocks noChangeAspect="1"/>
          </p:cNvPicPr>
          <p:nvPr/>
        </p:nvPicPr>
        <p:blipFill>
          <a:blip r:embed="rId1"/>
          <a:stretch>
            <a:fillRect/>
          </a:stretch>
        </p:blipFill>
        <p:spPr>
          <a:xfrm>
            <a:off x="0" y="0"/>
            <a:ext cx="12192635" cy="6858000"/>
          </a:xfrm>
          <a:prstGeom prst="rect">
            <a:avLst/>
          </a:prstGeom>
        </p:spPr>
      </p:pic>
      <p:sp>
        <p:nvSpPr>
          <p:cNvPr id="3" name="Text 0"/>
          <p:cNvSpPr/>
          <p:nvPr/>
        </p:nvSpPr>
        <p:spPr>
          <a:xfrm>
            <a:off x="423545" y="3815080"/>
            <a:ext cx="5547360" cy="495300"/>
          </a:xfrm>
          <a:prstGeom prst="rect">
            <a:avLst/>
          </a:prstGeom>
          <a:noFill/>
        </p:spPr>
        <p:txBody>
          <a:bodyPr wrap="square" lIns="0" tIns="0" rIns="0" bIns="0" rtlCol="0" anchor="t">
            <a:spAutoFit/>
          </a:bodyPr>
          <a:lstStyle/>
          <a:p>
            <a:pPr marL="0" indent="0" algn="ctr">
              <a:lnSpc>
                <a:spcPct val="100000"/>
              </a:lnSpc>
              <a:buNone/>
            </a:pPr>
            <a:r>
              <a:rPr lang="en-US" sz="3200" dirty="0">
                <a:solidFill>
                  <a:srgbClr val="1D31E2"/>
                </a:solidFill>
                <a:latin typeface="MiSans" pitchFamily="34" charset="-122"/>
                <a:ea typeface="MiSans" pitchFamily="34" charset="-122"/>
                <a:cs typeface="MiSans" pitchFamily="34" charset="-120"/>
              </a:rPr>
              <a:t>Giới thiệu mạng xã hội</a:t>
            </a:r>
            <a:endParaRPr lang="en-US" sz="1600" dirty="0"/>
          </a:p>
        </p:txBody>
      </p:sp>
      <p:pic>
        <p:nvPicPr>
          <p:cNvPr id="4" name="Image 1" descr="https://kimi-img.moonshot.cn/pub/slides/slides_tmpl/image/25-08-27-20:07:28-d2nfa018bjvh7rlj0f60.png"/>
          <p:cNvPicPr>
            <a:picLocks noChangeAspect="1"/>
          </p:cNvPicPr>
          <p:nvPr/>
        </p:nvPicPr>
        <p:blipFill>
          <a:blip r:embed="rId2">
            <a:alphaModFix amt="23000"/>
          </a:blip>
          <a:stretch>
            <a:fillRect/>
          </a:stretch>
        </p:blipFill>
        <p:spPr>
          <a:xfrm rot="5400000" flipH="1">
            <a:off x="8475980" y="2972435"/>
            <a:ext cx="1301115" cy="976630"/>
          </a:xfrm>
          <a:prstGeom prst="rect">
            <a:avLst/>
          </a:prstGeom>
        </p:spPr>
      </p:pic>
      <p:sp>
        <p:nvSpPr>
          <p:cNvPr id="5" name="Shape 1"/>
          <p:cNvSpPr/>
          <p:nvPr/>
        </p:nvSpPr>
        <p:spPr>
          <a:xfrm>
            <a:off x="1874550" y="1562096"/>
            <a:ext cx="2284095" cy="2335530"/>
          </a:xfrm>
          <a:prstGeom prst="rect">
            <a:avLst/>
          </a:prstGeom>
          <a:solidFill>
            <a:srgbClr val="000000">
              <a:alpha val="0"/>
            </a:srgbClr>
          </a:solidFill>
        </p:spPr>
      </p:sp>
      <p:sp>
        <p:nvSpPr>
          <p:cNvPr id="6" name="Text 2"/>
          <p:cNvSpPr/>
          <p:nvPr/>
        </p:nvSpPr>
        <p:spPr>
          <a:xfrm>
            <a:off x="1874550" y="1562096"/>
            <a:ext cx="2284095" cy="2335530"/>
          </a:xfrm>
          <a:prstGeom prst="rect">
            <a:avLst/>
          </a:prstGeom>
          <a:noFill/>
        </p:spPr>
        <p:txBody>
          <a:bodyPr wrap="square" lIns="0" tIns="0" rIns="0" bIns="0" rtlCol="0" anchor="t"/>
          <a:lstStyle/>
          <a:p>
            <a:pPr marL="0" indent="0" algn="ctr">
              <a:lnSpc>
                <a:spcPct val="110000"/>
              </a:lnSpc>
              <a:buNone/>
            </a:pPr>
            <a:r>
              <a:rPr lang="en-US" sz="13800" dirty="0">
                <a:solidFill>
                  <a:srgbClr val="1D31E2"/>
                </a:solidFill>
                <a:latin typeface="MiSans" pitchFamily="34" charset="-122"/>
                <a:ea typeface="MiSans" pitchFamily="34" charset="-122"/>
                <a:cs typeface="MiSans" pitchFamily="34" charset="-120"/>
              </a:rPr>
              <a:t>01</a:t>
            </a:r>
            <a:endParaRPr lang="en-US" sz="1600" dirty="0"/>
          </a:p>
        </p:txBody>
      </p:sp>
      <p:pic>
        <p:nvPicPr>
          <p:cNvPr id="7" name="Image 2" descr="https://kimi-img.moonshot.cn/pub/slides/slides_tmpl/image/25-08-27-20:07:28-d2nfa018bjvh7rlj0f70.png"/>
          <p:cNvPicPr>
            <a:picLocks noChangeAspect="1"/>
          </p:cNvPicPr>
          <p:nvPr/>
        </p:nvPicPr>
        <p:blipFill>
          <a:blip r:embed="rId3"/>
          <a:stretch>
            <a:fillRect/>
          </a:stretch>
        </p:blipFill>
        <p:spPr>
          <a:xfrm>
            <a:off x="6001385" y="1950085"/>
            <a:ext cx="4074795" cy="3778250"/>
          </a:xfrm>
          <a:prstGeom prst="rect">
            <a:avLst/>
          </a:prstGeom>
        </p:spPr>
      </p:pic>
      <p:pic>
        <p:nvPicPr>
          <p:cNvPr id="8" name="Image 3" descr="https://kimi-img.moonshot.cn/pub/slides/slides_tmpl/image/25-08-27-20:07:28-d2nfa018bjvh7rlj0eu0.png"/>
          <p:cNvPicPr>
            <a:picLocks noChangeAspect="1"/>
          </p:cNvPicPr>
          <p:nvPr/>
        </p:nvPicPr>
        <p:blipFill>
          <a:blip r:embed="rId4"/>
          <a:stretch>
            <a:fillRect/>
          </a:stretch>
        </p:blipFill>
        <p:spPr>
          <a:xfrm>
            <a:off x="10076180" y="0"/>
            <a:ext cx="2116455" cy="2286000"/>
          </a:xfrm>
          <a:prstGeom prst="rect">
            <a:avLst/>
          </a:prstGeom>
        </p:spPr>
      </p:pic>
      <p:pic>
        <p:nvPicPr>
          <p:cNvPr id="9" name="Image 4" descr="https://kimi-img.moonshot.cn/pub/slides/slides_tmpl/image/25-08-27-20:07:28-d2nfa018bjvh7rlj0et0.png"/>
          <p:cNvPicPr>
            <a:picLocks noChangeAspect="1"/>
          </p:cNvPicPr>
          <p:nvPr/>
        </p:nvPicPr>
        <p:blipFill>
          <a:blip r:embed="rId5"/>
          <a:stretch>
            <a:fillRect/>
          </a:stretch>
        </p:blipFill>
        <p:spPr>
          <a:xfrm>
            <a:off x="0" y="5530850"/>
            <a:ext cx="1684020" cy="132715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08-27-20:07:28-d2nfa018bjvh7rlj0eug.jpg"/>
          <p:cNvPicPr>
            <a:picLocks noChangeAspect="1"/>
          </p:cNvPicPr>
          <p:nvPr/>
        </p:nvPicPr>
        <p:blipFill>
          <a:blip r:embed="rId1"/>
          <a:stretch>
            <a:fillRect/>
          </a:stretch>
        </p:blipFill>
        <p:spPr>
          <a:xfrm>
            <a:off x="0" y="0"/>
            <a:ext cx="12233275" cy="6881495"/>
          </a:xfrm>
          <a:prstGeom prst="rect">
            <a:avLst/>
          </a:prstGeom>
        </p:spPr>
      </p:pic>
      <p:pic>
        <p:nvPicPr>
          <p:cNvPr id="3" name="Image 1" descr="https://kimi-img.moonshot.cn/pub/slides/slides_tmpl/image/25-08-27-20:07:28-d2nfa018bjvh7rlj0et0.png"/>
          <p:cNvPicPr>
            <a:picLocks noChangeAspect="1"/>
          </p:cNvPicPr>
          <p:nvPr/>
        </p:nvPicPr>
        <p:blipFill>
          <a:blip r:embed="rId2"/>
          <a:stretch>
            <a:fillRect/>
          </a:stretch>
        </p:blipFill>
        <p:spPr>
          <a:xfrm>
            <a:off x="0" y="5530850"/>
            <a:ext cx="1684020" cy="1327150"/>
          </a:xfrm>
          <a:prstGeom prst="rect">
            <a:avLst/>
          </a:prstGeom>
        </p:spPr>
      </p:pic>
      <p:pic>
        <p:nvPicPr>
          <p:cNvPr id="4" name="Image 2" descr="https://kimi-img.moonshot.cn/pub/slides/slides_tmpl/image/25-08-27-20:07:28-d2nfa018bjvh7rlj0eu0.png"/>
          <p:cNvPicPr>
            <a:picLocks noChangeAspect="1"/>
          </p:cNvPicPr>
          <p:nvPr/>
        </p:nvPicPr>
        <p:blipFill>
          <a:blip r:embed="rId3"/>
          <a:stretch>
            <a:fillRect/>
          </a:stretch>
        </p:blipFill>
        <p:spPr>
          <a:xfrm>
            <a:off x="10076180" y="0"/>
            <a:ext cx="2116455" cy="2286000"/>
          </a:xfrm>
          <a:prstGeom prst="rect">
            <a:avLst/>
          </a:prstGeom>
        </p:spPr>
      </p:pic>
      <p:sp>
        <p:nvSpPr>
          <p:cNvPr id="5" name="Text 0"/>
          <p:cNvSpPr/>
          <p:nvPr/>
        </p:nvSpPr>
        <p:spPr>
          <a:xfrm>
            <a:off x="254000" y="1701800"/>
            <a:ext cx="12192000" cy="508000"/>
          </a:xfrm>
          <a:prstGeom prst="rect">
            <a:avLst/>
          </a:prstGeom>
          <a:noFill/>
        </p:spPr>
        <p:txBody>
          <a:bodyPr wrap="square" lIns="0" tIns="0" rIns="0" bIns="0" rtlCol="0" anchor="ctr"/>
          <a:lstStyle/>
          <a:p>
            <a:pPr marL="0" indent="0">
              <a:lnSpc>
                <a:spcPct val="90000"/>
              </a:lnSpc>
              <a:buNone/>
            </a:pPr>
            <a:r>
              <a:rPr lang="en-US" sz="3600" dirty="0">
                <a:solidFill>
                  <a:srgbClr val="3341B8"/>
                </a:solidFill>
                <a:latin typeface="MiSans" pitchFamily="34" charset="-122"/>
                <a:ea typeface="MiSans" pitchFamily="34" charset="-122"/>
                <a:cs typeface="MiSans" pitchFamily="34" charset="-120"/>
              </a:rPr>
              <a:t>Mạng Xã Hội: Định Nghĩa &amp; Bối Cảnh</a:t>
            </a:r>
            <a:endParaRPr lang="en-US" sz="1600" dirty="0"/>
          </a:p>
        </p:txBody>
      </p:sp>
      <p:sp>
        <p:nvSpPr>
          <p:cNvPr id="6" name="Text 1"/>
          <p:cNvSpPr/>
          <p:nvPr/>
        </p:nvSpPr>
        <p:spPr>
          <a:xfrm>
            <a:off x="254000" y="2362200"/>
            <a:ext cx="12192000" cy="355600"/>
          </a:xfrm>
          <a:prstGeom prst="rect">
            <a:avLst/>
          </a:prstGeom>
          <a:noFill/>
        </p:spPr>
        <p:txBody>
          <a:bodyPr wrap="square" lIns="0" tIns="0" rIns="0" bIns="0" rtlCol="0" anchor="ctr"/>
          <a:lstStyle/>
          <a:p>
            <a:pPr marL="0" indent="0">
              <a:lnSpc>
                <a:spcPct val="130000"/>
              </a:lnSpc>
              <a:buNone/>
            </a:pPr>
            <a:r>
              <a:rPr lang="en-US" sz="1800" dirty="0">
                <a:solidFill>
                  <a:srgbClr val="6052C8"/>
                </a:solidFill>
                <a:latin typeface="MiSans" pitchFamily="34" charset="-122"/>
                <a:ea typeface="MiSans" pitchFamily="34" charset="-122"/>
                <a:cs typeface="MiSans" pitchFamily="34" charset="-120"/>
              </a:rPr>
              <a:t>Nền tảng trực tuyến kết nối con người toàn cầu.</a:t>
            </a:r>
            <a:endParaRPr lang="en-US" sz="1600" dirty="0"/>
          </a:p>
        </p:txBody>
      </p:sp>
      <p:sp>
        <p:nvSpPr>
          <p:cNvPr id="7" name="Text 2"/>
          <p:cNvSpPr/>
          <p:nvPr/>
        </p:nvSpPr>
        <p:spPr>
          <a:xfrm>
            <a:off x="254000" y="3479800"/>
            <a:ext cx="7581900" cy="1320800"/>
          </a:xfrm>
          <a:prstGeom prst="rect">
            <a:avLst/>
          </a:prstGeom>
          <a:noFill/>
        </p:spPr>
        <p:txBody>
          <a:bodyPr wrap="square" lIns="0" tIns="0" rIns="0" bIns="0" rtlCol="0" anchor="ctr"/>
          <a:lstStyle/>
          <a:p>
            <a:pPr marL="0" indent="0">
              <a:lnSpc>
                <a:spcPct val="140000"/>
              </a:lnSpc>
              <a:buNone/>
            </a:pPr>
            <a:r>
              <a:rPr lang="en-US" sz="1600" dirty="0">
                <a:solidFill>
                  <a:srgbClr val="34385E"/>
                </a:solidFill>
                <a:latin typeface="MiSans" pitchFamily="34" charset="-122"/>
                <a:ea typeface="MiSans" pitchFamily="34" charset="-122"/>
                <a:cs typeface="MiSans" pitchFamily="34" charset="-120"/>
              </a:rPr>
              <a:t>Mạng xã hội là nền tảng trực tuyến cho phép người dùng tạo lập hồ sơ, kết nối, chia sẻ thông tin và tương tác theo thời gian thực. Sự ra đời của chúng gắn liền với bối cảnh công nghệ </a:t>
            </a:r>
            <a:r>
              <a:rPr lang="en-US" sz="1600" dirty="0">
                <a:solidFill>
                  <a:srgbClr val="4D5EFF"/>
                </a:solidFill>
                <a:latin typeface="MiSans" pitchFamily="34" charset="-122"/>
                <a:ea typeface="MiSans" pitchFamily="34" charset="-122"/>
                <a:cs typeface="MiSans" pitchFamily="34" charset="-120"/>
              </a:rPr>
              <a:t>Web 2.0</a:t>
            </a:r>
            <a:r>
              <a:rPr lang="en-US" sz="1600" dirty="0">
                <a:solidFill>
                  <a:srgbClr val="34385E"/>
                </a:solidFill>
                <a:latin typeface="MiSans" pitchFamily="34" charset="-122"/>
                <a:ea typeface="MiSans" pitchFamily="34" charset="-122"/>
                <a:cs typeface="MiSans" pitchFamily="34" charset="-120"/>
              </a:rPr>
              <a:t> bùng nổ đầu thế kỷ XXI, thúc đẩy sự phát triển nhanh chóng của các nền tảng như Facebook, YouTube, và TikTok.</a:t>
            </a:r>
            <a:endParaRPr lang="en-US" sz="1600" dirty="0"/>
          </a:p>
        </p:txBody>
      </p:sp>
      <p:pic>
        <p:nvPicPr>
          <p:cNvPr id="8" name="Image 3" descr="https://kimi-web-img.moonshot.cn/img/thumbs.dreamstime.com/0f1ea89dac3cc4e6a7bebcc96dc8612ce1099c70.jpg"/>
          <p:cNvPicPr>
            <a:picLocks noChangeAspect="1"/>
          </p:cNvPicPr>
          <p:nvPr/>
        </p:nvPicPr>
        <p:blipFill>
          <a:blip r:embed="rId4"/>
          <a:srcRect t="3163" b="3163"/>
          <a:stretch>
            <a:fillRect/>
          </a:stretch>
        </p:blipFill>
        <p:spPr>
          <a:xfrm>
            <a:off x="8145066" y="3124200"/>
            <a:ext cx="3797300" cy="2032000"/>
          </a:xfrm>
          <a:prstGeom prst="roundRect">
            <a:avLst>
              <a:gd name="adj" fmla="val 5000"/>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08-27-20:07:28-d2nfa018bjvh7rlj0eug.jpg"/>
          <p:cNvPicPr>
            <a:picLocks noChangeAspect="1"/>
          </p:cNvPicPr>
          <p:nvPr/>
        </p:nvPicPr>
        <p:blipFill>
          <a:blip r:embed="rId1"/>
          <a:stretch>
            <a:fillRect/>
          </a:stretch>
        </p:blipFill>
        <p:spPr>
          <a:xfrm>
            <a:off x="0" y="0"/>
            <a:ext cx="12233275" cy="6881495"/>
          </a:xfrm>
          <a:prstGeom prst="rect">
            <a:avLst/>
          </a:prstGeom>
        </p:spPr>
      </p:pic>
      <p:pic>
        <p:nvPicPr>
          <p:cNvPr id="3" name="Image 1" descr="https://kimi-img.moonshot.cn/pub/slides/slides_tmpl/image/25-08-27-20:07:28-d2nfa018bjvh7rlj0et0.png"/>
          <p:cNvPicPr>
            <a:picLocks noChangeAspect="1"/>
          </p:cNvPicPr>
          <p:nvPr/>
        </p:nvPicPr>
        <p:blipFill>
          <a:blip r:embed="rId2"/>
          <a:stretch>
            <a:fillRect/>
          </a:stretch>
        </p:blipFill>
        <p:spPr>
          <a:xfrm>
            <a:off x="0" y="5530850"/>
            <a:ext cx="1684020" cy="1327150"/>
          </a:xfrm>
          <a:prstGeom prst="rect">
            <a:avLst/>
          </a:prstGeom>
        </p:spPr>
      </p:pic>
      <p:pic>
        <p:nvPicPr>
          <p:cNvPr id="4" name="Image 2" descr="https://kimi-img.moonshot.cn/pub/slides/slides_tmpl/image/25-08-27-20:07:28-d2nfa018bjvh7rlj0eu0.png"/>
          <p:cNvPicPr>
            <a:picLocks noChangeAspect="1"/>
          </p:cNvPicPr>
          <p:nvPr/>
        </p:nvPicPr>
        <p:blipFill>
          <a:blip r:embed="rId3"/>
          <a:stretch>
            <a:fillRect/>
          </a:stretch>
        </p:blipFill>
        <p:spPr>
          <a:xfrm>
            <a:off x="10076180" y="0"/>
            <a:ext cx="2116455" cy="2286000"/>
          </a:xfrm>
          <a:prstGeom prst="rect">
            <a:avLst/>
          </a:prstGeom>
        </p:spPr>
      </p:pic>
      <p:sp>
        <p:nvSpPr>
          <p:cNvPr id="5" name="Text 0"/>
          <p:cNvSpPr/>
          <p:nvPr/>
        </p:nvSpPr>
        <p:spPr>
          <a:xfrm>
            <a:off x="0" y="1524000"/>
            <a:ext cx="12192000" cy="457200"/>
          </a:xfrm>
          <a:prstGeom prst="rect">
            <a:avLst/>
          </a:prstGeom>
          <a:noFill/>
        </p:spPr>
        <p:txBody>
          <a:bodyPr wrap="square" lIns="0" tIns="0" rIns="0" bIns="0" rtlCol="0" anchor="ctr"/>
          <a:lstStyle/>
          <a:p>
            <a:pPr marL="0" indent="0" algn="ctr">
              <a:lnSpc>
                <a:spcPct val="100000"/>
              </a:lnSpc>
              <a:buNone/>
            </a:pPr>
            <a:r>
              <a:rPr lang="en-US" sz="3000" dirty="0">
                <a:solidFill>
                  <a:srgbClr val="3341B8"/>
                </a:solidFill>
                <a:latin typeface="MiSans" pitchFamily="34" charset="-122"/>
                <a:ea typeface="MiSans" pitchFamily="34" charset="-122"/>
                <a:cs typeface="MiSans" pitchFamily="34" charset="-120"/>
              </a:rPr>
              <a:t>Các Loại Hình &amp; Thống Kê Toàn Cầu</a:t>
            </a:r>
            <a:endParaRPr lang="en-US" sz="1600" dirty="0"/>
          </a:p>
        </p:txBody>
      </p:sp>
      <p:sp>
        <p:nvSpPr>
          <p:cNvPr id="6" name="Shape 1"/>
          <p:cNvSpPr/>
          <p:nvPr/>
        </p:nvSpPr>
        <p:spPr>
          <a:xfrm>
            <a:off x="254000" y="2286000"/>
            <a:ext cx="2768600" cy="914400"/>
          </a:xfrm>
          <a:custGeom>
            <a:avLst/>
            <a:gdLst/>
            <a:ahLst/>
            <a:cxnLst/>
            <a:rect l="l" t="t" r="r" b="b"/>
            <a:pathLst>
              <a:path w="2768600" h="914400">
                <a:moveTo>
                  <a:pt x="101599" y="0"/>
                </a:moveTo>
                <a:lnTo>
                  <a:pt x="2667001" y="0"/>
                </a:lnTo>
                <a:cubicBezTo>
                  <a:pt x="2723113" y="0"/>
                  <a:pt x="2768600" y="45487"/>
                  <a:pt x="2768600" y="101599"/>
                </a:cubicBezTo>
                <a:lnTo>
                  <a:pt x="2768600" y="812801"/>
                </a:lnTo>
                <a:cubicBezTo>
                  <a:pt x="2768600" y="868913"/>
                  <a:pt x="2723113" y="914400"/>
                  <a:pt x="2667001" y="914400"/>
                </a:cubicBezTo>
                <a:lnTo>
                  <a:pt x="101599" y="914400"/>
                </a:lnTo>
                <a:cubicBezTo>
                  <a:pt x="45487" y="914400"/>
                  <a:pt x="0" y="868913"/>
                  <a:pt x="0" y="812801"/>
                </a:cubicBezTo>
                <a:lnTo>
                  <a:pt x="0" y="101599"/>
                </a:lnTo>
                <a:cubicBezTo>
                  <a:pt x="0" y="45525"/>
                  <a:pt x="45525" y="0"/>
                  <a:pt x="101599" y="0"/>
                </a:cubicBezTo>
                <a:close/>
              </a:path>
            </a:pathLst>
          </a:custGeom>
          <a:solidFill>
            <a:srgbClr val="3341B8">
              <a:alpha val="10196"/>
            </a:srgbClr>
          </a:solidFill>
        </p:spPr>
      </p:sp>
      <p:sp>
        <p:nvSpPr>
          <p:cNvPr id="7" name="Shape 2"/>
          <p:cNvSpPr/>
          <p:nvPr/>
        </p:nvSpPr>
        <p:spPr>
          <a:xfrm>
            <a:off x="1447800" y="2438400"/>
            <a:ext cx="381000" cy="304800"/>
          </a:xfrm>
          <a:custGeom>
            <a:avLst/>
            <a:gdLst/>
            <a:ahLst/>
            <a:cxnLst/>
            <a:rect l="l" t="t" r="r" b="b"/>
            <a:pathLst>
              <a:path w="381000" h="304800">
                <a:moveTo>
                  <a:pt x="190500" y="9525"/>
                </a:moveTo>
                <a:cubicBezTo>
                  <a:pt x="224670" y="9525"/>
                  <a:pt x="252413" y="37267"/>
                  <a:pt x="252413" y="71438"/>
                </a:cubicBezTo>
                <a:cubicBezTo>
                  <a:pt x="252413" y="105608"/>
                  <a:pt x="224670" y="133350"/>
                  <a:pt x="190500" y="133350"/>
                </a:cubicBezTo>
                <a:cubicBezTo>
                  <a:pt x="156330" y="133350"/>
                  <a:pt x="128588" y="105608"/>
                  <a:pt x="128588" y="71438"/>
                </a:cubicBezTo>
                <a:cubicBezTo>
                  <a:pt x="128588" y="37267"/>
                  <a:pt x="156330" y="9525"/>
                  <a:pt x="190500" y="9525"/>
                </a:cubicBezTo>
                <a:close/>
                <a:moveTo>
                  <a:pt x="57150" y="52388"/>
                </a:moveTo>
                <a:cubicBezTo>
                  <a:pt x="80806" y="52388"/>
                  <a:pt x="100013" y="71594"/>
                  <a:pt x="100013" y="95250"/>
                </a:cubicBezTo>
                <a:cubicBezTo>
                  <a:pt x="100013" y="118906"/>
                  <a:pt x="80806" y="138113"/>
                  <a:pt x="57150" y="138113"/>
                </a:cubicBezTo>
                <a:cubicBezTo>
                  <a:pt x="33494" y="138113"/>
                  <a:pt x="14288" y="118906"/>
                  <a:pt x="14288" y="95250"/>
                </a:cubicBezTo>
                <a:cubicBezTo>
                  <a:pt x="14288" y="71594"/>
                  <a:pt x="33494" y="52388"/>
                  <a:pt x="57150" y="52388"/>
                </a:cubicBezTo>
                <a:close/>
                <a:moveTo>
                  <a:pt x="0" y="247650"/>
                </a:moveTo>
                <a:cubicBezTo>
                  <a:pt x="0" y="205561"/>
                  <a:pt x="34111" y="171450"/>
                  <a:pt x="76200" y="171450"/>
                </a:cubicBezTo>
                <a:cubicBezTo>
                  <a:pt x="83820" y="171450"/>
                  <a:pt x="91202" y="172581"/>
                  <a:pt x="98167" y="174665"/>
                </a:cubicBezTo>
                <a:cubicBezTo>
                  <a:pt x="78581" y="196572"/>
                  <a:pt x="66675" y="225504"/>
                  <a:pt x="66675" y="257175"/>
                </a:cubicBezTo>
                <a:lnTo>
                  <a:pt x="66675" y="266700"/>
                </a:lnTo>
                <a:cubicBezTo>
                  <a:pt x="66675" y="273487"/>
                  <a:pt x="68104" y="279916"/>
                  <a:pt x="70664" y="285750"/>
                </a:cubicBezTo>
                <a:lnTo>
                  <a:pt x="19050" y="285750"/>
                </a:lnTo>
                <a:cubicBezTo>
                  <a:pt x="8513" y="285750"/>
                  <a:pt x="0" y="277237"/>
                  <a:pt x="0" y="266700"/>
                </a:cubicBezTo>
                <a:lnTo>
                  <a:pt x="0" y="247650"/>
                </a:lnTo>
                <a:close/>
                <a:moveTo>
                  <a:pt x="310336" y="285750"/>
                </a:moveTo>
                <a:cubicBezTo>
                  <a:pt x="312896" y="279916"/>
                  <a:pt x="314325" y="273487"/>
                  <a:pt x="314325" y="266700"/>
                </a:cubicBezTo>
                <a:lnTo>
                  <a:pt x="314325" y="257175"/>
                </a:lnTo>
                <a:cubicBezTo>
                  <a:pt x="314325" y="225504"/>
                  <a:pt x="302419" y="196572"/>
                  <a:pt x="282833" y="174665"/>
                </a:cubicBezTo>
                <a:cubicBezTo>
                  <a:pt x="289798" y="172581"/>
                  <a:pt x="297180" y="171450"/>
                  <a:pt x="304800" y="171450"/>
                </a:cubicBezTo>
                <a:cubicBezTo>
                  <a:pt x="346889" y="171450"/>
                  <a:pt x="381000" y="205561"/>
                  <a:pt x="381000" y="247650"/>
                </a:cubicBezTo>
                <a:lnTo>
                  <a:pt x="381000" y="266700"/>
                </a:lnTo>
                <a:cubicBezTo>
                  <a:pt x="381000" y="277237"/>
                  <a:pt x="372487" y="285750"/>
                  <a:pt x="361950" y="285750"/>
                </a:cubicBezTo>
                <a:lnTo>
                  <a:pt x="310336" y="285750"/>
                </a:lnTo>
                <a:close/>
                <a:moveTo>
                  <a:pt x="280987" y="95250"/>
                </a:moveTo>
                <a:cubicBezTo>
                  <a:pt x="280987" y="71594"/>
                  <a:pt x="300194" y="52388"/>
                  <a:pt x="323850" y="52388"/>
                </a:cubicBezTo>
                <a:cubicBezTo>
                  <a:pt x="347506" y="52388"/>
                  <a:pt x="366712" y="71594"/>
                  <a:pt x="366712" y="95250"/>
                </a:cubicBezTo>
                <a:cubicBezTo>
                  <a:pt x="366712" y="118906"/>
                  <a:pt x="347506" y="138113"/>
                  <a:pt x="323850" y="138113"/>
                </a:cubicBezTo>
                <a:cubicBezTo>
                  <a:pt x="300194" y="138113"/>
                  <a:pt x="280987" y="118906"/>
                  <a:pt x="280987" y="95250"/>
                </a:cubicBezTo>
                <a:close/>
                <a:moveTo>
                  <a:pt x="95250" y="257175"/>
                </a:moveTo>
                <a:cubicBezTo>
                  <a:pt x="95250" y="204549"/>
                  <a:pt x="137874" y="161925"/>
                  <a:pt x="190500" y="161925"/>
                </a:cubicBezTo>
                <a:cubicBezTo>
                  <a:pt x="243126" y="161925"/>
                  <a:pt x="285750" y="204549"/>
                  <a:pt x="285750" y="257175"/>
                </a:cubicBezTo>
                <a:lnTo>
                  <a:pt x="285750" y="266700"/>
                </a:lnTo>
                <a:cubicBezTo>
                  <a:pt x="285750" y="277237"/>
                  <a:pt x="277237" y="285750"/>
                  <a:pt x="266700" y="285750"/>
                </a:cubicBezTo>
                <a:lnTo>
                  <a:pt x="114300" y="285750"/>
                </a:lnTo>
                <a:cubicBezTo>
                  <a:pt x="103763" y="285750"/>
                  <a:pt x="95250" y="277237"/>
                  <a:pt x="95250" y="266700"/>
                </a:cubicBezTo>
                <a:lnTo>
                  <a:pt x="95250" y="257175"/>
                </a:lnTo>
                <a:close/>
              </a:path>
            </a:pathLst>
          </a:custGeom>
          <a:solidFill>
            <a:srgbClr val="4D5EFF"/>
          </a:solidFill>
        </p:spPr>
      </p:sp>
      <p:sp>
        <p:nvSpPr>
          <p:cNvPr id="8" name="Text 3"/>
          <p:cNvSpPr/>
          <p:nvPr/>
        </p:nvSpPr>
        <p:spPr>
          <a:xfrm>
            <a:off x="152400" y="2794000"/>
            <a:ext cx="2971800" cy="254000"/>
          </a:xfrm>
          <a:prstGeom prst="rect">
            <a:avLst/>
          </a:prstGeom>
          <a:noFill/>
        </p:spPr>
        <p:txBody>
          <a:bodyPr wrap="square" lIns="0" tIns="0" rIns="0" bIns="0" rtlCol="0" anchor="ctr"/>
          <a:lstStyle/>
          <a:p>
            <a:pPr marL="0" indent="0" algn="ctr">
              <a:lnSpc>
                <a:spcPct val="120000"/>
              </a:lnSpc>
              <a:buNone/>
            </a:pPr>
            <a:r>
              <a:rPr lang="en-US" sz="1400" dirty="0">
                <a:solidFill>
                  <a:srgbClr val="34385E"/>
                </a:solidFill>
                <a:latin typeface="MiSans" pitchFamily="34" charset="-122"/>
                <a:ea typeface="MiSans" pitchFamily="34" charset="-122"/>
                <a:cs typeface="MiSans" pitchFamily="34" charset="-120"/>
              </a:rPr>
              <a:t>Kết nối cá nhân</a:t>
            </a:r>
            <a:endParaRPr lang="en-US" sz="1600" dirty="0"/>
          </a:p>
        </p:txBody>
      </p:sp>
      <p:sp>
        <p:nvSpPr>
          <p:cNvPr id="9" name="Shape 4"/>
          <p:cNvSpPr/>
          <p:nvPr/>
        </p:nvSpPr>
        <p:spPr>
          <a:xfrm>
            <a:off x="3175000" y="2286000"/>
            <a:ext cx="2768600" cy="914400"/>
          </a:xfrm>
          <a:custGeom>
            <a:avLst/>
            <a:gdLst/>
            <a:ahLst/>
            <a:cxnLst/>
            <a:rect l="l" t="t" r="r" b="b"/>
            <a:pathLst>
              <a:path w="2768600" h="914400">
                <a:moveTo>
                  <a:pt x="101599" y="0"/>
                </a:moveTo>
                <a:lnTo>
                  <a:pt x="2667001" y="0"/>
                </a:lnTo>
                <a:cubicBezTo>
                  <a:pt x="2723113" y="0"/>
                  <a:pt x="2768600" y="45487"/>
                  <a:pt x="2768600" y="101599"/>
                </a:cubicBezTo>
                <a:lnTo>
                  <a:pt x="2768600" y="812801"/>
                </a:lnTo>
                <a:cubicBezTo>
                  <a:pt x="2768600" y="868913"/>
                  <a:pt x="2723113" y="914400"/>
                  <a:pt x="2667001" y="914400"/>
                </a:cubicBezTo>
                <a:lnTo>
                  <a:pt x="101599" y="914400"/>
                </a:lnTo>
                <a:cubicBezTo>
                  <a:pt x="45487" y="914400"/>
                  <a:pt x="0" y="868913"/>
                  <a:pt x="0" y="812801"/>
                </a:cubicBezTo>
                <a:lnTo>
                  <a:pt x="0" y="101599"/>
                </a:lnTo>
                <a:cubicBezTo>
                  <a:pt x="0" y="45525"/>
                  <a:pt x="45525" y="0"/>
                  <a:pt x="101599" y="0"/>
                </a:cubicBezTo>
                <a:close/>
              </a:path>
            </a:pathLst>
          </a:custGeom>
          <a:solidFill>
            <a:srgbClr val="3341B8">
              <a:alpha val="10196"/>
            </a:srgbClr>
          </a:solidFill>
        </p:spPr>
      </p:sp>
      <p:sp>
        <p:nvSpPr>
          <p:cNvPr id="10" name="Shape 5"/>
          <p:cNvSpPr/>
          <p:nvPr/>
        </p:nvSpPr>
        <p:spPr>
          <a:xfrm>
            <a:off x="4368800" y="2438400"/>
            <a:ext cx="381000" cy="304800"/>
          </a:xfrm>
          <a:custGeom>
            <a:avLst/>
            <a:gdLst/>
            <a:ahLst/>
            <a:cxnLst/>
            <a:rect l="l" t="t" r="r" b="b"/>
            <a:pathLst>
              <a:path w="381000" h="304800">
                <a:moveTo>
                  <a:pt x="114300" y="38100"/>
                </a:moveTo>
                <a:cubicBezTo>
                  <a:pt x="114300" y="17085"/>
                  <a:pt x="131385" y="0"/>
                  <a:pt x="152400" y="0"/>
                </a:cubicBezTo>
                <a:lnTo>
                  <a:pt x="342900" y="0"/>
                </a:lnTo>
                <a:cubicBezTo>
                  <a:pt x="363915" y="0"/>
                  <a:pt x="381000" y="17085"/>
                  <a:pt x="381000" y="38100"/>
                </a:cubicBezTo>
                <a:lnTo>
                  <a:pt x="381000" y="171450"/>
                </a:lnTo>
                <a:cubicBezTo>
                  <a:pt x="381000" y="192465"/>
                  <a:pt x="363915" y="209550"/>
                  <a:pt x="342900" y="209550"/>
                </a:cubicBezTo>
                <a:lnTo>
                  <a:pt x="152400" y="209550"/>
                </a:lnTo>
                <a:cubicBezTo>
                  <a:pt x="131385" y="209550"/>
                  <a:pt x="114300" y="192465"/>
                  <a:pt x="114300" y="171450"/>
                </a:cubicBezTo>
                <a:lnTo>
                  <a:pt x="114300" y="38100"/>
                </a:lnTo>
                <a:close/>
                <a:moveTo>
                  <a:pt x="190500" y="57150"/>
                </a:moveTo>
                <a:cubicBezTo>
                  <a:pt x="190500" y="46636"/>
                  <a:pt x="181964" y="38100"/>
                  <a:pt x="171450" y="38100"/>
                </a:cubicBezTo>
                <a:cubicBezTo>
                  <a:pt x="160936" y="38100"/>
                  <a:pt x="152400" y="46636"/>
                  <a:pt x="152400" y="57150"/>
                </a:cubicBezTo>
                <a:cubicBezTo>
                  <a:pt x="152400" y="67664"/>
                  <a:pt x="160936" y="76200"/>
                  <a:pt x="171450" y="76200"/>
                </a:cubicBezTo>
                <a:cubicBezTo>
                  <a:pt x="181964" y="76200"/>
                  <a:pt x="190500" y="67664"/>
                  <a:pt x="190500" y="57150"/>
                </a:cubicBezTo>
                <a:close/>
                <a:moveTo>
                  <a:pt x="283666" y="63996"/>
                </a:moveTo>
                <a:cubicBezTo>
                  <a:pt x="281047" y="59769"/>
                  <a:pt x="276463" y="57150"/>
                  <a:pt x="271463" y="57150"/>
                </a:cubicBezTo>
                <a:cubicBezTo>
                  <a:pt x="266462" y="57150"/>
                  <a:pt x="261878" y="59769"/>
                  <a:pt x="259259" y="63996"/>
                </a:cubicBezTo>
                <a:lnTo>
                  <a:pt x="227112" y="116562"/>
                </a:lnTo>
                <a:lnTo>
                  <a:pt x="216456" y="101322"/>
                </a:lnTo>
                <a:cubicBezTo>
                  <a:pt x="213777" y="97512"/>
                  <a:pt x="209431" y="95250"/>
                  <a:pt x="204728" y="95250"/>
                </a:cubicBezTo>
                <a:cubicBezTo>
                  <a:pt x="200025" y="95250"/>
                  <a:pt x="195679" y="97512"/>
                  <a:pt x="193000" y="101322"/>
                </a:cubicBezTo>
                <a:lnTo>
                  <a:pt x="159663" y="148947"/>
                </a:lnTo>
                <a:cubicBezTo>
                  <a:pt x="156627" y="153293"/>
                  <a:pt x="156210" y="159008"/>
                  <a:pt x="158710" y="163711"/>
                </a:cubicBezTo>
                <a:cubicBezTo>
                  <a:pt x="161211" y="168414"/>
                  <a:pt x="166152" y="171450"/>
                  <a:pt x="171450" y="171450"/>
                </a:cubicBezTo>
                <a:lnTo>
                  <a:pt x="323850" y="171450"/>
                </a:lnTo>
                <a:cubicBezTo>
                  <a:pt x="329029" y="171450"/>
                  <a:pt x="333792" y="168652"/>
                  <a:pt x="336292" y="164128"/>
                </a:cubicBezTo>
                <a:cubicBezTo>
                  <a:pt x="338792" y="159603"/>
                  <a:pt x="338733" y="154126"/>
                  <a:pt x="335994" y="149662"/>
                </a:cubicBezTo>
                <a:lnTo>
                  <a:pt x="283607" y="63937"/>
                </a:lnTo>
                <a:close/>
                <a:moveTo>
                  <a:pt x="85725" y="76200"/>
                </a:moveTo>
                <a:lnTo>
                  <a:pt x="85725" y="171450"/>
                </a:lnTo>
                <a:cubicBezTo>
                  <a:pt x="85725" y="208300"/>
                  <a:pt x="115550" y="238125"/>
                  <a:pt x="152400" y="238125"/>
                </a:cubicBezTo>
                <a:lnTo>
                  <a:pt x="266700" y="238125"/>
                </a:lnTo>
                <a:lnTo>
                  <a:pt x="266700" y="247650"/>
                </a:lnTo>
                <a:cubicBezTo>
                  <a:pt x="266700" y="268665"/>
                  <a:pt x="249615" y="285750"/>
                  <a:pt x="228600" y="285750"/>
                </a:cubicBezTo>
                <a:lnTo>
                  <a:pt x="38100" y="285750"/>
                </a:lnTo>
                <a:cubicBezTo>
                  <a:pt x="17085" y="285750"/>
                  <a:pt x="0" y="268665"/>
                  <a:pt x="0" y="247650"/>
                </a:cubicBezTo>
                <a:lnTo>
                  <a:pt x="0" y="114300"/>
                </a:lnTo>
                <a:cubicBezTo>
                  <a:pt x="0" y="93285"/>
                  <a:pt x="17085" y="76200"/>
                  <a:pt x="38100" y="76200"/>
                </a:cubicBezTo>
                <a:lnTo>
                  <a:pt x="85725" y="76200"/>
                </a:lnTo>
                <a:close/>
                <a:moveTo>
                  <a:pt x="30956" y="116681"/>
                </a:moveTo>
                <a:lnTo>
                  <a:pt x="30956" y="130969"/>
                </a:lnTo>
                <a:cubicBezTo>
                  <a:pt x="30956" y="136208"/>
                  <a:pt x="35243" y="140494"/>
                  <a:pt x="40481" y="140494"/>
                </a:cubicBezTo>
                <a:lnTo>
                  <a:pt x="54769" y="140494"/>
                </a:lnTo>
                <a:cubicBezTo>
                  <a:pt x="60007" y="140494"/>
                  <a:pt x="64294" y="136208"/>
                  <a:pt x="64294" y="130969"/>
                </a:cubicBezTo>
                <a:lnTo>
                  <a:pt x="64294" y="116681"/>
                </a:lnTo>
                <a:cubicBezTo>
                  <a:pt x="64294" y="111442"/>
                  <a:pt x="60007" y="107156"/>
                  <a:pt x="54769" y="107156"/>
                </a:cubicBezTo>
                <a:lnTo>
                  <a:pt x="40481" y="107156"/>
                </a:lnTo>
                <a:cubicBezTo>
                  <a:pt x="35243" y="107156"/>
                  <a:pt x="30956" y="111442"/>
                  <a:pt x="30956" y="116681"/>
                </a:cubicBezTo>
                <a:close/>
                <a:moveTo>
                  <a:pt x="40481" y="164306"/>
                </a:moveTo>
                <a:cubicBezTo>
                  <a:pt x="35243" y="164306"/>
                  <a:pt x="30956" y="168592"/>
                  <a:pt x="30956" y="173831"/>
                </a:cubicBezTo>
                <a:lnTo>
                  <a:pt x="30956" y="188119"/>
                </a:lnTo>
                <a:cubicBezTo>
                  <a:pt x="30956" y="193358"/>
                  <a:pt x="35243" y="197644"/>
                  <a:pt x="40481" y="197644"/>
                </a:cubicBezTo>
                <a:lnTo>
                  <a:pt x="54769" y="197644"/>
                </a:lnTo>
                <a:cubicBezTo>
                  <a:pt x="60007" y="197644"/>
                  <a:pt x="64294" y="193358"/>
                  <a:pt x="64294" y="188119"/>
                </a:cubicBezTo>
                <a:lnTo>
                  <a:pt x="64294" y="173831"/>
                </a:lnTo>
                <a:cubicBezTo>
                  <a:pt x="64294" y="168592"/>
                  <a:pt x="60007" y="164306"/>
                  <a:pt x="54769" y="164306"/>
                </a:cubicBezTo>
                <a:lnTo>
                  <a:pt x="40481" y="164306"/>
                </a:lnTo>
                <a:close/>
                <a:moveTo>
                  <a:pt x="40481" y="221456"/>
                </a:moveTo>
                <a:cubicBezTo>
                  <a:pt x="35243" y="221456"/>
                  <a:pt x="30956" y="225743"/>
                  <a:pt x="30956" y="230981"/>
                </a:cubicBezTo>
                <a:lnTo>
                  <a:pt x="30956" y="245269"/>
                </a:lnTo>
                <a:cubicBezTo>
                  <a:pt x="30956" y="250508"/>
                  <a:pt x="35243" y="254794"/>
                  <a:pt x="40481" y="254794"/>
                </a:cubicBezTo>
                <a:lnTo>
                  <a:pt x="54769" y="254794"/>
                </a:lnTo>
                <a:cubicBezTo>
                  <a:pt x="60007" y="254794"/>
                  <a:pt x="64294" y="250508"/>
                  <a:pt x="64294" y="245269"/>
                </a:cubicBezTo>
                <a:lnTo>
                  <a:pt x="64294" y="230981"/>
                </a:lnTo>
                <a:cubicBezTo>
                  <a:pt x="64294" y="225743"/>
                  <a:pt x="60007" y="221456"/>
                  <a:pt x="54769" y="221456"/>
                </a:cubicBezTo>
                <a:lnTo>
                  <a:pt x="40481" y="221456"/>
                </a:lnTo>
                <a:close/>
              </a:path>
            </a:pathLst>
          </a:custGeom>
          <a:solidFill>
            <a:srgbClr val="4D5EFF"/>
          </a:solidFill>
        </p:spPr>
      </p:sp>
      <p:sp>
        <p:nvSpPr>
          <p:cNvPr id="11" name="Text 6"/>
          <p:cNvSpPr/>
          <p:nvPr/>
        </p:nvSpPr>
        <p:spPr>
          <a:xfrm>
            <a:off x="3073400" y="2794000"/>
            <a:ext cx="2971800" cy="254000"/>
          </a:xfrm>
          <a:prstGeom prst="rect">
            <a:avLst/>
          </a:prstGeom>
          <a:noFill/>
        </p:spPr>
        <p:txBody>
          <a:bodyPr wrap="square" lIns="0" tIns="0" rIns="0" bIns="0" rtlCol="0" anchor="ctr"/>
          <a:lstStyle/>
          <a:p>
            <a:pPr marL="0" indent="0" algn="ctr">
              <a:lnSpc>
                <a:spcPct val="120000"/>
              </a:lnSpc>
              <a:buNone/>
            </a:pPr>
            <a:r>
              <a:rPr lang="en-US" sz="1400" dirty="0">
                <a:solidFill>
                  <a:srgbClr val="34385E"/>
                </a:solidFill>
                <a:latin typeface="MiSans" pitchFamily="34" charset="-122"/>
                <a:ea typeface="MiSans" pitchFamily="34" charset="-122"/>
                <a:cs typeface="MiSans" pitchFamily="34" charset="-120"/>
              </a:rPr>
              <a:t>Chia sẻ nội dung</a:t>
            </a:r>
            <a:endParaRPr lang="en-US" sz="1600" dirty="0"/>
          </a:p>
        </p:txBody>
      </p:sp>
      <p:sp>
        <p:nvSpPr>
          <p:cNvPr id="12" name="Shape 7"/>
          <p:cNvSpPr/>
          <p:nvPr/>
        </p:nvSpPr>
        <p:spPr>
          <a:xfrm>
            <a:off x="254000" y="3352800"/>
            <a:ext cx="2768600" cy="914400"/>
          </a:xfrm>
          <a:custGeom>
            <a:avLst/>
            <a:gdLst/>
            <a:ahLst/>
            <a:cxnLst/>
            <a:rect l="l" t="t" r="r" b="b"/>
            <a:pathLst>
              <a:path w="2768600" h="914400">
                <a:moveTo>
                  <a:pt x="101599" y="0"/>
                </a:moveTo>
                <a:lnTo>
                  <a:pt x="2667001" y="0"/>
                </a:lnTo>
                <a:cubicBezTo>
                  <a:pt x="2723113" y="0"/>
                  <a:pt x="2768600" y="45487"/>
                  <a:pt x="2768600" y="101599"/>
                </a:cubicBezTo>
                <a:lnTo>
                  <a:pt x="2768600" y="812801"/>
                </a:lnTo>
                <a:cubicBezTo>
                  <a:pt x="2768600" y="868913"/>
                  <a:pt x="2723113" y="914400"/>
                  <a:pt x="2667001" y="914400"/>
                </a:cubicBezTo>
                <a:lnTo>
                  <a:pt x="101599" y="914400"/>
                </a:lnTo>
                <a:cubicBezTo>
                  <a:pt x="45487" y="914400"/>
                  <a:pt x="0" y="868913"/>
                  <a:pt x="0" y="812801"/>
                </a:cubicBezTo>
                <a:lnTo>
                  <a:pt x="0" y="101599"/>
                </a:lnTo>
                <a:cubicBezTo>
                  <a:pt x="0" y="45525"/>
                  <a:pt x="45525" y="0"/>
                  <a:pt x="101599" y="0"/>
                </a:cubicBezTo>
                <a:close/>
              </a:path>
            </a:pathLst>
          </a:custGeom>
          <a:solidFill>
            <a:srgbClr val="3341B8">
              <a:alpha val="10196"/>
            </a:srgbClr>
          </a:solidFill>
        </p:spPr>
      </p:sp>
      <p:sp>
        <p:nvSpPr>
          <p:cNvPr id="13" name="Shape 8"/>
          <p:cNvSpPr/>
          <p:nvPr/>
        </p:nvSpPr>
        <p:spPr>
          <a:xfrm>
            <a:off x="1485900" y="3505200"/>
            <a:ext cx="304800" cy="304800"/>
          </a:xfrm>
          <a:custGeom>
            <a:avLst/>
            <a:gdLst/>
            <a:ahLst/>
            <a:cxnLst/>
            <a:rect l="l" t="t" r="r" b="b"/>
            <a:pathLst>
              <a:path w="304800" h="304800">
                <a:moveTo>
                  <a:pt x="133350" y="14288"/>
                </a:moveTo>
                <a:cubicBezTo>
                  <a:pt x="133350" y="6370"/>
                  <a:pt x="139720" y="0"/>
                  <a:pt x="147638" y="0"/>
                </a:cubicBezTo>
                <a:cubicBezTo>
                  <a:pt x="234434" y="0"/>
                  <a:pt x="304800" y="70366"/>
                  <a:pt x="304800" y="157163"/>
                </a:cubicBezTo>
                <a:cubicBezTo>
                  <a:pt x="304800" y="165080"/>
                  <a:pt x="298430" y="171450"/>
                  <a:pt x="290513" y="171450"/>
                </a:cubicBezTo>
                <a:cubicBezTo>
                  <a:pt x="282595" y="171450"/>
                  <a:pt x="276225" y="165080"/>
                  <a:pt x="276225" y="157163"/>
                </a:cubicBezTo>
                <a:cubicBezTo>
                  <a:pt x="276225" y="86142"/>
                  <a:pt x="218658" y="28575"/>
                  <a:pt x="147638" y="28575"/>
                </a:cubicBezTo>
                <a:cubicBezTo>
                  <a:pt x="139720" y="28575"/>
                  <a:pt x="133350" y="22205"/>
                  <a:pt x="133350" y="14288"/>
                </a:cubicBezTo>
                <a:close/>
                <a:moveTo>
                  <a:pt x="47625" y="57150"/>
                </a:moveTo>
                <a:cubicBezTo>
                  <a:pt x="63401" y="57150"/>
                  <a:pt x="76200" y="69949"/>
                  <a:pt x="76200" y="85725"/>
                </a:cubicBezTo>
                <a:lnTo>
                  <a:pt x="76200" y="219075"/>
                </a:lnTo>
                <a:cubicBezTo>
                  <a:pt x="76200" y="234851"/>
                  <a:pt x="88999" y="247650"/>
                  <a:pt x="104775" y="247650"/>
                </a:cubicBezTo>
                <a:cubicBezTo>
                  <a:pt x="120551" y="247650"/>
                  <a:pt x="133350" y="234851"/>
                  <a:pt x="133350" y="219075"/>
                </a:cubicBezTo>
                <a:cubicBezTo>
                  <a:pt x="133350" y="203299"/>
                  <a:pt x="120551" y="190500"/>
                  <a:pt x="104775" y="190500"/>
                </a:cubicBezTo>
                <a:cubicBezTo>
                  <a:pt x="99536" y="190500"/>
                  <a:pt x="95250" y="186214"/>
                  <a:pt x="95250" y="180975"/>
                </a:cubicBezTo>
                <a:lnTo>
                  <a:pt x="95250" y="142875"/>
                </a:lnTo>
                <a:cubicBezTo>
                  <a:pt x="95250" y="137636"/>
                  <a:pt x="99536" y="133350"/>
                  <a:pt x="104775" y="133350"/>
                </a:cubicBezTo>
                <a:cubicBezTo>
                  <a:pt x="152102" y="133350"/>
                  <a:pt x="190500" y="171748"/>
                  <a:pt x="190500" y="219075"/>
                </a:cubicBezTo>
                <a:cubicBezTo>
                  <a:pt x="190500" y="266402"/>
                  <a:pt x="152102" y="304800"/>
                  <a:pt x="104775" y="304800"/>
                </a:cubicBezTo>
                <a:cubicBezTo>
                  <a:pt x="57448" y="304800"/>
                  <a:pt x="19050" y="266402"/>
                  <a:pt x="19050" y="219075"/>
                </a:cubicBezTo>
                <a:lnTo>
                  <a:pt x="19050" y="85725"/>
                </a:lnTo>
                <a:cubicBezTo>
                  <a:pt x="19050" y="69949"/>
                  <a:pt x="31849" y="57150"/>
                  <a:pt x="47625" y="57150"/>
                </a:cubicBezTo>
                <a:close/>
                <a:moveTo>
                  <a:pt x="147638" y="57150"/>
                </a:moveTo>
                <a:cubicBezTo>
                  <a:pt x="202883" y="57150"/>
                  <a:pt x="247650" y="101918"/>
                  <a:pt x="247650" y="157163"/>
                </a:cubicBezTo>
                <a:cubicBezTo>
                  <a:pt x="247650" y="165080"/>
                  <a:pt x="241280" y="171450"/>
                  <a:pt x="233363" y="171450"/>
                </a:cubicBezTo>
                <a:cubicBezTo>
                  <a:pt x="225445" y="171450"/>
                  <a:pt x="219075" y="165080"/>
                  <a:pt x="219075" y="157163"/>
                </a:cubicBezTo>
                <a:cubicBezTo>
                  <a:pt x="219075" y="117693"/>
                  <a:pt x="187107" y="85725"/>
                  <a:pt x="147638" y="85725"/>
                </a:cubicBezTo>
                <a:cubicBezTo>
                  <a:pt x="139720" y="85725"/>
                  <a:pt x="133350" y="79355"/>
                  <a:pt x="133350" y="71438"/>
                </a:cubicBezTo>
                <a:cubicBezTo>
                  <a:pt x="133350" y="63520"/>
                  <a:pt x="139720" y="57150"/>
                  <a:pt x="147638" y="57150"/>
                </a:cubicBezTo>
                <a:close/>
              </a:path>
            </a:pathLst>
          </a:custGeom>
          <a:solidFill>
            <a:srgbClr val="4D5EFF"/>
          </a:solidFill>
        </p:spPr>
      </p:sp>
      <p:sp>
        <p:nvSpPr>
          <p:cNvPr id="14" name="Text 9"/>
          <p:cNvSpPr/>
          <p:nvPr/>
        </p:nvSpPr>
        <p:spPr>
          <a:xfrm>
            <a:off x="152400" y="3860800"/>
            <a:ext cx="2971800" cy="254000"/>
          </a:xfrm>
          <a:prstGeom prst="rect">
            <a:avLst/>
          </a:prstGeom>
          <a:noFill/>
        </p:spPr>
        <p:txBody>
          <a:bodyPr wrap="square" lIns="0" tIns="0" rIns="0" bIns="0" rtlCol="0" anchor="ctr"/>
          <a:lstStyle/>
          <a:p>
            <a:pPr marL="0" indent="0" algn="ctr">
              <a:lnSpc>
                <a:spcPct val="120000"/>
              </a:lnSpc>
              <a:buNone/>
            </a:pPr>
            <a:r>
              <a:rPr lang="en-US" sz="1400" dirty="0">
                <a:solidFill>
                  <a:srgbClr val="34385E"/>
                </a:solidFill>
                <a:latin typeface="MiSans" pitchFamily="34" charset="-122"/>
                <a:ea typeface="MiSans" pitchFamily="34" charset="-122"/>
                <a:cs typeface="MiSans" pitchFamily="34" charset="-120"/>
              </a:rPr>
              <a:t>Vi mô blog</a:t>
            </a:r>
            <a:endParaRPr lang="en-US" sz="1600" dirty="0"/>
          </a:p>
        </p:txBody>
      </p:sp>
      <p:sp>
        <p:nvSpPr>
          <p:cNvPr id="15" name="Shape 10"/>
          <p:cNvSpPr/>
          <p:nvPr/>
        </p:nvSpPr>
        <p:spPr>
          <a:xfrm>
            <a:off x="3175000" y="3352800"/>
            <a:ext cx="2768600" cy="914400"/>
          </a:xfrm>
          <a:custGeom>
            <a:avLst/>
            <a:gdLst/>
            <a:ahLst/>
            <a:cxnLst/>
            <a:rect l="l" t="t" r="r" b="b"/>
            <a:pathLst>
              <a:path w="2768600" h="914400">
                <a:moveTo>
                  <a:pt x="101599" y="0"/>
                </a:moveTo>
                <a:lnTo>
                  <a:pt x="2667001" y="0"/>
                </a:lnTo>
                <a:cubicBezTo>
                  <a:pt x="2723113" y="0"/>
                  <a:pt x="2768600" y="45487"/>
                  <a:pt x="2768600" y="101599"/>
                </a:cubicBezTo>
                <a:lnTo>
                  <a:pt x="2768600" y="812801"/>
                </a:lnTo>
                <a:cubicBezTo>
                  <a:pt x="2768600" y="868913"/>
                  <a:pt x="2723113" y="914400"/>
                  <a:pt x="2667001" y="914400"/>
                </a:cubicBezTo>
                <a:lnTo>
                  <a:pt x="101599" y="914400"/>
                </a:lnTo>
                <a:cubicBezTo>
                  <a:pt x="45487" y="914400"/>
                  <a:pt x="0" y="868913"/>
                  <a:pt x="0" y="812801"/>
                </a:cubicBezTo>
                <a:lnTo>
                  <a:pt x="0" y="101599"/>
                </a:lnTo>
                <a:cubicBezTo>
                  <a:pt x="0" y="45525"/>
                  <a:pt x="45525" y="0"/>
                  <a:pt x="101599" y="0"/>
                </a:cubicBezTo>
                <a:close/>
              </a:path>
            </a:pathLst>
          </a:custGeom>
          <a:solidFill>
            <a:srgbClr val="3341B8">
              <a:alpha val="10196"/>
            </a:srgbClr>
          </a:solidFill>
        </p:spPr>
      </p:sp>
      <p:sp>
        <p:nvSpPr>
          <p:cNvPr id="16" name="Shape 11"/>
          <p:cNvSpPr/>
          <p:nvPr/>
        </p:nvSpPr>
        <p:spPr>
          <a:xfrm>
            <a:off x="4406900" y="3505200"/>
            <a:ext cx="304800" cy="304800"/>
          </a:xfrm>
          <a:custGeom>
            <a:avLst/>
            <a:gdLst/>
            <a:ahLst/>
            <a:cxnLst/>
            <a:rect l="l" t="t" r="r" b="b"/>
            <a:pathLst>
              <a:path w="304800" h="304800">
                <a:moveTo>
                  <a:pt x="119062" y="28575"/>
                </a:moveTo>
                <a:lnTo>
                  <a:pt x="185738" y="28575"/>
                </a:lnTo>
                <a:cubicBezTo>
                  <a:pt x="188357" y="28575"/>
                  <a:pt x="190500" y="30718"/>
                  <a:pt x="190500" y="33338"/>
                </a:cubicBezTo>
                <a:lnTo>
                  <a:pt x="190500" y="57150"/>
                </a:lnTo>
                <a:lnTo>
                  <a:pt x="114300" y="57150"/>
                </a:lnTo>
                <a:lnTo>
                  <a:pt x="114300" y="33338"/>
                </a:lnTo>
                <a:cubicBezTo>
                  <a:pt x="114300" y="30718"/>
                  <a:pt x="116443" y="28575"/>
                  <a:pt x="119062" y="28575"/>
                </a:cubicBezTo>
                <a:close/>
                <a:moveTo>
                  <a:pt x="85725" y="33338"/>
                </a:moveTo>
                <a:lnTo>
                  <a:pt x="85725" y="57150"/>
                </a:lnTo>
                <a:lnTo>
                  <a:pt x="38100" y="57150"/>
                </a:lnTo>
                <a:cubicBezTo>
                  <a:pt x="17085" y="57150"/>
                  <a:pt x="0" y="74235"/>
                  <a:pt x="0" y="95250"/>
                </a:cubicBezTo>
                <a:lnTo>
                  <a:pt x="0" y="152400"/>
                </a:lnTo>
                <a:lnTo>
                  <a:pt x="304800" y="152400"/>
                </a:lnTo>
                <a:lnTo>
                  <a:pt x="304800" y="95250"/>
                </a:lnTo>
                <a:cubicBezTo>
                  <a:pt x="304800" y="74235"/>
                  <a:pt x="287715" y="57150"/>
                  <a:pt x="266700" y="57150"/>
                </a:cubicBezTo>
                <a:lnTo>
                  <a:pt x="219075" y="57150"/>
                </a:lnTo>
                <a:lnTo>
                  <a:pt x="219075" y="33338"/>
                </a:lnTo>
                <a:cubicBezTo>
                  <a:pt x="219075" y="14942"/>
                  <a:pt x="204133" y="0"/>
                  <a:pt x="185738" y="0"/>
                </a:cubicBezTo>
                <a:lnTo>
                  <a:pt x="119062" y="0"/>
                </a:lnTo>
                <a:cubicBezTo>
                  <a:pt x="100667" y="0"/>
                  <a:pt x="85725" y="14942"/>
                  <a:pt x="85725" y="33338"/>
                </a:cubicBezTo>
                <a:close/>
                <a:moveTo>
                  <a:pt x="304800" y="180975"/>
                </a:moveTo>
                <a:lnTo>
                  <a:pt x="190500" y="180975"/>
                </a:lnTo>
                <a:lnTo>
                  <a:pt x="190500" y="190500"/>
                </a:lnTo>
                <a:cubicBezTo>
                  <a:pt x="190500" y="201037"/>
                  <a:pt x="181987" y="209550"/>
                  <a:pt x="171450" y="209550"/>
                </a:cubicBezTo>
                <a:lnTo>
                  <a:pt x="133350" y="209550"/>
                </a:lnTo>
                <a:cubicBezTo>
                  <a:pt x="122813" y="209550"/>
                  <a:pt x="114300" y="201037"/>
                  <a:pt x="114300" y="190500"/>
                </a:cubicBezTo>
                <a:lnTo>
                  <a:pt x="114300" y="180975"/>
                </a:lnTo>
                <a:lnTo>
                  <a:pt x="0" y="180975"/>
                </a:lnTo>
                <a:lnTo>
                  <a:pt x="0" y="247650"/>
                </a:lnTo>
                <a:cubicBezTo>
                  <a:pt x="0" y="268665"/>
                  <a:pt x="17085" y="285750"/>
                  <a:pt x="38100" y="285750"/>
                </a:cubicBezTo>
                <a:lnTo>
                  <a:pt x="266700" y="285750"/>
                </a:lnTo>
                <a:cubicBezTo>
                  <a:pt x="287715" y="285750"/>
                  <a:pt x="304800" y="268665"/>
                  <a:pt x="304800" y="247650"/>
                </a:cubicBezTo>
                <a:lnTo>
                  <a:pt x="304800" y="180975"/>
                </a:lnTo>
                <a:close/>
              </a:path>
            </a:pathLst>
          </a:custGeom>
          <a:solidFill>
            <a:srgbClr val="4D5EFF"/>
          </a:solidFill>
        </p:spPr>
      </p:sp>
      <p:sp>
        <p:nvSpPr>
          <p:cNvPr id="17" name="Text 12"/>
          <p:cNvSpPr/>
          <p:nvPr/>
        </p:nvSpPr>
        <p:spPr>
          <a:xfrm>
            <a:off x="3073400" y="3860800"/>
            <a:ext cx="2971800" cy="254000"/>
          </a:xfrm>
          <a:prstGeom prst="rect">
            <a:avLst/>
          </a:prstGeom>
          <a:noFill/>
        </p:spPr>
        <p:txBody>
          <a:bodyPr wrap="square" lIns="0" tIns="0" rIns="0" bIns="0" rtlCol="0" anchor="ctr"/>
          <a:lstStyle/>
          <a:p>
            <a:pPr marL="0" indent="0" algn="ctr">
              <a:lnSpc>
                <a:spcPct val="120000"/>
              </a:lnSpc>
              <a:buNone/>
            </a:pPr>
            <a:r>
              <a:rPr lang="en-US" sz="1400" dirty="0">
                <a:solidFill>
                  <a:srgbClr val="34385E"/>
                </a:solidFill>
                <a:latin typeface="MiSans" pitchFamily="34" charset="-122"/>
                <a:ea typeface="MiSans" pitchFamily="34" charset="-122"/>
                <a:cs typeface="MiSans" pitchFamily="34" charset="-120"/>
              </a:rPr>
              <a:t>Mạng nghề nghiệp</a:t>
            </a:r>
            <a:endParaRPr lang="en-US" sz="1600" dirty="0"/>
          </a:p>
        </p:txBody>
      </p:sp>
      <p:sp>
        <p:nvSpPr>
          <p:cNvPr id="18" name="Shape 13"/>
          <p:cNvSpPr/>
          <p:nvPr/>
        </p:nvSpPr>
        <p:spPr>
          <a:xfrm>
            <a:off x="254000" y="4419600"/>
            <a:ext cx="5689600" cy="914400"/>
          </a:xfrm>
          <a:custGeom>
            <a:avLst/>
            <a:gdLst/>
            <a:ahLst/>
            <a:cxnLst/>
            <a:rect l="l" t="t" r="r" b="b"/>
            <a:pathLst>
              <a:path w="5689600" h="914400">
                <a:moveTo>
                  <a:pt x="101599" y="0"/>
                </a:moveTo>
                <a:lnTo>
                  <a:pt x="5588001" y="0"/>
                </a:lnTo>
                <a:cubicBezTo>
                  <a:pt x="5644113" y="0"/>
                  <a:pt x="5689600" y="45487"/>
                  <a:pt x="5689600" y="101599"/>
                </a:cubicBezTo>
                <a:lnTo>
                  <a:pt x="5689600" y="812801"/>
                </a:lnTo>
                <a:cubicBezTo>
                  <a:pt x="5689600" y="868913"/>
                  <a:pt x="5644113" y="914400"/>
                  <a:pt x="5588001" y="914400"/>
                </a:cubicBezTo>
                <a:lnTo>
                  <a:pt x="101599" y="914400"/>
                </a:lnTo>
                <a:cubicBezTo>
                  <a:pt x="45487" y="914400"/>
                  <a:pt x="0" y="868913"/>
                  <a:pt x="0" y="812801"/>
                </a:cubicBezTo>
                <a:lnTo>
                  <a:pt x="0" y="101599"/>
                </a:lnTo>
                <a:cubicBezTo>
                  <a:pt x="0" y="45525"/>
                  <a:pt x="45525" y="0"/>
                  <a:pt x="101599" y="0"/>
                </a:cubicBezTo>
                <a:close/>
              </a:path>
            </a:pathLst>
          </a:custGeom>
          <a:solidFill>
            <a:srgbClr val="3341B8">
              <a:alpha val="10196"/>
            </a:srgbClr>
          </a:solidFill>
        </p:spPr>
      </p:sp>
      <p:sp>
        <p:nvSpPr>
          <p:cNvPr id="19" name="Shape 14"/>
          <p:cNvSpPr/>
          <p:nvPr/>
        </p:nvSpPr>
        <p:spPr>
          <a:xfrm>
            <a:off x="2946400" y="4572000"/>
            <a:ext cx="304800" cy="304800"/>
          </a:xfrm>
          <a:custGeom>
            <a:avLst/>
            <a:gdLst/>
            <a:ahLst/>
            <a:cxnLst/>
            <a:rect l="l" t="t" r="r" b="b"/>
            <a:pathLst>
              <a:path w="304800" h="304800">
                <a:moveTo>
                  <a:pt x="143470" y="51852"/>
                </a:moveTo>
                <a:lnTo>
                  <a:pt x="152400" y="64175"/>
                </a:lnTo>
                <a:lnTo>
                  <a:pt x="161330" y="51852"/>
                </a:lnTo>
                <a:cubicBezTo>
                  <a:pt x="176212" y="31254"/>
                  <a:pt x="200144" y="19050"/>
                  <a:pt x="225564" y="19050"/>
                </a:cubicBezTo>
                <a:cubicBezTo>
                  <a:pt x="269319" y="19050"/>
                  <a:pt x="304800" y="54531"/>
                  <a:pt x="304800" y="98286"/>
                </a:cubicBezTo>
                <a:lnTo>
                  <a:pt x="304800" y="99834"/>
                </a:lnTo>
                <a:cubicBezTo>
                  <a:pt x="304800" y="166628"/>
                  <a:pt x="221516" y="244197"/>
                  <a:pt x="178058" y="277356"/>
                </a:cubicBezTo>
                <a:cubicBezTo>
                  <a:pt x="170676" y="282952"/>
                  <a:pt x="161627" y="285750"/>
                  <a:pt x="152400" y="285750"/>
                </a:cubicBezTo>
                <a:cubicBezTo>
                  <a:pt x="143173" y="285750"/>
                  <a:pt x="134064" y="283012"/>
                  <a:pt x="126742" y="277356"/>
                </a:cubicBezTo>
                <a:cubicBezTo>
                  <a:pt x="83284" y="244197"/>
                  <a:pt x="0" y="166628"/>
                  <a:pt x="0" y="99834"/>
                </a:cubicBezTo>
                <a:lnTo>
                  <a:pt x="0" y="98286"/>
                </a:lnTo>
                <a:cubicBezTo>
                  <a:pt x="0" y="54531"/>
                  <a:pt x="35481" y="19050"/>
                  <a:pt x="79236" y="19050"/>
                </a:cubicBezTo>
                <a:cubicBezTo>
                  <a:pt x="104656" y="19050"/>
                  <a:pt x="128588" y="31254"/>
                  <a:pt x="143470" y="51852"/>
                </a:cubicBezTo>
                <a:close/>
              </a:path>
            </a:pathLst>
          </a:custGeom>
          <a:solidFill>
            <a:srgbClr val="4D5EFF"/>
          </a:solidFill>
        </p:spPr>
      </p:sp>
      <p:sp>
        <p:nvSpPr>
          <p:cNvPr id="20" name="Text 15"/>
          <p:cNvSpPr/>
          <p:nvPr/>
        </p:nvSpPr>
        <p:spPr>
          <a:xfrm>
            <a:off x="152400" y="4927600"/>
            <a:ext cx="5892800" cy="254000"/>
          </a:xfrm>
          <a:prstGeom prst="rect">
            <a:avLst/>
          </a:prstGeom>
          <a:noFill/>
        </p:spPr>
        <p:txBody>
          <a:bodyPr wrap="square" lIns="0" tIns="0" rIns="0" bIns="0" rtlCol="0" anchor="ctr"/>
          <a:lstStyle/>
          <a:p>
            <a:pPr marL="0" indent="0" algn="ctr">
              <a:lnSpc>
                <a:spcPct val="120000"/>
              </a:lnSpc>
              <a:buNone/>
            </a:pPr>
            <a:r>
              <a:rPr lang="en-US" sz="1400" dirty="0">
                <a:solidFill>
                  <a:srgbClr val="34385E"/>
                </a:solidFill>
                <a:latin typeface="MiSans" pitchFamily="34" charset="-122"/>
                <a:ea typeface="MiSans" pitchFamily="34" charset="-122"/>
                <a:cs typeface="MiSans" pitchFamily="34" charset="-120"/>
              </a:rPr>
              <a:t>Cộng đồng sở thích</a:t>
            </a:r>
            <a:endParaRPr lang="en-US" sz="1600" dirty="0"/>
          </a:p>
        </p:txBody>
      </p:sp>
      <p:sp>
        <p:nvSpPr>
          <p:cNvPr id="21" name="Shape 16"/>
          <p:cNvSpPr/>
          <p:nvPr/>
        </p:nvSpPr>
        <p:spPr>
          <a:xfrm>
            <a:off x="6248400" y="2425700"/>
            <a:ext cx="5689600" cy="1282700"/>
          </a:xfrm>
          <a:custGeom>
            <a:avLst/>
            <a:gdLst/>
            <a:ahLst/>
            <a:cxnLst/>
            <a:rect l="l" t="t" r="r" b="b"/>
            <a:pathLst>
              <a:path w="5689600" h="1282700">
                <a:moveTo>
                  <a:pt x="101603" y="0"/>
                </a:moveTo>
                <a:lnTo>
                  <a:pt x="5587997" y="0"/>
                </a:lnTo>
                <a:cubicBezTo>
                  <a:pt x="5644111" y="0"/>
                  <a:pt x="5689600" y="45489"/>
                  <a:pt x="5689600" y="101603"/>
                </a:cubicBezTo>
                <a:lnTo>
                  <a:pt x="5689600" y="1181097"/>
                </a:lnTo>
                <a:cubicBezTo>
                  <a:pt x="5689600" y="1237211"/>
                  <a:pt x="5644111" y="1282700"/>
                  <a:pt x="5587997" y="1282700"/>
                </a:cubicBezTo>
                <a:lnTo>
                  <a:pt x="101603" y="1282700"/>
                </a:lnTo>
                <a:cubicBezTo>
                  <a:pt x="45489" y="1282700"/>
                  <a:pt x="0" y="1237211"/>
                  <a:pt x="0" y="1181097"/>
                </a:cubicBezTo>
                <a:lnTo>
                  <a:pt x="0" y="101603"/>
                </a:lnTo>
                <a:cubicBezTo>
                  <a:pt x="0" y="45527"/>
                  <a:pt x="45527" y="0"/>
                  <a:pt x="101603" y="0"/>
                </a:cubicBezTo>
                <a:close/>
              </a:path>
            </a:pathLst>
          </a:custGeom>
          <a:solidFill>
            <a:srgbClr val="6052C8">
              <a:alpha val="10196"/>
            </a:srgbClr>
          </a:solidFill>
        </p:spPr>
      </p:sp>
      <p:sp>
        <p:nvSpPr>
          <p:cNvPr id="22" name="Text 17"/>
          <p:cNvSpPr/>
          <p:nvPr/>
        </p:nvSpPr>
        <p:spPr>
          <a:xfrm>
            <a:off x="6451600" y="2628900"/>
            <a:ext cx="5283200" cy="622300"/>
          </a:xfrm>
          <a:prstGeom prst="rect">
            <a:avLst/>
          </a:prstGeom>
          <a:noFill/>
        </p:spPr>
        <p:txBody>
          <a:bodyPr wrap="square" lIns="0" tIns="0" rIns="0" bIns="0" rtlCol="0" anchor="ctr"/>
          <a:lstStyle/>
          <a:p>
            <a:pPr marL="0" indent="0" algn="ctr">
              <a:lnSpc>
                <a:spcPct val="80000"/>
              </a:lnSpc>
              <a:buNone/>
            </a:pPr>
            <a:r>
              <a:rPr lang="en-US" sz="4800" dirty="0">
                <a:solidFill>
                  <a:srgbClr val="6052C8"/>
                </a:solidFill>
                <a:latin typeface="MiSans" pitchFamily="34" charset="-122"/>
                <a:ea typeface="MiSans" pitchFamily="34" charset="-122"/>
                <a:cs typeface="MiSans" pitchFamily="34" charset="-120"/>
              </a:rPr>
              <a:t>4,9 </a:t>
            </a:r>
            <a:r>
              <a:rPr lang="en-US" sz="3000" dirty="0">
                <a:solidFill>
                  <a:srgbClr val="6052C8"/>
                </a:solidFill>
                <a:latin typeface="MiSans" pitchFamily="34" charset="-122"/>
                <a:ea typeface="MiSans" pitchFamily="34" charset="-122"/>
                <a:cs typeface="MiSans" pitchFamily="34" charset="-120"/>
              </a:rPr>
              <a:t>tỷ</a:t>
            </a:r>
            <a:endParaRPr lang="en-US" sz="1600" dirty="0"/>
          </a:p>
        </p:txBody>
      </p:sp>
      <p:sp>
        <p:nvSpPr>
          <p:cNvPr id="23" name="Text 18"/>
          <p:cNvSpPr/>
          <p:nvPr/>
        </p:nvSpPr>
        <p:spPr>
          <a:xfrm>
            <a:off x="6197600" y="3251200"/>
            <a:ext cx="5791200" cy="254000"/>
          </a:xfrm>
          <a:prstGeom prst="rect">
            <a:avLst/>
          </a:prstGeom>
          <a:noFill/>
        </p:spPr>
        <p:txBody>
          <a:bodyPr wrap="square" lIns="0" tIns="0" rIns="0" bIns="0" rtlCol="0" anchor="ctr"/>
          <a:lstStyle/>
          <a:p>
            <a:pPr marL="0" indent="0" algn="ctr">
              <a:lnSpc>
                <a:spcPct val="120000"/>
              </a:lnSpc>
              <a:buNone/>
            </a:pPr>
            <a:r>
              <a:rPr lang="en-US" sz="1400" dirty="0">
                <a:solidFill>
                  <a:srgbClr val="34385E"/>
                </a:solidFill>
                <a:latin typeface="MiSans" pitchFamily="34" charset="-122"/>
                <a:ea typeface="MiSans" pitchFamily="34" charset="-122"/>
                <a:cs typeface="MiSans" pitchFamily="34" charset="-120"/>
              </a:rPr>
              <a:t>Người dùng toàn cầu (2024)</a:t>
            </a:r>
            <a:endParaRPr lang="en-US" sz="1600" dirty="0"/>
          </a:p>
        </p:txBody>
      </p:sp>
      <p:sp>
        <p:nvSpPr>
          <p:cNvPr id="24" name="Shape 19"/>
          <p:cNvSpPr/>
          <p:nvPr/>
        </p:nvSpPr>
        <p:spPr>
          <a:xfrm>
            <a:off x="6248400" y="3911600"/>
            <a:ext cx="5689600" cy="1282700"/>
          </a:xfrm>
          <a:custGeom>
            <a:avLst/>
            <a:gdLst/>
            <a:ahLst/>
            <a:cxnLst/>
            <a:rect l="l" t="t" r="r" b="b"/>
            <a:pathLst>
              <a:path w="5689600" h="1282700">
                <a:moveTo>
                  <a:pt x="101603" y="0"/>
                </a:moveTo>
                <a:lnTo>
                  <a:pt x="5587997" y="0"/>
                </a:lnTo>
                <a:cubicBezTo>
                  <a:pt x="5644111" y="0"/>
                  <a:pt x="5689600" y="45489"/>
                  <a:pt x="5689600" y="101603"/>
                </a:cubicBezTo>
                <a:lnTo>
                  <a:pt x="5689600" y="1181097"/>
                </a:lnTo>
                <a:cubicBezTo>
                  <a:pt x="5689600" y="1237211"/>
                  <a:pt x="5644111" y="1282700"/>
                  <a:pt x="5587997" y="1282700"/>
                </a:cubicBezTo>
                <a:lnTo>
                  <a:pt x="101603" y="1282700"/>
                </a:lnTo>
                <a:cubicBezTo>
                  <a:pt x="45489" y="1282700"/>
                  <a:pt x="0" y="1237211"/>
                  <a:pt x="0" y="1181097"/>
                </a:cubicBezTo>
                <a:lnTo>
                  <a:pt x="0" y="101603"/>
                </a:lnTo>
                <a:cubicBezTo>
                  <a:pt x="0" y="45527"/>
                  <a:pt x="45527" y="0"/>
                  <a:pt x="101603" y="0"/>
                </a:cubicBezTo>
                <a:close/>
              </a:path>
            </a:pathLst>
          </a:custGeom>
          <a:solidFill>
            <a:srgbClr val="6052C8">
              <a:alpha val="10196"/>
            </a:srgbClr>
          </a:solidFill>
        </p:spPr>
      </p:sp>
      <p:sp>
        <p:nvSpPr>
          <p:cNvPr id="25" name="Text 20"/>
          <p:cNvSpPr/>
          <p:nvPr/>
        </p:nvSpPr>
        <p:spPr>
          <a:xfrm>
            <a:off x="6451600" y="4114800"/>
            <a:ext cx="5283200" cy="622300"/>
          </a:xfrm>
          <a:prstGeom prst="rect">
            <a:avLst/>
          </a:prstGeom>
          <a:noFill/>
        </p:spPr>
        <p:txBody>
          <a:bodyPr wrap="square" lIns="0" tIns="0" rIns="0" bIns="0" rtlCol="0" anchor="ctr"/>
          <a:lstStyle/>
          <a:p>
            <a:pPr marL="0" indent="0" algn="ctr">
              <a:lnSpc>
                <a:spcPct val="80000"/>
              </a:lnSpc>
              <a:buNone/>
            </a:pPr>
            <a:r>
              <a:rPr lang="en-US" sz="4800" dirty="0">
                <a:solidFill>
                  <a:srgbClr val="6052C8"/>
                </a:solidFill>
                <a:latin typeface="MiSans" pitchFamily="34" charset="-122"/>
                <a:ea typeface="MiSans" pitchFamily="34" charset="-122"/>
                <a:cs typeface="MiSans" pitchFamily="34" charset="-120"/>
              </a:rPr>
              <a:t>2,5 </a:t>
            </a:r>
            <a:r>
              <a:rPr lang="en-US" sz="3000" dirty="0">
                <a:solidFill>
                  <a:srgbClr val="6052C8"/>
                </a:solidFill>
                <a:latin typeface="MiSans" pitchFamily="34" charset="-122"/>
                <a:ea typeface="MiSans" pitchFamily="34" charset="-122"/>
                <a:cs typeface="MiSans" pitchFamily="34" charset="-120"/>
              </a:rPr>
              <a:t>giờ</a:t>
            </a:r>
            <a:endParaRPr lang="en-US" sz="1600" dirty="0"/>
          </a:p>
        </p:txBody>
      </p:sp>
      <p:sp>
        <p:nvSpPr>
          <p:cNvPr id="26" name="Text 21"/>
          <p:cNvSpPr/>
          <p:nvPr/>
        </p:nvSpPr>
        <p:spPr>
          <a:xfrm>
            <a:off x="6197600" y="4737100"/>
            <a:ext cx="5791200" cy="254000"/>
          </a:xfrm>
          <a:prstGeom prst="rect">
            <a:avLst/>
          </a:prstGeom>
          <a:noFill/>
        </p:spPr>
        <p:txBody>
          <a:bodyPr wrap="square" lIns="0" tIns="0" rIns="0" bIns="0" rtlCol="0" anchor="ctr"/>
          <a:lstStyle/>
          <a:p>
            <a:pPr marL="0" indent="0" algn="ctr">
              <a:lnSpc>
                <a:spcPct val="120000"/>
              </a:lnSpc>
              <a:buNone/>
            </a:pPr>
            <a:r>
              <a:rPr lang="en-US" sz="1400" dirty="0">
                <a:solidFill>
                  <a:srgbClr val="34385E"/>
                </a:solidFill>
                <a:latin typeface="MiSans" pitchFamily="34" charset="-122"/>
                <a:ea typeface="MiSans" pitchFamily="34" charset="-122"/>
                <a:cs typeface="MiSans" pitchFamily="34" charset="-120"/>
              </a:rPr>
              <a:t>Thời gian trung bình mỗi ngày</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D31E2"/>
        </a:solidFill>
        <a:effectLst/>
      </p:bgPr>
    </p:bg>
    <p:spTree>
      <p:nvGrpSpPr>
        <p:cNvPr id="1" name=""/>
        <p:cNvGrpSpPr/>
        <p:nvPr/>
      </p:nvGrpSpPr>
      <p:grpSpPr>
        <a:xfrm>
          <a:off x="0" y="0"/>
          <a:ext cx="0" cy="0"/>
          <a:chOff x="0" y="0"/>
          <a:chExt cx="0" cy="0"/>
        </a:xfrm>
      </p:grpSpPr>
      <p:pic>
        <p:nvPicPr>
          <p:cNvPr id="2" name="Image 0" descr="https://kimi-img.moonshot.cn/pub/slides/slides_tmpl/image/25-08-27-20:07:28-d2nfa018bjvh7rlj0eug.jpg"/>
          <p:cNvPicPr>
            <a:picLocks noChangeAspect="1"/>
          </p:cNvPicPr>
          <p:nvPr/>
        </p:nvPicPr>
        <p:blipFill>
          <a:blip r:embed="rId1"/>
          <a:stretch>
            <a:fillRect/>
          </a:stretch>
        </p:blipFill>
        <p:spPr>
          <a:xfrm>
            <a:off x="0" y="0"/>
            <a:ext cx="12192635" cy="6858000"/>
          </a:xfrm>
          <a:prstGeom prst="rect">
            <a:avLst/>
          </a:prstGeom>
        </p:spPr>
      </p:pic>
      <p:sp>
        <p:nvSpPr>
          <p:cNvPr id="3" name="Text 0"/>
          <p:cNvSpPr/>
          <p:nvPr/>
        </p:nvSpPr>
        <p:spPr>
          <a:xfrm>
            <a:off x="423545" y="3815080"/>
            <a:ext cx="5547360" cy="492125"/>
          </a:xfrm>
          <a:prstGeom prst="rect">
            <a:avLst/>
          </a:prstGeom>
          <a:noFill/>
        </p:spPr>
        <p:txBody>
          <a:bodyPr wrap="square" lIns="0" tIns="0" rIns="0" bIns="0" rtlCol="0" anchor="t">
            <a:spAutoFit/>
          </a:bodyPr>
          <a:lstStyle/>
          <a:p>
            <a:pPr marL="0" indent="0" algn="ctr">
              <a:lnSpc>
                <a:spcPct val="100000"/>
              </a:lnSpc>
              <a:buNone/>
            </a:pPr>
            <a:r>
              <a:rPr lang="en-US" sz="3200" dirty="0">
                <a:solidFill>
                  <a:srgbClr val="1D31E2"/>
                </a:solidFill>
                <a:latin typeface="MiSans" pitchFamily="34" charset="-122"/>
                <a:ea typeface="MiSans" pitchFamily="34" charset="-122"/>
                <a:cs typeface="MiSans" pitchFamily="34" charset="-120"/>
              </a:rPr>
              <a:t>Biểu hiện nổi bật</a:t>
            </a:r>
            <a:endParaRPr lang="en-US" sz="1600" dirty="0"/>
          </a:p>
        </p:txBody>
      </p:sp>
      <p:pic>
        <p:nvPicPr>
          <p:cNvPr id="4" name="Image 1" descr="https://kimi-img.moonshot.cn/pub/slides/slides_tmpl/image/25-08-27-20:07:28-d2nfa018bjvh7rlj0f60.png"/>
          <p:cNvPicPr>
            <a:picLocks noChangeAspect="1"/>
          </p:cNvPicPr>
          <p:nvPr/>
        </p:nvPicPr>
        <p:blipFill>
          <a:blip r:embed="rId2">
            <a:alphaModFix amt="23000"/>
          </a:blip>
          <a:stretch>
            <a:fillRect/>
          </a:stretch>
        </p:blipFill>
        <p:spPr>
          <a:xfrm rot="5400000" flipH="1">
            <a:off x="8475980" y="2972435"/>
            <a:ext cx="1301115" cy="976630"/>
          </a:xfrm>
          <a:prstGeom prst="rect">
            <a:avLst/>
          </a:prstGeom>
        </p:spPr>
      </p:pic>
      <p:sp>
        <p:nvSpPr>
          <p:cNvPr id="5" name="Shape 1"/>
          <p:cNvSpPr/>
          <p:nvPr/>
        </p:nvSpPr>
        <p:spPr>
          <a:xfrm>
            <a:off x="1874550" y="1562096"/>
            <a:ext cx="2284095" cy="2335530"/>
          </a:xfrm>
          <a:prstGeom prst="rect">
            <a:avLst/>
          </a:prstGeom>
          <a:solidFill>
            <a:srgbClr val="000000">
              <a:alpha val="0"/>
            </a:srgbClr>
          </a:solidFill>
        </p:spPr>
      </p:sp>
      <p:sp>
        <p:nvSpPr>
          <p:cNvPr id="6" name="Text 2"/>
          <p:cNvSpPr/>
          <p:nvPr/>
        </p:nvSpPr>
        <p:spPr>
          <a:xfrm>
            <a:off x="1874550" y="1562096"/>
            <a:ext cx="2284095" cy="2335530"/>
          </a:xfrm>
          <a:prstGeom prst="rect">
            <a:avLst/>
          </a:prstGeom>
          <a:noFill/>
        </p:spPr>
        <p:txBody>
          <a:bodyPr wrap="square" lIns="0" tIns="0" rIns="0" bIns="0" rtlCol="0" anchor="t"/>
          <a:lstStyle/>
          <a:p>
            <a:pPr marL="0" indent="0" algn="ctr">
              <a:lnSpc>
                <a:spcPct val="110000"/>
              </a:lnSpc>
              <a:buNone/>
            </a:pPr>
            <a:r>
              <a:rPr lang="en-US" sz="13800" dirty="0">
                <a:solidFill>
                  <a:srgbClr val="1D31E2"/>
                </a:solidFill>
                <a:latin typeface="MiSans" pitchFamily="34" charset="-122"/>
                <a:ea typeface="MiSans" pitchFamily="34" charset="-122"/>
                <a:cs typeface="MiSans" pitchFamily="34" charset="-120"/>
              </a:rPr>
              <a:t>02</a:t>
            </a:r>
            <a:endParaRPr lang="en-US" sz="1600" dirty="0"/>
          </a:p>
        </p:txBody>
      </p:sp>
      <p:pic>
        <p:nvPicPr>
          <p:cNvPr id="7" name="Image 2" descr="https://kimi-img.moonshot.cn/pub/slides/slides_tmpl/image/25-08-27-20:07:28-d2nfa018bjvh7rlj0f70.png"/>
          <p:cNvPicPr>
            <a:picLocks noChangeAspect="1"/>
          </p:cNvPicPr>
          <p:nvPr/>
        </p:nvPicPr>
        <p:blipFill>
          <a:blip r:embed="rId3"/>
          <a:stretch>
            <a:fillRect/>
          </a:stretch>
        </p:blipFill>
        <p:spPr>
          <a:xfrm>
            <a:off x="6001385" y="1950085"/>
            <a:ext cx="4074795" cy="3778250"/>
          </a:xfrm>
          <a:prstGeom prst="rect">
            <a:avLst/>
          </a:prstGeom>
        </p:spPr>
      </p:pic>
      <p:pic>
        <p:nvPicPr>
          <p:cNvPr id="8" name="Image 3" descr="https://kimi-img.moonshot.cn/pub/slides/slides_tmpl/image/25-08-27-20:07:28-d2nfa018bjvh7rlj0eu0.png"/>
          <p:cNvPicPr>
            <a:picLocks noChangeAspect="1"/>
          </p:cNvPicPr>
          <p:nvPr/>
        </p:nvPicPr>
        <p:blipFill>
          <a:blip r:embed="rId4"/>
          <a:stretch>
            <a:fillRect/>
          </a:stretch>
        </p:blipFill>
        <p:spPr>
          <a:xfrm>
            <a:off x="10076180" y="0"/>
            <a:ext cx="2116455" cy="2286000"/>
          </a:xfrm>
          <a:prstGeom prst="rect">
            <a:avLst/>
          </a:prstGeom>
        </p:spPr>
      </p:pic>
      <p:pic>
        <p:nvPicPr>
          <p:cNvPr id="9" name="Image 4" descr="https://kimi-img.moonshot.cn/pub/slides/slides_tmpl/image/25-08-27-20:07:28-d2nfa018bjvh7rlj0et0.png"/>
          <p:cNvPicPr>
            <a:picLocks noChangeAspect="1"/>
          </p:cNvPicPr>
          <p:nvPr/>
        </p:nvPicPr>
        <p:blipFill>
          <a:blip r:embed="rId5"/>
          <a:stretch>
            <a:fillRect/>
          </a:stretch>
        </p:blipFill>
        <p:spPr>
          <a:xfrm>
            <a:off x="0" y="5530850"/>
            <a:ext cx="1684020" cy="132715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08-27-20:07:28-d2nfa018bjvh7rlj0eug.jpg"/>
          <p:cNvPicPr>
            <a:picLocks noChangeAspect="1"/>
          </p:cNvPicPr>
          <p:nvPr/>
        </p:nvPicPr>
        <p:blipFill>
          <a:blip r:embed="rId1"/>
          <a:stretch>
            <a:fillRect/>
          </a:stretch>
        </p:blipFill>
        <p:spPr>
          <a:xfrm>
            <a:off x="0" y="0"/>
            <a:ext cx="12233275" cy="6881495"/>
          </a:xfrm>
          <a:prstGeom prst="rect">
            <a:avLst/>
          </a:prstGeom>
        </p:spPr>
      </p:pic>
      <p:pic>
        <p:nvPicPr>
          <p:cNvPr id="3" name="Image 1" descr="https://kimi-img.moonshot.cn/pub/slides/slides_tmpl/image/25-08-27-20:07:28-d2nfa018bjvh7rlj0et0.png"/>
          <p:cNvPicPr>
            <a:picLocks noChangeAspect="1"/>
          </p:cNvPicPr>
          <p:nvPr/>
        </p:nvPicPr>
        <p:blipFill>
          <a:blip r:embed="rId2"/>
          <a:stretch>
            <a:fillRect/>
          </a:stretch>
        </p:blipFill>
        <p:spPr>
          <a:xfrm>
            <a:off x="0" y="5530850"/>
            <a:ext cx="1684020" cy="1327150"/>
          </a:xfrm>
          <a:prstGeom prst="rect">
            <a:avLst/>
          </a:prstGeom>
        </p:spPr>
      </p:pic>
      <p:pic>
        <p:nvPicPr>
          <p:cNvPr id="4" name="Image 2" descr="https://kimi-img.moonshot.cn/pub/slides/slides_tmpl/image/25-08-27-20:07:28-d2nfa018bjvh7rlj0eu0.png"/>
          <p:cNvPicPr>
            <a:picLocks noChangeAspect="1"/>
          </p:cNvPicPr>
          <p:nvPr/>
        </p:nvPicPr>
        <p:blipFill>
          <a:blip r:embed="rId3"/>
          <a:stretch>
            <a:fillRect/>
          </a:stretch>
        </p:blipFill>
        <p:spPr>
          <a:xfrm>
            <a:off x="10076180" y="0"/>
            <a:ext cx="2116455" cy="2286000"/>
          </a:xfrm>
          <a:prstGeom prst="rect">
            <a:avLst/>
          </a:prstGeom>
        </p:spPr>
      </p:pic>
      <p:sp>
        <p:nvSpPr>
          <p:cNvPr id="5" name="Text 0"/>
          <p:cNvSpPr/>
          <p:nvPr/>
        </p:nvSpPr>
        <p:spPr>
          <a:xfrm>
            <a:off x="254000" y="1930400"/>
            <a:ext cx="12192000" cy="457200"/>
          </a:xfrm>
          <a:prstGeom prst="rect">
            <a:avLst/>
          </a:prstGeom>
          <a:noFill/>
        </p:spPr>
        <p:txBody>
          <a:bodyPr wrap="square" lIns="0" tIns="0" rIns="0" bIns="0" rtlCol="0" anchor="ctr"/>
          <a:lstStyle/>
          <a:p>
            <a:pPr marL="0" indent="0">
              <a:lnSpc>
                <a:spcPct val="100000"/>
              </a:lnSpc>
              <a:buNone/>
            </a:pPr>
            <a:r>
              <a:rPr lang="en-US" sz="3000" dirty="0">
                <a:solidFill>
                  <a:srgbClr val="3341B8"/>
                </a:solidFill>
                <a:latin typeface="MiSans" pitchFamily="34" charset="-122"/>
                <a:ea typeface="MiSans" pitchFamily="34" charset="-122"/>
                <a:cs typeface="MiSans" pitchFamily="34" charset="-120"/>
              </a:rPr>
              <a:t>Tương Tác Xã Hội Đa Chiều</a:t>
            </a:r>
            <a:endParaRPr lang="en-US" sz="1600" dirty="0"/>
          </a:p>
        </p:txBody>
      </p:sp>
      <p:sp>
        <p:nvSpPr>
          <p:cNvPr id="6" name="Text 1"/>
          <p:cNvSpPr/>
          <p:nvPr/>
        </p:nvSpPr>
        <p:spPr>
          <a:xfrm>
            <a:off x="254000" y="2489200"/>
            <a:ext cx="12192000" cy="304800"/>
          </a:xfrm>
          <a:prstGeom prst="rect">
            <a:avLst/>
          </a:prstGeom>
          <a:noFill/>
        </p:spPr>
        <p:txBody>
          <a:bodyPr wrap="square" lIns="0" tIns="0" rIns="0" bIns="0" rtlCol="0" anchor="ctr"/>
          <a:lstStyle/>
          <a:p>
            <a:pPr marL="0" indent="0">
              <a:lnSpc>
                <a:spcPct val="130000"/>
              </a:lnSpc>
              <a:buNone/>
            </a:pPr>
            <a:r>
              <a:rPr lang="en-US" sz="1600" dirty="0">
                <a:solidFill>
                  <a:srgbClr val="34385E"/>
                </a:solidFill>
                <a:latin typeface="MiSans" pitchFamily="34" charset="-122"/>
                <a:ea typeface="MiSans" pitchFamily="34" charset="-122"/>
                <a:cs typeface="MiSans" pitchFamily="34" charset="-120"/>
              </a:rPr>
              <a:t>Duy trì và mở rộng mối quan hệ, hình thành cộng đồng sở thích mới không bị giới hạn địa lý.</a:t>
            </a:r>
            <a:endParaRPr lang="en-US" sz="1600" dirty="0"/>
          </a:p>
        </p:txBody>
      </p:sp>
      <p:sp>
        <p:nvSpPr>
          <p:cNvPr id="7" name="Shape 2"/>
          <p:cNvSpPr/>
          <p:nvPr/>
        </p:nvSpPr>
        <p:spPr>
          <a:xfrm>
            <a:off x="254000" y="3098800"/>
            <a:ext cx="3759200" cy="812800"/>
          </a:xfrm>
          <a:custGeom>
            <a:avLst/>
            <a:gdLst/>
            <a:ahLst/>
            <a:cxnLst/>
            <a:rect l="l" t="t" r="r" b="b"/>
            <a:pathLst>
              <a:path w="3759200" h="812800">
                <a:moveTo>
                  <a:pt x="101600" y="0"/>
                </a:moveTo>
                <a:lnTo>
                  <a:pt x="3657600" y="0"/>
                </a:lnTo>
                <a:cubicBezTo>
                  <a:pt x="3713675" y="0"/>
                  <a:pt x="3759200" y="45525"/>
                  <a:pt x="3759200" y="101600"/>
                </a:cubicBezTo>
                <a:lnTo>
                  <a:pt x="3759200" y="711200"/>
                </a:lnTo>
                <a:cubicBezTo>
                  <a:pt x="3759200" y="767275"/>
                  <a:pt x="3713675" y="812800"/>
                  <a:pt x="3657600" y="812800"/>
                </a:cubicBezTo>
                <a:lnTo>
                  <a:pt x="101600" y="812800"/>
                </a:lnTo>
                <a:cubicBezTo>
                  <a:pt x="45525" y="812800"/>
                  <a:pt x="0" y="767275"/>
                  <a:pt x="0" y="711200"/>
                </a:cubicBezTo>
                <a:lnTo>
                  <a:pt x="0" y="101600"/>
                </a:lnTo>
                <a:cubicBezTo>
                  <a:pt x="0" y="45525"/>
                  <a:pt x="45525" y="0"/>
                  <a:pt x="101600" y="0"/>
                </a:cubicBezTo>
                <a:close/>
              </a:path>
            </a:pathLst>
          </a:custGeom>
          <a:solidFill>
            <a:srgbClr val="3341B8">
              <a:alpha val="10196"/>
            </a:srgbClr>
          </a:solidFill>
        </p:spPr>
      </p:sp>
      <p:sp>
        <p:nvSpPr>
          <p:cNvPr id="8" name="Shape 3"/>
          <p:cNvSpPr/>
          <p:nvPr/>
        </p:nvSpPr>
        <p:spPr>
          <a:xfrm>
            <a:off x="406400" y="3251200"/>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4D5EFF"/>
          </a:solidFill>
        </p:spPr>
      </p:sp>
      <p:sp>
        <p:nvSpPr>
          <p:cNvPr id="9" name="Shape 4"/>
          <p:cNvSpPr/>
          <p:nvPr/>
        </p:nvSpPr>
        <p:spPr>
          <a:xfrm>
            <a:off x="533400" y="3378200"/>
            <a:ext cx="254000" cy="254000"/>
          </a:xfrm>
          <a:custGeom>
            <a:avLst/>
            <a:gdLst/>
            <a:ahLst/>
            <a:cxnLst/>
            <a:rect l="l" t="t" r="r" b="b"/>
            <a:pathLst>
              <a:path w="254000" h="254000">
                <a:moveTo>
                  <a:pt x="127000" y="238125"/>
                </a:moveTo>
                <a:cubicBezTo>
                  <a:pt x="197148" y="238125"/>
                  <a:pt x="254000" y="184795"/>
                  <a:pt x="254000" y="119063"/>
                </a:cubicBezTo>
                <a:cubicBezTo>
                  <a:pt x="254000" y="53330"/>
                  <a:pt x="197148" y="0"/>
                  <a:pt x="127000" y="0"/>
                </a:cubicBezTo>
                <a:cubicBezTo>
                  <a:pt x="56852" y="0"/>
                  <a:pt x="0" y="53330"/>
                  <a:pt x="0" y="119063"/>
                </a:cubicBezTo>
                <a:cubicBezTo>
                  <a:pt x="0" y="146000"/>
                  <a:pt x="9525" y="170805"/>
                  <a:pt x="25598" y="190748"/>
                </a:cubicBezTo>
                <a:lnTo>
                  <a:pt x="1389" y="236538"/>
                </a:lnTo>
                <a:cubicBezTo>
                  <a:pt x="-992" y="241002"/>
                  <a:pt x="-248" y="246459"/>
                  <a:pt x="3175" y="250180"/>
                </a:cubicBezTo>
                <a:cubicBezTo>
                  <a:pt x="6598" y="253901"/>
                  <a:pt x="12005" y="255042"/>
                  <a:pt x="16619" y="253057"/>
                </a:cubicBezTo>
                <a:lnTo>
                  <a:pt x="75357" y="227905"/>
                </a:lnTo>
                <a:cubicBezTo>
                  <a:pt x="91132" y="234454"/>
                  <a:pt x="108595" y="238125"/>
                  <a:pt x="127000" y="238125"/>
                </a:cubicBezTo>
                <a:close/>
                <a:moveTo>
                  <a:pt x="63500" y="103188"/>
                </a:moveTo>
                <a:cubicBezTo>
                  <a:pt x="72262" y="103188"/>
                  <a:pt x="79375" y="110301"/>
                  <a:pt x="79375" y="119063"/>
                </a:cubicBezTo>
                <a:cubicBezTo>
                  <a:pt x="79375" y="127824"/>
                  <a:pt x="72262" y="134938"/>
                  <a:pt x="63500" y="134938"/>
                </a:cubicBezTo>
                <a:cubicBezTo>
                  <a:pt x="54738" y="134938"/>
                  <a:pt x="47625" y="127824"/>
                  <a:pt x="47625" y="119063"/>
                </a:cubicBezTo>
                <a:cubicBezTo>
                  <a:pt x="47625" y="110301"/>
                  <a:pt x="54738" y="103188"/>
                  <a:pt x="63500" y="103188"/>
                </a:cubicBezTo>
                <a:close/>
                <a:moveTo>
                  <a:pt x="127000" y="103188"/>
                </a:moveTo>
                <a:cubicBezTo>
                  <a:pt x="135762" y="103188"/>
                  <a:pt x="142875" y="110301"/>
                  <a:pt x="142875" y="119063"/>
                </a:cubicBezTo>
                <a:cubicBezTo>
                  <a:pt x="142875" y="127824"/>
                  <a:pt x="135762" y="134938"/>
                  <a:pt x="127000" y="134938"/>
                </a:cubicBezTo>
                <a:cubicBezTo>
                  <a:pt x="118238" y="134938"/>
                  <a:pt x="111125" y="127824"/>
                  <a:pt x="111125" y="119063"/>
                </a:cubicBezTo>
                <a:cubicBezTo>
                  <a:pt x="111125" y="110301"/>
                  <a:pt x="118238" y="103188"/>
                  <a:pt x="127000" y="103188"/>
                </a:cubicBezTo>
                <a:close/>
                <a:moveTo>
                  <a:pt x="174625" y="119063"/>
                </a:moveTo>
                <a:cubicBezTo>
                  <a:pt x="174625" y="110301"/>
                  <a:pt x="181738" y="103188"/>
                  <a:pt x="190500" y="103188"/>
                </a:cubicBezTo>
                <a:cubicBezTo>
                  <a:pt x="199262" y="103188"/>
                  <a:pt x="206375" y="110301"/>
                  <a:pt x="206375" y="119063"/>
                </a:cubicBezTo>
                <a:cubicBezTo>
                  <a:pt x="206375" y="127824"/>
                  <a:pt x="199262" y="134938"/>
                  <a:pt x="190500" y="134938"/>
                </a:cubicBezTo>
                <a:cubicBezTo>
                  <a:pt x="181738" y="134938"/>
                  <a:pt x="174625" y="127824"/>
                  <a:pt x="174625" y="119063"/>
                </a:cubicBezTo>
                <a:close/>
              </a:path>
            </a:pathLst>
          </a:custGeom>
          <a:solidFill>
            <a:srgbClr val="FFFFFF"/>
          </a:solidFill>
        </p:spPr>
      </p:sp>
      <p:sp>
        <p:nvSpPr>
          <p:cNvPr id="10" name="Text 5"/>
          <p:cNvSpPr/>
          <p:nvPr/>
        </p:nvSpPr>
        <p:spPr>
          <a:xfrm>
            <a:off x="1066800" y="3352800"/>
            <a:ext cx="2425700" cy="304800"/>
          </a:xfrm>
          <a:prstGeom prst="rect">
            <a:avLst/>
          </a:prstGeom>
          <a:noFill/>
        </p:spPr>
        <p:txBody>
          <a:bodyPr wrap="square" lIns="0" tIns="0" rIns="0" bIns="0" rtlCol="0" anchor="ctr"/>
          <a:lstStyle/>
          <a:p>
            <a:pPr marL="0" indent="0">
              <a:lnSpc>
                <a:spcPct val="130000"/>
              </a:lnSpc>
              <a:buNone/>
            </a:pPr>
            <a:r>
              <a:rPr lang="en-US" sz="1600" dirty="0">
                <a:solidFill>
                  <a:srgbClr val="34385E"/>
                </a:solidFill>
                <a:latin typeface="MiSans" pitchFamily="34" charset="-122"/>
                <a:ea typeface="MiSans" pitchFamily="34" charset="-122"/>
                <a:cs typeface="MiSans" pitchFamily="34" charset="-120"/>
              </a:rPr>
              <a:t>Bình luận &amp; chia sẻ</a:t>
            </a:r>
            <a:endParaRPr lang="en-US" sz="1600" dirty="0"/>
          </a:p>
        </p:txBody>
      </p:sp>
      <p:sp>
        <p:nvSpPr>
          <p:cNvPr id="11" name="Shape 6"/>
          <p:cNvSpPr/>
          <p:nvPr/>
        </p:nvSpPr>
        <p:spPr>
          <a:xfrm>
            <a:off x="4216400" y="3098800"/>
            <a:ext cx="3759200" cy="812800"/>
          </a:xfrm>
          <a:custGeom>
            <a:avLst/>
            <a:gdLst/>
            <a:ahLst/>
            <a:cxnLst/>
            <a:rect l="l" t="t" r="r" b="b"/>
            <a:pathLst>
              <a:path w="3759200" h="812800">
                <a:moveTo>
                  <a:pt x="101600" y="0"/>
                </a:moveTo>
                <a:lnTo>
                  <a:pt x="3657600" y="0"/>
                </a:lnTo>
                <a:cubicBezTo>
                  <a:pt x="3713675" y="0"/>
                  <a:pt x="3759200" y="45525"/>
                  <a:pt x="3759200" y="101600"/>
                </a:cubicBezTo>
                <a:lnTo>
                  <a:pt x="3759200" y="711200"/>
                </a:lnTo>
                <a:cubicBezTo>
                  <a:pt x="3759200" y="767275"/>
                  <a:pt x="3713675" y="812800"/>
                  <a:pt x="3657600" y="812800"/>
                </a:cubicBezTo>
                <a:lnTo>
                  <a:pt x="101600" y="812800"/>
                </a:lnTo>
                <a:cubicBezTo>
                  <a:pt x="45525" y="812800"/>
                  <a:pt x="0" y="767275"/>
                  <a:pt x="0" y="711200"/>
                </a:cubicBezTo>
                <a:lnTo>
                  <a:pt x="0" y="101600"/>
                </a:lnTo>
                <a:cubicBezTo>
                  <a:pt x="0" y="45525"/>
                  <a:pt x="45525" y="0"/>
                  <a:pt x="101600" y="0"/>
                </a:cubicBezTo>
                <a:close/>
              </a:path>
            </a:pathLst>
          </a:custGeom>
          <a:solidFill>
            <a:srgbClr val="3341B8">
              <a:alpha val="10196"/>
            </a:srgbClr>
          </a:solidFill>
        </p:spPr>
      </p:sp>
      <p:sp>
        <p:nvSpPr>
          <p:cNvPr id="12" name="Shape 7"/>
          <p:cNvSpPr/>
          <p:nvPr/>
        </p:nvSpPr>
        <p:spPr>
          <a:xfrm>
            <a:off x="4368800" y="3251200"/>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4D5EFF"/>
          </a:solidFill>
        </p:spPr>
      </p:sp>
      <p:sp>
        <p:nvSpPr>
          <p:cNvPr id="13" name="Shape 8"/>
          <p:cNvSpPr/>
          <p:nvPr/>
        </p:nvSpPr>
        <p:spPr>
          <a:xfrm>
            <a:off x="4479925" y="3378200"/>
            <a:ext cx="285750" cy="254000"/>
          </a:xfrm>
          <a:custGeom>
            <a:avLst/>
            <a:gdLst/>
            <a:ahLst/>
            <a:cxnLst/>
            <a:rect l="l" t="t" r="r" b="b"/>
            <a:pathLst>
              <a:path w="285750" h="254000">
                <a:moveTo>
                  <a:pt x="47625" y="31750"/>
                </a:moveTo>
                <a:cubicBezTo>
                  <a:pt x="30113" y="31750"/>
                  <a:pt x="15875" y="45988"/>
                  <a:pt x="15875" y="63500"/>
                </a:cubicBezTo>
                <a:lnTo>
                  <a:pt x="15875" y="190500"/>
                </a:lnTo>
                <a:cubicBezTo>
                  <a:pt x="15875" y="208012"/>
                  <a:pt x="30113" y="222250"/>
                  <a:pt x="47625" y="222250"/>
                </a:cubicBezTo>
                <a:lnTo>
                  <a:pt x="174625" y="222250"/>
                </a:lnTo>
                <a:cubicBezTo>
                  <a:pt x="192137" y="222250"/>
                  <a:pt x="206375" y="208012"/>
                  <a:pt x="206375" y="190500"/>
                </a:cubicBezTo>
                <a:lnTo>
                  <a:pt x="206375" y="63500"/>
                </a:lnTo>
                <a:cubicBezTo>
                  <a:pt x="206375" y="45988"/>
                  <a:pt x="192137" y="31750"/>
                  <a:pt x="174625" y="31750"/>
                </a:cubicBezTo>
                <a:lnTo>
                  <a:pt x="47625" y="31750"/>
                </a:lnTo>
                <a:close/>
                <a:moveTo>
                  <a:pt x="230188" y="166688"/>
                </a:moveTo>
                <a:lnTo>
                  <a:pt x="266650" y="195858"/>
                </a:lnTo>
                <a:cubicBezTo>
                  <a:pt x="268734" y="197545"/>
                  <a:pt x="271314" y="198438"/>
                  <a:pt x="273993" y="198438"/>
                </a:cubicBezTo>
                <a:cubicBezTo>
                  <a:pt x="280491" y="198438"/>
                  <a:pt x="285750" y="193179"/>
                  <a:pt x="285750" y="186680"/>
                </a:cubicBezTo>
                <a:lnTo>
                  <a:pt x="285750" y="67320"/>
                </a:lnTo>
                <a:cubicBezTo>
                  <a:pt x="285750" y="60821"/>
                  <a:pt x="280491" y="55563"/>
                  <a:pt x="273993" y="55563"/>
                </a:cubicBezTo>
                <a:cubicBezTo>
                  <a:pt x="271314" y="55563"/>
                  <a:pt x="268734" y="56455"/>
                  <a:pt x="266650" y="58142"/>
                </a:cubicBezTo>
                <a:lnTo>
                  <a:pt x="230188" y="87313"/>
                </a:lnTo>
                <a:lnTo>
                  <a:pt x="230188" y="166688"/>
                </a:lnTo>
                <a:close/>
              </a:path>
            </a:pathLst>
          </a:custGeom>
          <a:solidFill>
            <a:srgbClr val="FFFFFF"/>
          </a:solidFill>
        </p:spPr>
      </p:sp>
      <p:sp>
        <p:nvSpPr>
          <p:cNvPr id="14" name="Text 9"/>
          <p:cNvSpPr/>
          <p:nvPr/>
        </p:nvSpPr>
        <p:spPr>
          <a:xfrm>
            <a:off x="5029200" y="3352800"/>
            <a:ext cx="1625600" cy="304800"/>
          </a:xfrm>
          <a:prstGeom prst="rect">
            <a:avLst/>
          </a:prstGeom>
          <a:noFill/>
        </p:spPr>
        <p:txBody>
          <a:bodyPr wrap="square" lIns="0" tIns="0" rIns="0" bIns="0" rtlCol="0" anchor="ctr"/>
          <a:lstStyle/>
          <a:p>
            <a:pPr marL="0" indent="0">
              <a:lnSpc>
                <a:spcPct val="130000"/>
              </a:lnSpc>
              <a:buNone/>
            </a:pPr>
            <a:r>
              <a:rPr lang="en-US" sz="1600" dirty="0">
                <a:solidFill>
                  <a:srgbClr val="34385E"/>
                </a:solidFill>
                <a:latin typeface="MiSans" pitchFamily="34" charset="-122"/>
                <a:ea typeface="MiSans" pitchFamily="34" charset="-122"/>
                <a:cs typeface="MiSans" pitchFamily="34" charset="-120"/>
              </a:rPr>
              <a:t>Livestream</a:t>
            </a:r>
            <a:endParaRPr lang="en-US" sz="1600" dirty="0"/>
          </a:p>
        </p:txBody>
      </p:sp>
      <p:sp>
        <p:nvSpPr>
          <p:cNvPr id="15" name="Shape 10"/>
          <p:cNvSpPr/>
          <p:nvPr/>
        </p:nvSpPr>
        <p:spPr>
          <a:xfrm>
            <a:off x="8178800" y="3098800"/>
            <a:ext cx="3759200" cy="812800"/>
          </a:xfrm>
          <a:custGeom>
            <a:avLst/>
            <a:gdLst/>
            <a:ahLst/>
            <a:cxnLst/>
            <a:rect l="l" t="t" r="r" b="b"/>
            <a:pathLst>
              <a:path w="3759200" h="812800">
                <a:moveTo>
                  <a:pt x="101600" y="0"/>
                </a:moveTo>
                <a:lnTo>
                  <a:pt x="3657600" y="0"/>
                </a:lnTo>
                <a:cubicBezTo>
                  <a:pt x="3713675" y="0"/>
                  <a:pt x="3759200" y="45525"/>
                  <a:pt x="3759200" y="101600"/>
                </a:cubicBezTo>
                <a:lnTo>
                  <a:pt x="3759200" y="711200"/>
                </a:lnTo>
                <a:cubicBezTo>
                  <a:pt x="3759200" y="767275"/>
                  <a:pt x="3713675" y="812800"/>
                  <a:pt x="3657600" y="812800"/>
                </a:cubicBezTo>
                <a:lnTo>
                  <a:pt x="101600" y="812800"/>
                </a:lnTo>
                <a:cubicBezTo>
                  <a:pt x="45525" y="812800"/>
                  <a:pt x="0" y="767275"/>
                  <a:pt x="0" y="711200"/>
                </a:cubicBezTo>
                <a:lnTo>
                  <a:pt x="0" y="101600"/>
                </a:lnTo>
                <a:cubicBezTo>
                  <a:pt x="0" y="45525"/>
                  <a:pt x="45525" y="0"/>
                  <a:pt x="101600" y="0"/>
                </a:cubicBezTo>
                <a:close/>
              </a:path>
            </a:pathLst>
          </a:custGeom>
          <a:solidFill>
            <a:srgbClr val="3341B8">
              <a:alpha val="10196"/>
            </a:srgbClr>
          </a:solidFill>
        </p:spPr>
      </p:sp>
      <p:sp>
        <p:nvSpPr>
          <p:cNvPr id="16" name="Shape 11"/>
          <p:cNvSpPr/>
          <p:nvPr/>
        </p:nvSpPr>
        <p:spPr>
          <a:xfrm>
            <a:off x="8331200" y="3251200"/>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4D5EFF"/>
          </a:solidFill>
        </p:spPr>
      </p:sp>
      <p:sp>
        <p:nvSpPr>
          <p:cNvPr id="17" name="Shape 12"/>
          <p:cNvSpPr/>
          <p:nvPr/>
        </p:nvSpPr>
        <p:spPr>
          <a:xfrm>
            <a:off x="8426450" y="3378200"/>
            <a:ext cx="317500" cy="254000"/>
          </a:xfrm>
          <a:custGeom>
            <a:avLst/>
            <a:gdLst/>
            <a:ahLst/>
            <a:cxnLst/>
            <a:rect l="l" t="t" r="r" b="b"/>
            <a:pathLst>
              <a:path w="317500" h="254000">
                <a:moveTo>
                  <a:pt x="158750" y="111125"/>
                </a:moveTo>
                <a:cubicBezTo>
                  <a:pt x="187225" y="111125"/>
                  <a:pt x="210344" y="88007"/>
                  <a:pt x="210344" y="59531"/>
                </a:cubicBezTo>
                <a:cubicBezTo>
                  <a:pt x="210344" y="31056"/>
                  <a:pt x="187225" y="7938"/>
                  <a:pt x="158750" y="7938"/>
                </a:cubicBezTo>
                <a:cubicBezTo>
                  <a:pt x="130275" y="7938"/>
                  <a:pt x="107156" y="31056"/>
                  <a:pt x="107156" y="59531"/>
                </a:cubicBezTo>
                <a:cubicBezTo>
                  <a:pt x="107156" y="88007"/>
                  <a:pt x="130275" y="111125"/>
                  <a:pt x="158750" y="111125"/>
                </a:cubicBezTo>
                <a:close/>
                <a:moveTo>
                  <a:pt x="47625" y="115094"/>
                </a:moveTo>
                <a:cubicBezTo>
                  <a:pt x="67339" y="115094"/>
                  <a:pt x="83344" y="99089"/>
                  <a:pt x="83344" y="79375"/>
                </a:cubicBezTo>
                <a:cubicBezTo>
                  <a:pt x="83344" y="59661"/>
                  <a:pt x="67339" y="43656"/>
                  <a:pt x="47625" y="43656"/>
                </a:cubicBezTo>
                <a:cubicBezTo>
                  <a:pt x="27911" y="43656"/>
                  <a:pt x="11906" y="59661"/>
                  <a:pt x="11906" y="79375"/>
                </a:cubicBezTo>
                <a:cubicBezTo>
                  <a:pt x="11906" y="99089"/>
                  <a:pt x="27911" y="115094"/>
                  <a:pt x="47625" y="115094"/>
                </a:cubicBezTo>
                <a:close/>
                <a:moveTo>
                  <a:pt x="0" y="206375"/>
                </a:moveTo>
                <a:lnTo>
                  <a:pt x="0" y="222250"/>
                </a:lnTo>
                <a:cubicBezTo>
                  <a:pt x="0" y="231031"/>
                  <a:pt x="7094" y="238125"/>
                  <a:pt x="15875" y="238125"/>
                </a:cubicBezTo>
                <a:lnTo>
                  <a:pt x="58886" y="238125"/>
                </a:lnTo>
                <a:cubicBezTo>
                  <a:pt x="56753" y="233263"/>
                  <a:pt x="55563" y="227905"/>
                  <a:pt x="55563" y="222250"/>
                </a:cubicBezTo>
                <a:lnTo>
                  <a:pt x="55563" y="214313"/>
                </a:lnTo>
                <a:cubicBezTo>
                  <a:pt x="55563" y="187920"/>
                  <a:pt x="65484" y="163810"/>
                  <a:pt x="81806" y="145554"/>
                </a:cubicBezTo>
                <a:cubicBezTo>
                  <a:pt x="76002" y="143818"/>
                  <a:pt x="69850" y="142875"/>
                  <a:pt x="63500" y="142875"/>
                </a:cubicBezTo>
                <a:cubicBezTo>
                  <a:pt x="28426" y="142875"/>
                  <a:pt x="0" y="171301"/>
                  <a:pt x="0" y="206375"/>
                </a:cubicBezTo>
                <a:close/>
                <a:moveTo>
                  <a:pt x="305594" y="79375"/>
                </a:moveTo>
                <a:cubicBezTo>
                  <a:pt x="305594" y="59661"/>
                  <a:pt x="289589" y="43656"/>
                  <a:pt x="269875" y="43656"/>
                </a:cubicBezTo>
                <a:cubicBezTo>
                  <a:pt x="250161" y="43656"/>
                  <a:pt x="234156" y="59661"/>
                  <a:pt x="234156" y="79375"/>
                </a:cubicBezTo>
                <a:cubicBezTo>
                  <a:pt x="234156" y="99089"/>
                  <a:pt x="250161" y="115094"/>
                  <a:pt x="269875" y="115094"/>
                </a:cubicBezTo>
                <a:cubicBezTo>
                  <a:pt x="289589" y="115094"/>
                  <a:pt x="305594" y="99089"/>
                  <a:pt x="305594" y="79375"/>
                </a:cubicBezTo>
                <a:close/>
                <a:moveTo>
                  <a:pt x="79375" y="214313"/>
                </a:moveTo>
                <a:lnTo>
                  <a:pt x="79375" y="222250"/>
                </a:lnTo>
                <a:cubicBezTo>
                  <a:pt x="79375" y="231031"/>
                  <a:pt x="86469" y="238125"/>
                  <a:pt x="95250" y="238125"/>
                </a:cubicBezTo>
                <a:lnTo>
                  <a:pt x="173038" y="238125"/>
                </a:lnTo>
                <a:cubicBezTo>
                  <a:pt x="169515" y="227409"/>
                  <a:pt x="169912" y="216098"/>
                  <a:pt x="178346" y="206375"/>
                </a:cubicBezTo>
                <a:cubicBezTo>
                  <a:pt x="171400" y="198338"/>
                  <a:pt x="168176" y="186680"/>
                  <a:pt x="172690" y="174972"/>
                </a:cubicBezTo>
                <a:cubicBezTo>
                  <a:pt x="175964" y="166489"/>
                  <a:pt x="180578" y="158552"/>
                  <a:pt x="186283" y="151507"/>
                </a:cubicBezTo>
                <a:cubicBezTo>
                  <a:pt x="188962" y="148233"/>
                  <a:pt x="192038" y="145703"/>
                  <a:pt x="195362" y="143867"/>
                </a:cubicBezTo>
                <a:cubicBezTo>
                  <a:pt x="184398" y="138162"/>
                  <a:pt x="171946" y="134938"/>
                  <a:pt x="158750" y="134938"/>
                </a:cubicBezTo>
                <a:cubicBezTo>
                  <a:pt x="114895" y="134938"/>
                  <a:pt x="79375" y="170458"/>
                  <a:pt x="79375" y="214313"/>
                </a:cubicBezTo>
                <a:close/>
                <a:moveTo>
                  <a:pt x="309860" y="192435"/>
                </a:moveTo>
                <a:cubicBezTo>
                  <a:pt x="312986" y="190649"/>
                  <a:pt x="314573" y="186928"/>
                  <a:pt x="313234" y="183505"/>
                </a:cubicBezTo>
                <a:cubicBezTo>
                  <a:pt x="310852" y="177354"/>
                  <a:pt x="307529" y="171549"/>
                  <a:pt x="303361" y="166439"/>
                </a:cubicBezTo>
                <a:cubicBezTo>
                  <a:pt x="301079" y="163612"/>
                  <a:pt x="297061" y="163116"/>
                  <a:pt x="293936" y="164951"/>
                </a:cubicBezTo>
                <a:cubicBezTo>
                  <a:pt x="283121" y="171202"/>
                  <a:pt x="269825" y="163562"/>
                  <a:pt x="269825" y="151011"/>
                </a:cubicBezTo>
                <a:cubicBezTo>
                  <a:pt x="269825" y="147389"/>
                  <a:pt x="267395" y="144165"/>
                  <a:pt x="263823" y="143619"/>
                </a:cubicBezTo>
                <a:cubicBezTo>
                  <a:pt x="257423" y="142627"/>
                  <a:pt x="250527" y="142627"/>
                  <a:pt x="244128" y="143619"/>
                </a:cubicBezTo>
                <a:cubicBezTo>
                  <a:pt x="240556" y="144165"/>
                  <a:pt x="238125" y="147389"/>
                  <a:pt x="238125" y="151011"/>
                </a:cubicBezTo>
                <a:cubicBezTo>
                  <a:pt x="238125" y="163512"/>
                  <a:pt x="224830" y="171202"/>
                  <a:pt x="214015" y="164951"/>
                </a:cubicBezTo>
                <a:cubicBezTo>
                  <a:pt x="210889" y="163165"/>
                  <a:pt x="206871" y="163661"/>
                  <a:pt x="204589" y="166439"/>
                </a:cubicBezTo>
                <a:cubicBezTo>
                  <a:pt x="200422" y="171549"/>
                  <a:pt x="197098" y="177354"/>
                  <a:pt x="194717" y="183505"/>
                </a:cubicBezTo>
                <a:cubicBezTo>
                  <a:pt x="193427" y="186879"/>
                  <a:pt x="194965" y="190599"/>
                  <a:pt x="198090" y="192385"/>
                </a:cubicBezTo>
                <a:cubicBezTo>
                  <a:pt x="208955" y="198636"/>
                  <a:pt x="208955" y="213965"/>
                  <a:pt x="198090" y="220266"/>
                </a:cubicBezTo>
                <a:cubicBezTo>
                  <a:pt x="194965" y="222052"/>
                  <a:pt x="193377" y="225772"/>
                  <a:pt x="194717" y="229146"/>
                </a:cubicBezTo>
                <a:cubicBezTo>
                  <a:pt x="197098" y="235297"/>
                  <a:pt x="200422" y="241102"/>
                  <a:pt x="204589" y="246211"/>
                </a:cubicBezTo>
                <a:cubicBezTo>
                  <a:pt x="206871" y="249039"/>
                  <a:pt x="210889" y="249535"/>
                  <a:pt x="214015" y="247700"/>
                </a:cubicBezTo>
                <a:cubicBezTo>
                  <a:pt x="224830" y="241449"/>
                  <a:pt x="238125" y="249138"/>
                  <a:pt x="238125" y="261640"/>
                </a:cubicBezTo>
                <a:cubicBezTo>
                  <a:pt x="238125" y="265261"/>
                  <a:pt x="240556" y="268486"/>
                  <a:pt x="244128" y="269032"/>
                </a:cubicBezTo>
                <a:cubicBezTo>
                  <a:pt x="250527" y="270024"/>
                  <a:pt x="257423" y="270024"/>
                  <a:pt x="263823" y="269032"/>
                </a:cubicBezTo>
                <a:cubicBezTo>
                  <a:pt x="267395" y="268486"/>
                  <a:pt x="269825" y="265261"/>
                  <a:pt x="269825" y="261640"/>
                </a:cubicBezTo>
                <a:cubicBezTo>
                  <a:pt x="269825" y="249138"/>
                  <a:pt x="283121" y="241449"/>
                  <a:pt x="293936" y="247700"/>
                </a:cubicBezTo>
                <a:cubicBezTo>
                  <a:pt x="297061" y="249486"/>
                  <a:pt x="301079" y="248989"/>
                  <a:pt x="303361" y="246211"/>
                </a:cubicBezTo>
                <a:cubicBezTo>
                  <a:pt x="307529" y="241102"/>
                  <a:pt x="310852" y="235297"/>
                  <a:pt x="313234" y="229146"/>
                </a:cubicBezTo>
                <a:cubicBezTo>
                  <a:pt x="314523" y="225772"/>
                  <a:pt x="312986" y="222052"/>
                  <a:pt x="309860" y="220266"/>
                </a:cubicBezTo>
                <a:cubicBezTo>
                  <a:pt x="298996" y="214015"/>
                  <a:pt x="298996" y="198686"/>
                  <a:pt x="309860" y="192385"/>
                </a:cubicBezTo>
                <a:close/>
                <a:moveTo>
                  <a:pt x="234156" y="206375"/>
                </a:moveTo>
                <a:cubicBezTo>
                  <a:pt x="234156" y="195423"/>
                  <a:pt x="243048" y="186531"/>
                  <a:pt x="254000" y="186531"/>
                </a:cubicBezTo>
                <a:cubicBezTo>
                  <a:pt x="264952" y="186531"/>
                  <a:pt x="273844" y="195423"/>
                  <a:pt x="273844" y="206375"/>
                </a:cubicBezTo>
                <a:cubicBezTo>
                  <a:pt x="273844" y="217327"/>
                  <a:pt x="264952" y="226219"/>
                  <a:pt x="254000" y="226219"/>
                </a:cubicBezTo>
                <a:cubicBezTo>
                  <a:pt x="243048" y="226219"/>
                  <a:pt x="234156" y="217327"/>
                  <a:pt x="234156" y="206375"/>
                </a:cubicBezTo>
                <a:close/>
              </a:path>
            </a:pathLst>
          </a:custGeom>
          <a:solidFill>
            <a:srgbClr val="FFFFFF"/>
          </a:solidFill>
        </p:spPr>
      </p:sp>
      <p:sp>
        <p:nvSpPr>
          <p:cNvPr id="18" name="Text 13"/>
          <p:cNvSpPr/>
          <p:nvPr/>
        </p:nvSpPr>
        <p:spPr>
          <a:xfrm>
            <a:off x="8991600" y="3352800"/>
            <a:ext cx="1524000" cy="304800"/>
          </a:xfrm>
          <a:prstGeom prst="rect">
            <a:avLst/>
          </a:prstGeom>
          <a:noFill/>
        </p:spPr>
        <p:txBody>
          <a:bodyPr wrap="square" lIns="0" tIns="0" rIns="0" bIns="0" rtlCol="0" anchor="ctr"/>
          <a:lstStyle/>
          <a:p>
            <a:pPr marL="0" indent="0">
              <a:lnSpc>
                <a:spcPct val="130000"/>
              </a:lnSpc>
              <a:buNone/>
            </a:pPr>
            <a:r>
              <a:rPr lang="en-US" sz="1600" dirty="0">
                <a:solidFill>
                  <a:srgbClr val="34385E"/>
                </a:solidFill>
                <a:latin typeface="MiSans" pitchFamily="34" charset="-122"/>
                <a:ea typeface="MiSans" pitchFamily="34" charset="-122"/>
                <a:cs typeface="MiSans" pitchFamily="34" charset="-120"/>
              </a:rPr>
              <a:t>Nhóm kín</a:t>
            </a:r>
            <a:endParaRPr lang="en-US" sz="1600" dirty="0"/>
          </a:p>
        </p:txBody>
      </p:sp>
      <p:sp>
        <p:nvSpPr>
          <p:cNvPr id="19" name="Shape 14"/>
          <p:cNvSpPr/>
          <p:nvPr/>
        </p:nvSpPr>
        <p:spPr>
          <a:xfrm>
            <a:off x="254000" y="4114800"/>
            <a:ext cx="3759200" cy="812800"/>
          </a:xfrm>
          <a:custGeom>
            <a:avLst/>
            <a:gdLst/>
            <a:ahLst/>
            <a:cxnLst/>
            <a:rect l="l" t="t" r="r" b="b"/>
            <a:pathLst>
              <a:path w="3759200" h="812800">
                <a:moveTo>
                  <a:pt x="101600" y="0"/>
                </a:moveTo>
                <a:lnTo>
                  <a:pt x="3657600" y="0"/>
                </a:lnTo>
                <a:cubicBezTo>
                  <a:pt x="3713675" y="0"/>
                  <a:pt x="3759200" y="45525"/>
                  <a:pt x="3759200" y="101600"/>
                </a:cubicBezTo>
                <a:lnTo>
                  <a:pt x="3759200" y="711200"/>
                </a:lnTo>
                <a:cubicBezTo>
                  <a:pt x="3759200" y="767275"/>
                  <a:pt x="3713675" y="812800"/>
                  <a:pt x="3657600" y="812800"/>
                </a:cubicBezTo>
                <a:lnTo>
                  <a:pt x="101600" y="812800"/>
                </a:lnTo>
                <a:cubicBezTo>
                  <a:pt x="45525" y="812800"/>
                  <a:pt x="0" y="767275"/>
                  <a:pt x="0" y="711200"/>
                </a:cubicBezTo>
                <a:lnTo>
                  <a:pt x="0" y="101600"/>
                </a:lnTo>
                <a:cubicBezTo>
                  <a:pt x="0" y="45525"/>
                  <a:pt x="45525" y="0"/>
                  <a:pt x="101600" y="0"/>
                </a:cubicBezTo>
                <a:close/>
              </a:path>
            </a:pathLst>
          </a:custGeom>
          <a:solidFill>
            <a:srgbClr val="3341B8">
              <a:alpha val="10196"/>
            </a:srgbClr>
          </a:solidFill>
        </p:spPr>
      </p:sp>
      <p:sp>
        <p:nvSpPr>
          <p:cNvPr id="20" name="Shape 15"/>
          <p:cNvSpPr/>
          <p:nvPr/>
        </p:nvSpPr>
        <p:spPr>
          <a:xfrm>
            <a:off x="406400" y="4267200"/>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4D5EFF"/>
          </a:solidFill>
        </p:spPr>
      </p:sp>
      <p:sp>
        <p:nvSpPr>
          <p:cNvPr id="21" name="Shape 16"/>
          <p:cNvSpPr/>
          <p:nvPr/>
        </p:nvSpPr>
        <p:spPr>
          <a:xfrm>
            <a:off x="533400" y="4394200"/>
            <a:ext cx="254000" cy="254000"/>
          </a:xfrm>
          <a:custGeom>
            <a:avLst/>
            <a:gdLst/>
            <a:ahLst/>
            <a:cxnLst/>
            <a:rect l="l" t="t" r="r" b="b"/>
            <a:pathLst>
              <a:path w="254000" h="254000">
                <a:moveTo>
                  <a:pt x="127000" y="254000"/>
                </a:moveTo>
                <a:cubicBezTo>
                  <a:pt x="197093" y="254000"/>
                  <a:pt x="254000" y="197093"/>
                  <a:pt x="254000" y="127000"/>
                </a:cubicBezTo>
                <a:cubicBezTo>
                  <a:pt x="254000" y="56907"/>
                  <a:pt x="197093" y="0"/>
                  <a:pt x="127000" y="0"/>
                </a:cubicBezTo>
                <a:cubicBezTo>
                  <a:pt x="56907" y="0"/>
                  <a:pt x="0" y="56907"/>
                  <a:pt x="0" y="127000"/>
                </a:cubicBezTo>
                <a:cubicBezTo>
                  <a:pt x="0" y="197093"/>
                  <a:pt x="56907" y="254000"/>
                  <a:pt x="127000" y="254000"/>
                </a:cubicBezTo>
                <a:close/>
                <a:moveTo>
                  <a:pt x="82054" y="159693"/>
                </a:moveTo>
                <a:cubicBezTo>
                  <a:pt x="92174" y="173583"/>
                  <a:pt x="108545" y="182563"/>
                  <a:pt x="127000" y="182563"/>
                </a:cubicBezTo>
                <a:cubicBezTo>
                  <a:pt x="145455" y="182563"/>
                  <a:pt x="161826" y="173583"/>
                  <a:pt x="171946" y="159693"/>
                </a:cubicBezTo>
                <a:cubicBezTo>
                  <a:pt x="175816" y="154384"/>
                  <a:pt x="183257" y="153194"/>
                  <a:pt x="188565" y="157063"/>
                </a:cubicBezTo>
                <a:cubicBezTo>
                  <a:pt x="193873" y="160933"/>
                  <a:pt x="195064" y="168374"/>
                  <a:pt x="191195" y="173682"/>
                </a:cubicBezTo>
                <a:cubicBezTo>
                  <a:pt x="176758" y="193477"/>
                  <a:pt x="153392" y="206375"/>
                  <a:pt x="127000" y="206375"/>
                </a:cubicBezTo>
                <a:cubicBezTo>
                  <a:pt x="100608" y="206375"/>
                  <a:pt x="77242" y="193477"/>
                  <a:pt x="62805" y="173682"/>
                </a:cubicBezTo>
                <a:cubicBezTo>
                  <a:pt x="58936" y="168374"/>
                  <a:pt x="60127" y="160933"/>
                  <a:pt x="65435" y="157063"/>
                </a:cubicBezTo>
                <a:cubicBezTo>
                  <a:pt x="70743" y="153194"/>
                  <a:pt x="78184" y="154384"/>
                  <a:pt x="82054" y="159693"/>
                </a:cubicBezTo>
                <a:close/>
                <a:moveTo>
                  <a:pt x="71438" y="103188"/>
                </a:moveTo>
                <a:cubicBezTo>
                  <a:pt x="71438" y="94426"/>
                  <a:pt x="78551" y="87313"/>
                  <a:pt x="87313" y="87313"/>
                </a:cubicBezTo>
                <a:cubicBezTo>
                  <a:pt x="96074" y="87313"/>
                  <a:pt x="103188" y="94426"/>
                  <a:pt x="103188" y="103188"/>
                </a:cubicBezTo>
                <a:cubicBezTo>
                  <a:pt x="103188" y="111949"/>
                  <a:pt x="96074" y="119063"/>
                  <a:pt x="87313" y="119063"/>
                </a:cubicBezTo>
                <a:cubicBezTo>
                  <a:pt x="78551" y="119063"/>
                  <a:pt x="71438" y="111949"/>
                  <a:pt x="71438" y="103188"/>
                </a:cubicBezTo>
                <a:close/>
                <a:moveTo>
                  <a:pt x="166688" y="87313"/>
                </a:moveTo>
                <a:cubicBezTo>
                  <a:pt x="175449" y="87313"/>
                  <a:pt x="182563" y="94426"/>
                  <a:pt x="182563" y="103188"/>
                </a:cubicBezTo>
                <a:cubicBezTo>
                  <a:pt x="182563" y="111949"/>
                  <a:pt x="175449" y="119063"/>
                  <a:pt x="166688" y="119063"/>
                </a:cubicBezTo>
                <a:cubicBezTo>
                  <a:pt x="157926" y="119063"/>
                  <a:pt x="150813" y="111949"/>
                  <a:pt x="150813" y="103188"/>
                </a:cubicBezTo>
                <a:cubicBezTo>
                  <a:pt x="150813" y="94426"/>
                  <a:pt x="157926" y="87313"/>
                  <a:pt x="166688" y="87313"/>
                </a:cubicBezTo>
                <a:close/>
              </a:path>
            </a:pathLst>
          </a:custGeom>
          <a:solidFill>
            <a:srgbClr val="FFFFFF"/>
          </a:solidFill>
        </p:spPr>
      </p:sp>
      <p:sp>
        <p:nvSpPr>
          <p:cNvPr id="22" name="Text 17"/>
          <p:cNvSpPr/>
          <p:nvPr/>
        </p:nvSpPr>
        <p:spPr>
          <a:xfrm>
            <a:off x="1066800" y="4368800"/>
            <a:ext cx="2463800" cy="304800"/>
          </a:xfrm>
          <a:prstGeom prst="rect">
            <a:avLst/>
          </a:prstGeom>
          <a:noFill/>
        </p:spPr>
        <p:txBody>
          <a:bodyPr wrap="square" lIns="0" tIns="0" rIns="0" bIns="0" rtlCol="0" anchor="ctr"/>
          <a:lstStyle/>
          <a:p>
            <a:pPr marL="0" indent="0">
              <a:lnSpc>
                <a:spcPct val="130000"/>
              </a:lnSpc>
              <a:buNone/>
            </a:pPr>
            <a:r>
              <a:rPr lang="en-US" sz="1600" dirty="0">
                <a:solidFill>
                  <a:srgbClr val="34385E"/>
                </a:solidFill>
                <a:latin typeface="MiSans" pitchFamily="34" charset="-122"/>
                <a:ea typeface="MiSans" pitchFamily="34" charset="-122"/>
                <a:cs typeface="MiSans" pitchFamily="34" charset="-120"/>
              </a:rPr>
              <a:t>Biểu tượng cảm xúc</a:t>
            </a:r>
            <a:endParaRPr lang="en-US" sz="1600" dirty="0"/>
          </a:p>
        </p:txBody>
      </p:sp>
      <p:sp>
        <p:nvSpPr>
          <p:cNvPr id="23" name="Shape 18"/>
          <p:cNvSpPr/>
          <p:nvPr/>
        </p:nvSpPr>
        <p:spPr>
          <a:xfrm>
            <a:off x="4216400" y="4114800"/>
            <a:ext cx="3759200" cy="812800"/>
          </a:xfrm>
          <a:custGeom>
            <a:avLst/>
            <a:gdLst/>
            <a:ahLst/>
            <a:cxnLst/>
            <a:rect l="l" t="t" r="r" b="b"/>
            <a:pathLst>
              <a:path w="3759200" h="812800">
                <a:moveTo>
                  <a:pt x="101600" y="0"/>
                </a:moveTo>
                <a:lnTo>
                  <a:pt x="3657600" y="0"/>
                </a:lnTo>
                <a:cubicBezTo>
                  <a:pt x="3713675" y="0"/>
                  <a:pt x="3759200" y="45525"/>
                  <a:pt x="3759200" y="101600"/>
                </a:cubicBezTo>
                <a:lnTo>
                  <a:pt x="3759200" y="711200"/>
                </a:lnTo>
                <a:cubicBezTo>
                  <a:pt x="3759200" y="767275"/>
                  <a:pt x="3713675" y="812800"/>
                  <a:pt x="3657600" y="812800"/>
                </a:cubicBezTo>
                <a:lnTo>
                  <a:pt x="101600" y="812800"/>
                </a:lnTo>
                <a:cubicBezTo>
                  <a:pt x="45525" y="812800"/>
                  <a:pt x="0" y="767275"/>
                  <a:pt x="0" y="711200"/>
                </a:cubicBezTo>
                <a:lnTo>
                  <a:pt x="0" y="101600"/>
                </a:lnTo>
                <a:cubicBezTo>
                  <a:pt x="0" y="45525"/>
                  <a:pt x="45525" y="0"/>
                  <a:pt x="101600" y="0"/>
                </a:cubicBezTo>
                <a:close/>
              </a:path>
            </a:pathLst>
          </a:custGeom>
          <a:solidFill>
            <a:srgbClr val="3341B8">
              <a:alpha val="10196"/>
            </a:srgbClr>
          </a:solidFill>
        </p:spPr>
      </p:sp>
      <p:sp>
        <p:nvSpPr>
          <p:cNvPr id="24" name="Shape 19"/>
          <p:cNvSpPr/>
          <p:nvPr/>
        </p:nvSpPr>
        <p:spPr>
          <a:xfrm>
            <a:off x="4368800" y="4267200"/>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4D5EFF"/>
          </a:solidFill>
        </p:spPr>
      </p:sp>
      <p:sp>
        <p:nvSpPr>
          <p:cNvPr id="25" name="Shape 20"/>
          <p:cNvSpPr/>
          <p:nvPr/>
        </p:nvSpPr>
        <p:spPr>
          <a:xfrm>
            <a:off x="4464050" y="4394200"/>
            <a:ext cx="317500" cy="254000"/>
          </a:xfrm>
          <a:custGeom>
            <a:avLst/>
            <a:gdLst/>
            <a:ahLst/>
            <a:cxnLst/>
            <a:rect l="l" t="t" r="r" b="b"/>
            <a:pathLst>
              <a:path w="317500" h="254000">
                <a:moveTo>
                  <a:pt x="127050" y="3969"/>
                </a:moveTo>
                <a:cubicBezTo>
                  <a:pt x="159906" y="3969"/>
                  <a:pt x="186581" y="30644"/>
                  <a:pt x="186581" y="63500"/>
                </a:cubicBezTo>
                <a:cubicBezTo>
                  <a:pt x="186581" y="96356"/>
                  <a:pt x="159906" y="123031"/>
                  <a:pt x="127050" y="123031"/>
                </a:cubicBezTo>
                <a:cubicBezTo>
                  <a:pt x="94193" y="123031"/>
                  <a:pt x="67518" y="96356"/>
                  <a:pt x="67518" y="63500"/>
                </a:cubicBezTo>
                <a:cubicBezTo>
                  <a:pt x="67518" y="30644"/>
                  <a:pt x="94193" y="3969"/>
                  <a:pt x="127050" y="3969"/>
                </a:cubicBezTo>
                <a:close/>
                <a:moveTo>
                  <a:pt x="112316" y="150813"/>
                </a:moveTo>
                <a:lnTo>
                  <a:pt x="141784" y="150813"/>
                </a:lnTo>
                <a:cubicBezTo>
                  <a:pt x="145107" y="150813"/>
                  <a:pt x="148332" y="151011"/>
                  <a:pt x="151557" y="151358"/>
                </a:cubicBezTo>
                <a:cubicBezTo>
                  <a:pt x="151110" y="153789"/>
                  <a:pt x="150862" y="156270"/>
                  <a:pt x="150862" y="158800"/>
                </a:cubicBezTo>
                <a:lnTo>
                  <a:pt x="150862" y="204490"/>
                </a:lnTo>
                <a:cubicBezTo>
                  <a:pt x="150862" y="217140"/>
                  <a:pt x="155873" y="229245"/>
                  <a:pt x="164802" y="238175"/>
                </a:cubicBezTo>
                <a:lnTo>
                  <a:pt x="180628" y="254000"/>
                </a:lnTo>
                <a:lnTo>
                  <a:pt x="38596" y="254000"/>
                </a:lnTo>
                <a:cubicBezTo>
                  <a:pt x="30460" y="254000"/>
                  <a:pt x="23862" y="247402"/>
                  <a:pt x="23862" y="239266"/>
                </a:cubicBezTo>
                <a:cubicBezTo>
                  <a:pt x="23862" y="190401"/>
                  <a:pt x="63450" y="150813"/>
                  <a:pt x="112316" y="150813"/>
                </a:cubicBezTo>
                <a:close/>
                <a:moveTo>
                  <a:pt x="174675" y="204490"/>
                </a:moveTo>
                <a:lnTo>
                  <a:pt x="174675" y="158800"/>
                </a:lnTo>
                <a:cubicBezTo>
                  <a:pt x="174675" y="150019"/>
                  <a:pt x="181769" y="142925"/>
                  <a:pt x="190550" y="142925"/>
                </a:cubicBezTo>
                <a:lnTo>
                  <a:pt x="236240" y="142925"/>
                </a:lnTo>
                <a:cubicBezTo>
                  <a:pt x="242540" y="142925"/>
                  <a:pt x="248593" y="145455"/>
                  <a:pt x="253057" y="149920"/>
                </a:cubicBezTo>
                <a:lnTo>
                  <a:pt x="300682" y="197545"/>
                </a:lnTo>
                <a:cubicBezTo>
                  <a:pt x="309959" y="206821"/>
                  <a:pt x="309959" y="221903"/>
                  <a:pt x="300682" y="231229"/>
                </a:cubicBezTo>
                <a:lnTo>
                  <a:pt x="262930" y="268982"/>
                </a:lnTo>
                <a:cubicBezTo>
                  <a:pt x="253653" y="278259"/>
                  <a:pt x="238571" y="278259"/>
                  <a:pt x="229245" y="268982"/>
                </a:cubicBezTo>
                <a:lnTo>
                  <a:pt x="181620" y="221357"/>
                </a:lnTo>
                <a:cubicBezTo>
                  <a:pt x="177155" y="216892"/>
                  <a:pt x="174625" y="210840"/>
                  <a:pt x="174625" y="204539"/>
                </a:cubicBezTo>
                <a:close/>
                <a:moveTo>
                  <a:pt x="226268" y="182563"/>
                </a:moveTo>
                <a:cubicBezTo>
                  <a:pt x="226268" y="175991"/>
                  <a:pt x="220933" y="170656"/>
                  <a:pt x="214362" y="170656"/>
                </a:cubicBezTo>
                <a:cubicBezTo>
                  <a:pt x="207791" y="170656"/>
                  <a:pt x="202456" y="175991"/>
                  <a:pt x="202456" y="182563"/>
                </a:cubicBezTo>
                <a:cubicBezTo>
                  <a:pt x="202456" y="189134"/>
                  <a:pt x="207791" y="194469"/>
                  <a:pt x="214362" y="194469"/>
                </a:cubicBezTo>
                <a:cubicBezTo>
                  <a:pt x="220933" y="194469"/>
                  <a:pt x="226268" y="189134"/>
                  <a:pt x="226268" y="182563"/>
                </a:cubicBezTo>
                <a:close/>
              </a:path>
            </a:pathLst>
          </a:custGeom>
          <a:solidFill>
            <a:srgbClr val="FFFFFF"/>
          </a:solidFill>
        </p:spPr>
      </p:sp>
      <p:sp>
        <p:nvSpPr>
          <p:cNvPr id="26" name="Text 21"/>
          <p:cNvSpPr/>
          <p:nvPr/>
        </p:nvSpPr>
        <p:spPr>
          <a:xfrm>
            <a:off x="5029200" y="4368800"/>
            <a:ext cx="1625600" cy="304800"/>
          </a:xfrm>
          <a:prstGeom prst="rect">
            <a:avLst/>
          </a:prstGeom>
          <a:noFill/>
        </p:spPr>
        <p:txBody>
          <a:bodyPr wrap="square" lIns="0" tIns="0" rIns="0" bIns="0" rtlCol="0" anchor="ctr"/>
          <a:lstStyle/>
          <a:p>
            <a:pPr marL="0" indent="0">
              <a:lnSpc>
                <a:spcPct val="130000"/>
              </a:lnSpc>
              <a:buNone/>
            </a:pPr>
            <a:r>
              <a:rPr lang="en-US" sz="1600" dirty="0">
                <a:solidFill>
                  <a:srgbClr val="34385E"/>
                </a:solidFill>
                <a:latin typeface="MiSans" pitchFamily="34" charset="-122"/>
                <a:ea typeface="MiSans" pitchFamily="34" charset="-122"/>
                <a:cs typeface="MiSans" pitchFamily="34" charset="-120"/>
              </a:rPr>
              <a:t>Tag bạn bè</a:t>
            </a:r>
            <a:endParaRPr lang="en-US" sz="1600" dirty="0"/>
          </a:p>
        </p:txBody>
      </p:sp>
      <p:sp>
        <p:nvSpPr>
          <p:cNvPr id="27" name="Shape 22"/>
          <p:cNvSpPr/>
          <p:nvPr/>
        </p:nvSpPr>
        <p:spPr>
          <a:xfrm>
            <a:off x="8178800" y="4114800"/>
            <a:ext cx="3759200" cy="812800"/>
          </a:xfrm>
          <a:custGeom>
            <a:avLst/>
            <a:gdLst/>
            <a:ahLst/>
            <a:cxnLst/>
            <a:rect l="l" t="t" r="r" b="b"/>
            <a:pathLst>
              <a:path w="3759200" h="812800">
                <a:moveTo>
                  <a:pt x="101600" y="0"/>
                </a:moveTo>
                <a:lnTo>
                  <a:pt x="3657600" y="0"/>
                </a:lnTo>
                <a:cubicBezTo>
                  <a:pt x="3713675" y="0"/>
                  <a:pt x="3759200" y="45525"/>
                  <a:pt x="3759200" y="101600"/>
                </a:cubicBezTo>
                <a:lnTo>
                  <a:pt x="3759200" y="711200"/>
                </a:lnTo>
                <a:cubicBezTo>
                  <a:pt x="3759200" y="767275"/>
                  <a:pt x="3713675" y="812800"/>
                  <a:pt x="3657600" y="812800"/>
                </a:cubicBezTo>
                <a:lnTo>
                  <a:pt x="101600" y="812800"/>
                </a:lnTo>
                <a:cubicBezTo>
                  <a:pt x="45525" y="812800"/>
                  <a:pt x="0" y="767275"/>
                  <a:pt x="0" y="711200"/>
                </a:cubicBezTo>
                <a:lnTo>
                  <a:pt x="0" y="101600"/>
                </a:lnTo>
                <a:cubicBezTo>
                  <a:pt x="0" y="45525"/>
                  <a:pt x="45525" y="0"/>
                  <a:pt x="101600" y="0"/>
                </a:cubicBezTo>
                <a:close/>
              </a:path>
            </a:pathLst>
          </a:custGeom>
          <a:solidFill>
            <a:srgbClr val="3341B8">
              <a:alpha val="10196"/>
            </a:srgbClr>
          </a:solidFill>
        </p:spPr>
      </p:sp>
      <p:sp>
        <p:nvSpPr>
          <p:cNvPr id="28" name="Shape 23"/>
          <p:cNvSpPr/>
          <p:nvPr/>
        </p:nvSpPr>
        <p:spPr>
          <a:xfrm>
            <a:off x="8331200" y="4267200"/>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4D5EFF"/>
          </a:solidFill>
        </p:spPr>
      </p:sp>
      <p:sp>
        <p:nvSpPr>
          <p:cNvPr id="29" name="Shape 24"/>
          <p:cNvSpPr/>
          <p:nvPr/>
        </p:nvSpPr>
        <p:spPr>
          <a:xfrm>
            <a:off x="8474075" y="4394200"/>
            <a:ext cx="222250" cy="254000"/>
          </a:xfrm>
          <a:custGeom>
            <a:avLst/>
            <a:gdLst/>
            <a:ahLst/>
            <a:cxnLst/>
            <a:rect l="l" t="t" r="r" b="b"/>
            <a:pathLst>
              <a:path w="222250" h="254000">
                <a:moveTo>
                  <a:pt x="63500" y="0"/>
                </a:moveTo>
                <a:cubicBezTo>
                  <a:pt x="72281" y="0"/>
                  <a:pt x="79375" y="7094"/>
                  <a:pt x="79375" y="15875"/>
                </a:cubicBezTo>
                <a:lnTo>
                  <a:pt x="79375" y="31750"/>
                </a:lnTo>
                <a:lnTo>
                  <a:pt x="142875" y="31750"/>
                </a:lnTo>
                <a:lnTo>
                  <a:pt x="142875" y="15875"/>
                </a:lnTo>
                <a:cubicBezTo>
                  <a:pt x="142875" y="7094"/>
                  <a:pt x="149969" y="0"/>
                  <a:pt x="158750" y="0"/>
                </a:cubicBezTo>
                <a:cubicBezTo>
                  <a:pt x="167531" y="0"/>
                  <a:pt x="174625" y="7094"/>
                  <a:pt x="174625" y="15875"/>
                </a:cubicBezTo>
                <a:lnTo>
                  <a:pt x="174625" y="31750"/>
                </a:lnTo>
                <a:lnTo>
                  <a:pt x="190500" y="31750"/>
                </a:lnTo>
                <a:cubicBezTo>
                  <a:pt x="208012" y="31750"/>
                  <a:pt x="222250" y="45988"/>
                  <a:pt x="222250" y="63500"/>
                </a:cubicBezTo>
                <a:lnTo>
                  <a:pt x="222250" y="206375"/>
                </a:lnTo>
                <a:cubicBezTo>
                  <a:pt x="222250" y="223887"/>
                  <a:pt x="208012" y="238125"/>
                  <a:pt x="190500" y="238125"/>
                </a:cubicBezTo>
                <a:lnTo>
                  <a:pt x="31750" y="238125"/>
                </a:lnTo>
                <a:cubicBezTo>
                  <a:pt x="14238" y="238125"/>
                  <a:pt x="0" y="223887"/>
                  <a:pt x="0" y="206375"/>
                </a:cubicBezTo>
                <a:lnTo>
                  <a:pt x="0" y="63500"/>
                </a:lnTo>
                <a:cubicBezTo>
                  <a:pt x="0" y="45988"/>
                  <a:pt x="14238" y="31750"/>
                  <a:pt x="31750" y="31750"/>
                </a:cubicBezTo>
                <a:lnTo>
                  <a:pt x="47625" y="31750"/>
                </a:lnTo>
                <a:lnTo>
                  <a:pt x="47625" y="15875"/>
                </a:lnTo>
                <a:cubicBezTo>
                  <a:pt x="47625" y="7094"/>
                  <a:pt x="54719" y="0"/>
                  <a:pt x="63500" y="0"/>
                </a:cubicBezTo>
                <a:close/>
                <a:moveTo>
                  <a:pt x="152995" y="113457"/>
                </a:moveTo>
                <a:cubicBezTo>
                  <a:pt x="156468" y="107900"/>
                  <a:pt x="154781" y="100558"/>
                  <a:pt x="149225" y="97036"/>
                </a:cubicBezTo>
                <a:cubicBezTo>
                  <a:pt x="143669" y="93514"/>
                  <a:pt x="136327" y="95250"/>
                  <a:pt x="132804" y="100806"/>
                </a:cubicBezTo>
                <a:lnTo>
                  <a:pt x="102344" y="149572"/>
                </a:lnTo>
                <a:lnTo>
                  <a:pt x="88950" y="131713"/>
                </a:lnTo>
                <a:cubicBezTo>
                  <a:pt x="84981" y="126454"/>
                  <a:pt x="77539" y="125363"/>
                  <a:pt x="72281" y="129332"/>
                </a:cubicBezTo>
                <a:cubicBezTo>
                  <a:pt x="67022" y="133300"/>
                  <a:pt x="65931" y="140742"/>
                  <a:pt x="69900" y="146000"/>
                </a:cubicBezTo>
                <a:lnTo>
                  <a:pt x="93712" y="177750"/>
                </a:lnTo>
                <a:cubicBezTo>
                  <a:pt x="96044" y="180876"/>
                  <a:pt x="99814" y="182662"/>
                  <a:pt x="103733" y="182513"/>
                </a:cubicBezTo>
                <a:cubicBezTo>
                  <a:pt x="107652" y="182364"/>
                  <a:pt x="111224" y="180280"/>
                  <a:pt x="113308" y="176907"/>
                </a:cubicBezTo>
                <a:lnTo>
                  <a:pt x="152995" y="113407"/>
                </a:lnTo>
                <a:close/>
              </a:path>
            </a:pathLst>
          </a:custGeom>
          <a:solidFill>
            <a:srgbClr val="FFFFFF"/>
          </a:solidFill>
        </p:spPr>
      </p:sp>
      <p:sp>
        <p:nvSpPr>
          <p:cNvPr id="30" name="Text 25"/>
          <p:cNvSpPr/>
          <p:nvPr/>
        </p:nvSpPr>
        <p:spPr>
          <a:xfrm>
            <a:off x="8991600" y="4368800"/>
            <a:ext cx="2286000" cy="304800"/>
          </a:xfrm>
          <a:prstGeom prst="rect">
            <a:avLst/>
          </a:prstGeom>
          <a:noFill/>
        </p:spPr>
        <p:txBody>
          <a:bodyPr wrap="square" lIns="0" tIns="0" rIns="0" bIns="0" rtlCol="0" anchor="ctr"/>
          <a:lstStyle/>
          <a:p>
            <a:pPr marL="0" indent="0">
              <a:lnSpc>
                <a:spcPct val="130000"/>
              </a:lnSpc>
              <a:buNone/>
            </a:pPr>
            <a:r>
              <a:rPr lang="en-US" sz="1600" dirty="0">
                <a:solidFill>
                  <a:srgbClr val="34385E"/>
                </a:solidFill>
                <a:latin typeface="MiSans" pitchFamily="34" charset="-122"/>
                <a:ea typeface="MiSans" pitchFamily="34" charset="-122"/>
                <a:cs typeface="MiSans" pitchFamily="34" charset="-120"/>
              </a:rPr>
              <a:t>Sự kiện trực tuyến</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08-27-20:07:28-d2nfa018bjvh7rlj0eug.jpg"/>
          <p:cNvPicPr>
            <a:picLocks noChangeAspect="1"/>
          </p:cNvPicPr>
          <p:nvPr/>
        </p:nvPicPr>
        <p:blipFill>
          <a:blip r:embed="rId1"/>
          <a:stretch>
            <a:fillRect/>
          </a:stretch>
        </p:blipFill>
        <p:spPr>
          <a:xfrm>
            <a:off x="0" y="0"/>
            <a:ext cx="12233275" cy="6881495"/>
          </a:xfrm>
          <a:prstGeom prst="rect">
            <a:avLst/>
          </a:prstGeom>
        </p:spPr>
      </p:pic>
      <p:pic>
        <p:nvPicPr>
          <p:cNvPr id="3" name="Image 1" descr="https://kimi-img.moonshot.cn/pub/slides/slides_tmpl/image/25-08-27-20:07:28-d2nfa018bjvh7rlj0et0.png"/>
          <p:cNvPicPr>
            <a:picLocks noChangeAspect="1"/>
          </p:cNvPicPr>
          <p:nvPr/>
        </p:nvPicPr>
        <p:blipFill>
          <a:blip r:embed="rId2"/>
          <a:stretch>
            <a:fillRect/>
          </a:stretch>
        </p:blipFill>
        <p:spPr>
          <a:xfrm>
            <a:off x="0" y="5530850"/>
            <a:ext cx="1684020" cy="1327150"/>
          </a:xfrm>
          <a:prstGeom prst="rect">
            <a:avLst/>
          </a:prstGeom>
        </p:spPr>
      </p:pic>
      <p:pic>
        <p:nvPicPr>
          <p:cNvPr id="4" name="Image 2" descr="https://kimi-img.moonshot.cn/pub/slides/slides_tmpl/image/25-08-27-20:07:28-d2nfa018bjvh7rlj0eu0.png"/>
          <p:cNvPicPr>
            <a:picLocks noChangeAspect="1"/>
          </p:cNvPicPr>
          <p:nvPr/>
        </p:nvPicPr>
        <p:blipFill>
          <a:blip r:embed="rId3"/>
          <a:stretch>
            <a:fillRect/>
          </a:stretch>
        </p:blipFill>
        <p:spPr>
          <a:xfrm>
            <a:off x="10076180" y="0"/>
            <a:ext cx="2116455" cy="2286000"/>
          </a:xfrm>
          <a:prstGeom prst="rect">
            <a:avLst/>
          </a:prstGeom>
        </p:spPr>
      </p:pic>
      <p:sp>
        <p:nvSpPr>
          <p:cNvPr id="5" name="Text 0"/>
          <p:cNvSpPr/>
          <p:nvPr/>
        </p:nvSpPr>
        <p:spPr>
          <a:xfrm>
            <a:off x="254000" y="2374900"/>
            <a:ext cx="5638800" cy="914400"/>
          </a:xfrm>
          <a:prstGeom prst="rect">
            <a:avLst/>
          </a:prstGeom>
          <a:noFill/>
        </p:spPr>
        <p:txBody>
          <a:bodyPr wrap="square" lIns="0" tIns="0" rIns="0" bIns="0" rtlCol="0" anchor="ctr"/>
          <a:lstStyle/>
          <a:p>
            <a:pPr marL="0" indent="0">
              <a:lnSpc>
                <a:spcPct val="100000"/>
              </a:lnSpc>
              <a:buNone/>
            </a:pPr>
            <a:r>
              <a:rPr lang="en-US" sz="3000" dirty="0">
                <a:solidFill>
                  <a:srgbClr val="3341B8"/>
                </a:solidFill>
                <a:latin typeface="MiSans" pitchFamily="34" charset="-122"/>
                <a:ea typeface="MiSans" pitchFamily="34" charset="-122"/>
                <a:cs typeface="MiSans" pitchFamily="34" charset="-120"/>
              </a:rPr>
              <a:t>Lan Tỏa Thông Tin &amp; Xu Hướng</a:t>
            </a:r>
            <a:endParaRPr lang="en-US" sz="1600" dirty="0"/>
          </a:p>
        </p:txBody>
      </p:sp>
      <p:sp>
        <p:nvSpPr>
          <p:cNvPr id="6" name="Text 1"/>
          <p:cNvSpPr/>
          <p:nvPr/>
        </p:nvSpPr>
        <p:spPr>
          <a:xfrm>
            <a:off x="254000" y="3492500"/>
            <a:ext cx="5638800" cy="990600"/>
          </a:xfrm>
          <a:prstGeom prst="rect">
            <a:avLst/>
          </a:prstGeom>
          <a:noFill/>
        </p:spPr>
        <p:txBody>
          <a:bodyPr wrap="square" lIns="0" tIns="0" rIns="0" bIns="0" rtlCol="0" anchor="ctr"/>
          <a:lstStyle/>
          <a:p>
            <a:pPr marL="0" indent="0">
              <a:lnSpc>
                <a:spcPct val="140000"/>
              </a:lnSpc>
              <a:buNone/>
            </a:pPr>
            <a:r>
              <a:rPr lang="en-US" sz="1600" dirty="0">
                <a:solidFill>
                  <a:srgbClr val="34385E"/>
                </a:solidFill>
                <a:latin typeface="MiSans" pitchFamily="34" charset="-122"/>
                <a:ea typeface="MiSans" pitchFamily="34" charset="-122"/>
                <a:cs typeface="MiSans" pitchFamily="34" charset="-120"/>
              </a:rPr>
              <a:t>Cơ chế chia sẻ liên tục và thuật toán đề xuất khiến nội dung cá nhân có thể </a:t>
            </a:r>
            <a:r>
              <a:rPr lang="en-US" sz="1600" dirty="0">
                <a:solidFill>
                  <a:srgbClr val="34385E"/>
                </a:solidFill>
                <a:highlight>
                  <a:srgbClr val="4D5EFF">
                    <a:alpha val="20000"/>
                  </a:srgbClr>
                </a:highlight>
                <a:latin typeface="MiSans" pitchFamily="34" charset="-122"/>
                <a:ea typeface="MiSans" pitchFamily="34" charset="-122"/>
                <a:cs typeface="MiSans" pitchFamily="34" charset="-120"/>
              </a:rPr>
              <a:t> tiếp cận hàng triệu người </a:t>
            </a:r>
            <a:r>
              <a:rPr lang="en-US" sz="1600" dirty="0">
                <a:solidFill>
                  <a:srgbClr val="34385E"/>
                </a:solidFill>
                <a:latin typeface="MiSans" pitchFamily="34" charset="-122"/>
                <a:ea typeface="MiSans" pitchFamily="34" charset="-122"/>
                <a:cs typeface="MiSans" pitchFamily="34" charset="-120"/>
              </a:rPr>
              <a:t> chỉ sau vài giờ, định hình thị hiếu, ngôn ngữ và lối sống của giới trẻ.</a:t>
            </a:r>
            <a:endParaRPr lang="en-US" sz="1600" dirty="0"/>
          </a:p>
        </p:txBody>
      </p:sp>
      <p:sp>
        <p:nvSpPr>
          <p:cNvPr id="7" name="Shape 2"/>
          <p:cNvSpPr/>
          <p:nvPr/>
        </p:nvSpPr>
        <p:spPr>
          <a:xfrm>
            <a:off x="6299200" y="3403600"/>
            <a:ext cx="5638800" cy="50800"/>
          </a:xfrm>
          <a:custGeom>
            <a:avLst/>
            <a:gdLst/>
            <a:ahLst/>
            <a:cxnLst/>
            <a:rect l="l" t="t" r="r" b="b"/>
            <a:pathLst>
              <a:path w="5638800" h="50800">
                <a:moveTo>
                  <a:pt x="0" y="0"/>
                </a:moveTo>
                <a:lnTo>
                  <a:pt x="5638800" y="0"/>
                </a:lnTo>
                <a:lnTo>
                  <a:pt x="5638800" y="50800"/>
                </a:lnTo>
                <a:lnTo>
                  <a:pt x="0" y="50800"/>
                </a:lnTo>
                <a:lnTo>
                  <a:pt x="0" y="0"/>
                </a:lnTo>
                <a:close/>
              </a:path>
            </a:pathLst>
          </a:custGeom>
          <a:solidFill>
            <a:srgbClr val="6052C8">
              <a:alpha val="30196"/>
            </a:srgbClr>
          </a:solidFill>
        </p:spPr>
      </p:sp>
      <p:sp>
        <p:nvSpPr>
          <p:cNvPr id="8" name="Shape 3"/>
          <p:cNvSpPr/>
          <p:nvPr/>
        </p:nvSpPr>
        <p:spPr>
          <a:xfrm>
            <a:off x="6597650" y="2819400"/>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3341B8"/>
          </a:solidFill>
          <a:effectLst>
            <a:outerShdw blurRad="190500" dist="127000" dir="5400000" algn="bl" rotWithShape="0">
              <a:srgbClr val="000000">
                <a:alpha val="10196"/>
              </a:srgbClr>
            </a:outerShdw>
          </a:effectLst>
        </p:spPr>
      </p:sp>
      <p:sp>
        <p:nvSpPr>
          <p:cNvPr id="9" name="Shape 4"/>
          <p:cNvSpPr/>
          <p:nvPr/>
        </p:nvSpPr>
        <p:spPr>
          <a:xfrm>
            <a:off x="6864350" y="3035300"/>
            <a:ext cx="285750" cy="381000"/>
          </a:xfrm>
          <a:custGeom>
            <a:avLst/>
            <a:gdLst/>
            <a:ahLst/>
            <a:cxnLst/>
            <a:rect l="l" t="t" r="r" b="b"/>
            <a:pathLst>
              <a:path w="285750" h="381000">
                <a:moveTo>
                  <a:pt x="217959" y="285750"/>
                </a:moveTo>
                <a:cubicBezTo>
                  <a:pt x="223391" y="269156"/>
                  <a:pt x="234255" y="254124"/>
                  <a:pt x="246534" y="241176"/>
                </a:cubicBezTo>
                <a:cubicBezTo>
                  <a:pt x="270867" y="215578"/>
                  <a:pt x="285750" y="180975"/>
                  <a:pt x="285750" y="142875"/>
                </a:cubicBezTo>
                <a:cubicBezTo>
                  <a:pt x="285750" y="63996"/>
                  <a:pt x="221754" y="0"/>
                  <a:pt x="142875" y="0"/>
                </a:cubicBezTo>
                <a:cubicBezTo>
                  <a:pt x="63996" y="0"/>
                  <a:pt x="0" y="63996"/>
                  <a:pt x="0" y="142875"/>
                </a:cubicBezTo>
                <a:cubicBezTo>
                  <a:pt x="0" y="180975"/>
                  <a:pt x="14883" y="215578"/>
                  <a:pt x="39216" y="241176"/>
                </a:cubicBezTo>
                <a:cubicBezTo>
                  <a:pt x="51495" y="254124"/>
                  <a:pt x="62433" y="269156"/>
                  <a:pt x="67791" y="285750"/>
                </a:cubicBezTo>
                <a:lnTo>
                  <a:pt x="217884" y="285750"/>
                </a:lnTo>
                <a:close/>
                <a:moveTo>
                  <a:pt x="214313" y="321469"/>
                </a:moveTo>
                <a:lnTo>
                  <a:pt x="71438" y="321469"/>
                </a:lnTo>
                <a:lnTo>
                  <a:pt x="71438" y="333375"/>
                </a:lnTo>
                <a:cubicBezTo>
                  <a:pt x="71438" y="366266"/>
                  <a:pt x="98078" y="392906"/>
                  <a:pt x="130969" y="392906"/>
                </a:cubicBezTo>
                <a:lnTo>
                  <a:pt x="154781" y="392906"/>
                </a:lnTo>
                <a:cubicBezTo>
                  <a:pt x="187672" y="392906"/>
                  <a:pt x="214313" y="366266"/>
                  <a:pt x="214313" y="333375"/>
                </a:cubicBezTo>
                <a:lnTo>
                  <a:pt x="214313" y="321469"/>
                </a:lnTo>
                <a:close/>
                <a:moveTo>
                  <a:pt x="136922" y="83344"/>
                </a:moveTo>
                <a:cubicBezTo>
                  <a:pt x="107305" y="83344"/>
                  <a:pt x="83344" y="107305"/>
                  <a:pt x="83344" y="136922"/>
                </a:cubicBezTo>
                <a:cubicBezTo>
                  <a:pt x="83344" y="146819"/>
                  <a:pt x="75381" y="154781"/>
                  <a:pt x="65484" y="154781"/>
                </a:cubicBezTo>
                <a:cubicBezTo>
                  <a:pt x="55587" y="154781"/>
                  <a:pt x="47625" y="146819"/>
                  <a:pt x="47625" y="136922"/>
                </a:cubicBezTo>
                <a:cubicBezTo>
                  <a:pt x="47625" y="87585"/>
                  <a:pt x="87585" y="47625"/>
                  <a:pt x="136922" y="47625"/>
                </a:cubicBezTo>
                <a:cubicBezTo>
                  <a:pt x="146819" y="47625"/>
                  <a:pt x="154781" y="55587"/>
                  <a:pt x="154781" y="65484"/>
                </a:cubicBezTo>
                <a:cubicBezTo>
                  <a:pt x="154781" y="75381"/>
                  <a:pt x="146819" y="83344"/>
                  <a:pt x="136922" y="83344"/>
                </a:cubicBezTo>
                <a:close/>
              </a:path>
            </a:pathLst>
          </a:custGeom>
          <a:solidFill>
            <a:srgbClr val="FFFFFF"/>
          </a:solidFill>
        </p:spPr>
      </p:sp>
      <p:sp>
        <p:nvSpPr>
          <p:cNvPr id="10" name="Text 5"/>
          <p:cNvSpPr/>
          <p:nvPr/>
        </p:nvSpPr>
        <p:spPr>
          <a:xfrm>
            <a:off x="6149181" y="3733800"/>
            <a:ext cx="1714500" cy="304800"/>
          </a:xfrm>
          <a:prstGeom prst="rect">
            <a:avLst/>
          </a:prstGeom>
          <a:noFill/>
        </p:spPr>
        <p:txBody>
          <a:bodyPr wrap="square" lIns="0" tIns="0" rIns="0" bIns="0" rtlCol="0" anchor="ctr"/>
          <a:lstStyle/>
          <a:p>
            <a:pPr marL="0" indent="0" algn="ctr">
              <a:lnSpc>
                <a:spcPct val="130000"/>
              </a:lnSpc>
              <a:buNone/>
            </a:pPr>
            <a:r>
              <a:rPr lang="en-US" sz="1600" dirty="0">
                <a:solidFill>
                  <a:srgbClr val="34385E"/>
                </a:solidFill>
                <a:latin typeface="MiSans" pitchFamily="34" charset="-122"/>
                <a:ea typeface="MiSans" pitchFamily="34" charset="-122"/>
                <a:cs typeface="MiSans" pitchFamily="34" charset="-120"/>
              </a:rPr>
              <a:t>Tin tức, Clip</a:t>
            </a:r>
            <a:endParaRPr lang="en-US" sz="1600" dirty="0"/>
          </a:p>
        </p:txBody>
      </p:sp>
      <p:sp>
        <p:nvSpPr>
          <p:cNvPr id="11" name="Shape 6"/>
          <p:cNvSpPr/>
          <p:nvPr/>
        </p:nvSpPr>
        <p:spPr>
          <a:xfrm>
            <a:off x="8712200" y="2819400"/>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6052C8"/>
          </a:solidFill>
          <a:effectLst>
            <a:outerShdw blurRad="190500" dist="127000" dir="5400000" algn="bl" rotWithShape="0">
              <a:srgbClr val="000000">
                <a:alpha val="10196"/>
              </a:srgbClr>
            </a:outerShdw>
          </a:effectLst>
        </p:spPr>
      </p:sp>
      <p:sp>
        <p:nvSpPr>
          <p:cNvPr id="12" name="Shape 7"/>
          <p:cNvSpPr/>
          <p:nvPr/>
        </p:nvSpPr>
        <p:spPr>
          <a:xfrm>
            <a:off x="8955088" y="3035300"/>
            <a:ext cx="333375" cy="381000"/>
          </a:xfrm>
          <a:custGeom>
            <a:avLst/>
            <a:gdLst/>
            <a:ahLst/>
            <a:cxnLst/>
            <a:rect l="l" t="t" r="r" b="b"/>
            <a:pathLst>
              <a:path w="333375" h="381000">
                <a:moveTo>
                  <a:pt x="119435" y="-19645"/>
                </a:moveTo>
                <a:cubicBezTo>
                  <a:pt x="126355" y="-25450"/>
                  <a:pt x="136550" y="-25226"/>
                  <a:pt x="143173" y="-18976"/>
                </a:cubicBezTo>
                <a:cubicBezTo>
                  <a:pt x="152326" y="-10344"/>
                  <a:pt x="160511" y="-819"/>
                  <a:pt x="168399" y="8855"/>
                </a:cubicBezTo>
                <a:cubicBezTo>
                  <a:pt x="178445" y="21134"/>
                  <a:pt x="190500" y="37356"/>
                  <a:pt x="202109" y="56629"/>
                </a:cubicBezTo>
                <a:cubicBezTo>
                  <a:pt x="205978" y="51569"/>
                  <a:pt x="209550" y="47104"/>
                  <a:pt x="212675" y="43309"/>
                </a:cubicBezTo>
                <a:cubicBezTo>
                  <a:pt x="213494" y="42342"/>
                  <a:pt x="214313" y="41300"/>
                  <a:pt x="215131" y="40258"/>
                </a:cubicBezTo>
                <a:cubicBezTo>
                  <a:pt x="221010" y="32965"/>
                  <a:pt x="228302" y="23812"/>
                  <a:pt x="238051" y="23812"/>
                </a:cubicBezTo>
                <a:cubicBezTo>
                  <a:pt x="248022" y="23812"/>
                  <a:pt x="255017" y="32668"/>
                  <a:pt x="260970" y="40258"/>
                </a:cubicBezTo>
                <a:cubicBezTo>
                  <a:pt x="261938" y="41523"/>
                  <a:pt x="262905" y="42714"/>
                  <a:pt x="263872" y="43830"/>
                </a:cubicBezTo>
                <a:cubicBezTo>
                  <a:pt x="271537" y="53057"/>
                  <a:pt x="281732" y="66377"/>
                  <a:pt x="291926" y="82823"/>
                </a:cubicBezTo>
                <a:cubicBezTo>
                  <a:pt x="312167" y="115491"/>
                  <a:pt x="333301" y="161999"/>
                  <a:pt x="333301" y="214238"/>
                </a:cubicBezTo>
                <a:cubicBezTo>
                  <a:pt x="333301" y="306288"/>
                  <a:pt x="258663" y="380926"/>
                  <a:pt x="166613" y="380926"/>
                </a:cubicBezTo>
                <a:cubicBezTo>
                  <a:pt x="74563" y="380926"/>
                  <a:pt x="0" y="306363"/>
                  <a:pt x="0" y="214313"/>
                </a:cubicBezTo>
                <a:cubicBezTo>
                  <a:pt x="0" y="146521"/>
                  <a:pt x="30584" y="87809"/>
                  <a:pt x="59903" y="46881"/>
                </a:cubicBezTo>
                <a:cubicBezTo>
                  <a:pt x="74712" y="26268"/>
                  <a:pt x="89446" y="9748"/>
                  <a:pt x="100533" y="-1563"/>
                </a:cubicBezTo>
                <a:cubicBezTo>
                  <a:pt x="106635" y="-7813"/>
                  <a:pt x="112812" y="-13990"/>
                  <a:pt x="119509" y="-19571"/>
                </a:cubicBezTo>
                <a:close/>
                <a:moveTo>
                  <a:pt x="167953" y="309563"/>
                </a:moveTo>
                <a:cubicBezTo>
                  <a:pt x="186779" y="309563"/>
                  <a:pt x="203448" y="304354"/>
                  <a:pt x="219149" y="293936"/>
                </a:cubicBezTo>
                <a:cubicBezTo>
                  <a:pt x="250478" y="272058"/>
                  <a:pt x="258887" y="228302"/>
                  <a:pt x="240060" y="193923"/>
                </a:cubicBezTo>
                <a:cubicBezTo>
                  <a:pt x="236711" y="187226"/>
                  <a:pt x="228154" y="186779"/>
                  <a:pt x="223317" y="192435"/>
                </a:cubicBezTo>
                <a:lnTo>
                  <a:pt x="204564" y="214238"/>
                </a:lnTo>
                <a:cubicBezTo>
                  <a:pt x="199653" y="219894"/>
                  <a:pt x="190798" y="219745"/>
                  <a:pt x="186184" y="213866"/>
                </a:cubicBezTo>
                <a:cubicBezTo>
                  <a:pt x="173310" y="197421"/>
                  <a:pt x="149647" y="167432"/>
                  <a:pt x="137592" y="152102"/>
                </a:cubicBezTo>
                <a:cubicBezTo>
                  <a:pt x="133573" y="146968"/>
                  <a:pt x="126281" y="146149"/>
                  <a:pt x="121593" y="150688"/>
                </a:cubicBezTo>
                <a:cubicBezTo>
                  <a:pt x="107975" y="163934"/>
                  <a:pt x="83269" y="192956"/>
                  <a:pt x="83269" y="228302"/>
                </a:cubicBezTo>
                <a:cubicBezTo>
                  <a:pt x="83269" y="279350"/>
                  <a:pt x="120923" y="309563"/>
                  <a:pt x="167878" y="309563"/>
                </a:cubicBezTo>
                <a:close/>
              </a:path>
            </a:pathLst>
          </a:custGeom>
          <a:solidFill>
            <a:srgbClr val="FFFFFF"/>
          </a:solidFill>
        </p:spPr>
      </p:sp>
      <p:sp>
        <p:nvSpPr>
          <p:cNvPr id="13" name="Text 8"/>
          <p:cNvSpPr/>
          <p:nvPr/>
        </p:nvSpPr>
        <p:spPr>
          <a:xfrm>
            <a:off x="8359775" y="3733800"/>
            <a:ext cx="1524000" cy="304800"/>
          </a:xfrm>
          <a:prstGeom prst="rect">
            <a:avLst/>
          </a:prstGeom>
          <a:noFill/>
        </p:spPr>
        <p:txBody>
          <a:bodyPr wrap="square" lIns="0" tIns="0" rIns="0" bIns="0" rtlCol="0" anchor="ctr"/>
          <a:lstStyle/>
          <a:p>
            <a:pPr marL="0" indent="0" algn="ctr">
              <a:lnSpc>
                <a:spcPct val="130000"/>
              </a:lnSpc>
              <a:buNone/>
            </a:pPr>
            <a:r>
              <a:rPr lang="en-US" sz="1600" dirty="0">
                <a:solidFill>
                  <a:srgbClr val="34385E"/>
                </a:solidFill>
                <a:latin typeface="MiSans" pitchFamily="34" charset="-122"/>
                <a:ea typeface="MiSans" pitchFamily="34" charset="-122"/>
                <a:cs typeface="MiSans" pitchFamily="34" charset="-120"/>
              </a:rPr>
              <a:t>Thử thách</a:t>
            </a:r>
            <a:endParaRPr lang="en-US" sz="1600" dirty="0"/>
          </a:p>
        </p:txBody>
      </p:sp>
      <p:sp>
        <p:nvSpPr>
          <p:cNvPr id="14" name="Shape 9"/>
          <p:cNvSpPr/>
          <p:nvPr/>
        </p:nvSpPr>
        <p:spPr>
          <a:xfrm>
            <a:off x="10826750" y="2819400"/>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4D5EFF"/>
          </a:solidFill>
          <a:effectLst>
            <a:outerShdw blurRad="190500" dist="127000" dir="5400000" algn="bl" rotWithShape="0">
              <a:srgbClr val="000000">
                <a:alpha val="10196"/>
              </a:srgbClr>
            </a:outerShdw>
          </a:effectLst>
        </p:spPr>
      </p:sp>
      <p:sp>
        <p:nvSpPr>
          <p:cNvPr id="15" name="Shape 10"/>
          <p:cNvSpPr/>
          <p:nvPr/>
        </p:nvSpPr>
        <p:spPr>
          <a:xfrm>
            <a:off x="11045825" y="3035300"/>
            <a:ext cx="381000" cy="381000"/>
          </a:xfrm>
          <a:custGeom>
            <a:avLst/>
            <a:gdLst/>
            <a:ahLst/>
            <a:cxnLst/>
            <a:rect l="l" t="t" r="r" b="b"/>
            <a:pathLst>
              <a:path w="381000" h="381000">
                <a:moveTo>
                  <a:pt x="159767" y="521"/>
                </a:moveTo>
                <a:cubicBezTo>
                  <a:pt x="172641" y="3274"/>
                  <a:pt x="180826" y="15925"/>
                  <a:pt x="178073" y="28798"/>
                </a:cubicBezTo>
                <a:lnTo>
                  <a:pt x="163860" y="95250"/>
                </a:lnTo>
                <a:lnTo>
                  <a:pt x="257994" y="95250"/>
                </a:lnTo>
                <a:lnTo>
                  <a:pt x="274365" y="18827"/>
                </a:lnTo>
                <a:cubicBezTo>
                  <a:pt x="277118" y="5953"/>
                  <a:pt x="289768" y="-2232"/>
                  <a:pt x="302642" y="521"/>
                </a:cubicBezTo>
                <a:cubicBezTo>
                  <a:pt x="315516" y="3274"/>
                  <a:pt x="323701" y="15925"/>
                  <a:pt x="320948" y="28798"/>
                </a:cubicBezTo>
                <a:lnTo>
                  <a:pt x="306735" y="95250"/>
                </a:lnTo>
                <a:lnTo>
                  <a:pt x="357188" y="95250"/>
                </a:lnTo>
                <a:cubicBezTo>
                  <a:pt x="370359" y="95250"/>
                  <a:pt x="381000" y="105891"/>
                  <a:pt x="381000" y="119063"/>
                </a:cubicBezTo>
                <a:cubicBezTo>
                  <a:pt x="381000" y="132234"/>
                  <a:pt x="370359" y="142875"/>
                  <a:pt x="357188" y="142875"/>
                </a:cubicBezTo>
                <a:lnTo>
                  <a:pt x="296466" y="142875"/>
                </a:lnTo>
                <a:lnTo>
                  <a:pt x="276076" y="238125"/>
                </a:lnTo>
                <a:lnTo>
                  <a:pt x="326529" y="238125"/>
                </a:lnTo>
                <a:cubicBezTo>
                  <a:pt x="339700" y="238125"/>
                  <a:pt x="350341" y="248766"/>
                  <a:pt x="350341" y="261938"/>
                </a:cubicBezTo>
                <a:cubicBezTo>
                  <a:pt x="350341" y="275109"/>
                  <a:pt x="339700" y="285750"/>
                  <a:pt x="326529" y="285750"/>
                </a:cubicBezTo>
                <a:lnTo>
                  <a:pt x="265807" y="285750"/>
                </a:lnTo>
                <a:lnTo>
                  <a:pt x="249436" y="362173"/>
                </a:lnTo>
                <a:cubicBezTo>
                  <a:pt x="246683" y="375047"/>
                  <a:pt x="234032" y="383232"/>
                  <a:pt x="221159" y="380479"/>
                </a:cubicBezTo>
                <a:cubicBezTo>
                  <a:pt x="208285" y="377726"/>
                  <a:pt x="200099" y="365075"/>
                  <a:pt x="202853" y="352202"/>
                </a:cubicBezTo>
                <a:lnTo>
                  <a:pt x="217066" y="285750"/>
                </a:lnTo>
                <a:lnTo>
                  <a:pt x="122932" y="285750"/>
                </a:lnTo>
                <a:lnTo>
                  <a:pt x="106561" y="362173"/>
                </a:lnTo>
                <a:cubicBezTo>
                  <a:pt x="103808" y="375047"/>
                  <a:pt x="91157" y="383232"/>
                  <a:pt x="78284" y="380479"/>
                </a:cubicBezTo>
                <a:cubicBezTo>
                  <a:pt x="65410" y="377726"/>
                  <a:pt x="57224" y="365075"/>
                  <a:pt x="59978" y="352202"/>
                </a:cubicBezTo>
                <a:lnTo>
                  <a:pt x="74265" y="285750"/>
                </a:lnTo>
                <a:lnTo>
                  <a:pt x="23812" y="285750"/>
                </a:lnTo>
                <a:cubicBezTo>
                  <a:pt x="10641" y="285750"/>
                  <a:pt x="0" y="275109"/>
                  <a:pt x="0" y="261938"/>
                </a:cubicBezTo>
                <a:cubicBezTo>
                  <a:pt x="0" y="248766"/>
                  <a:pt x="10641" y="238125"/>
                  <a:pt x="23812" y="238125"/>
                </a:cubicBezTo>
                <a:lnTo>
                  <a:pt x="84534" y="238125"/>
                </a:lnTo>
                <a:lnTo>
                  <a:pt x="104924" y="142875"/>
                </a:lnTo>
                <a:lnTo>
                  <a:pt x="54471" y="142875"/>
                </a:lnTo>
                <a:cubicBezTo>
                  <a:pt x="41300" y="142875"/>
                  <a:pt x="30659" y="132234"/>
                  <a:pt x="30659" y="119063"/>
                </a:cubicBezTo>
                <a:cubicBezTo>
                  <a:pt x="30659" y="105891"/>
                  <a:pt x="41300" y="95250"/>
                  <a:pt x="54471" y="95250"/>
                </a:cubicBezTo>
                <a:lnTo>
                  <a:pt x="115193" y="95250"/>
                </a:lnTo>
                <a:lnTo>
                  <a:pt x="131564" y="18827"/>
                </a:lnTo>
                <a:cubicBezTo>
                  <a:pt x="134243" y="5953"/>
                  <a:pt x="146893" y="-2232"/>
                  <a:pt x="159767" y="521"/>
                </a:cubicBezTo>
                <a:close/>
                <a:moveTo>
                  <a:pt x="153591" y="142875"/>
                </a:moveTo>
                <a:lnTo>
                  <a:pt x="133201" y="238125"/>
                </a:lnTo>
                <a:lnTo>
                  <a:pt x="227335" y="238125"/>
                </a:lnTo>
                <a:lnTo>
                  <a:pt x="247724" y="142875"/>
                </a:lnTo>
                <a:lnTo>
                  <a:pt x="153591" y="142875"/>
                </a:lnTo>
                <a:close/>
              </a:path>
            </a:pathLst>
          </a:custGeom>
          <a:solidFill>
            <a:srgbClr val="FFFFFF"/>
          </a:solidFill>
        </p:spPr>
      </p:sp>
      <p:sp>
        <p:nvSpPr>
          <p:cNvPr id="16" name="Text 11"/>
          <p:cNvSpPr/>
          <p:nvPr/>
        </p:nvSpPr>
        <p:spPr>
          <a:xfrm>
            <a:off x="10552906" y="3733800"/>
            <a:ext cx="1358900" cy="304800"/>
          </a:xfrm>
          <a:prstGeom prst="rect">
            <a:avLst/>
          </a:prstGeom>
          <a:noFill/>
        </p:spPr>
        <p:txBody>
          <a:bodyPr wrap="square" lIns="0" tIns="0" rIns="0" bIns="0" rtlCol="0" anchor="ctr"/>
          <a:lstStyle/>
          <a:p>
            <a:pPr marL="0" indent="0" algn="ctr">
              <a:lnSpc>
                <a:spcPct val="130000"/>
              </a:lnSpc>
              <a:buNone/>
            </a:pPr>
            <a:r>
              <a:rPr lang="en-US" sz="1600" dirty="0">
                <a:solidFill>
                  <a:srgbClr val="34385E"/>
                </a:solidFill>
                <a:latin typeface="MiSans" pitchFamily="34" charset="-122"/>
                <a:ea typeface="MiSans" pitchFamily="34" charset="-122"/>
                <a:cs typeface="MiSans" pitchFamily="34" charset="-120"/>
              </a:rPr>
              <a:t>Hashtag</a:t>
            </a:r>
            <a:endParaRPr lang="en-US" sz="1600" dirty="0"/>
          </a:p>
        </p:txBody>
      </p:sp>
      <p:sp>
        <p:nvSpPr>
          <p:cNvPr id="17" name="Text 12"/>
          <p:cNvSpPr/>
          <p:nvPr/>
        </p:nvSpPr>
        <p:spPr>
          <a:xfrm>
            <a:off x="8516243" y="1841500"/>
            <a:ext cx="1206500" cy="355600"/>
          </a:xfrm>
          <a:prstGeom prst="rect">
            <a:avLst/>
          </a:prstGeom>
          <a:noFill/>
        </p:spPr>
        <p:txBody>
          <a:bodyPr wrap="square" lIns="0" tIns="0" rIns="0" bIns="0" rtlCol="0" anchor="ctr"/>
          <a:lstStyle/>
          <a:p>
            <a:pPr marL="0" indent="0" algn="ctr">
              <a:lnSpc>
                <a:spcPct val="130000"/>
              </a:lnSpc>
              <a:buNone/>
            </a:pPr>
            <a:r>
              <a:rPr lang="en-US" sz="1800" dirty="0">
                <a:solidFill>
                  <a:srgbClr val="3341B8"/>
                </a:solidFill>
                <a:latin typeface="MiSans" pitchFamily="34" charset="-122"/>
                <a:ea typeface="MiSans" pitchFamily="34" charset="-122"/>
                <a:cs typeface="MiSans" pitchFamily="34" charset="-120"/>
              </a:rPr>
              <a:t>VIRAL</a:t>
            </a:r>
            <a:endParaRPr lang="en-US" sz="1600" dirty="0"/>
          </a:p>
        </p:txBody>
      </p:sp>
      <p:sp>
        <p:nvSpPr>
          <p:cNvPr id="18" name="Shape 13"/>
          <p:cNvSpPr/>
          <p:nvPr/>
        </p:nvSpPr>
        <p:spPr>
          <a:xfrm>
            <a:off x="9004201" y="2197100"/>
            <a:ext cx="228600" cy="304800"/>
          </a:xfrm>
          <a:custGeom>
            <a:avLst/>
            <a:gdLst/>
            <a:ahLst/>
            <a:cxnLst/>
            <a:rect l="l" t="t" r="r" b="b"/>
            <a:pathLst>
              <a:path w="228600" h="304800">
                <a:moveTo>
                  <a:pt x="100846" y="299204"/>
                </a:moveTo>
                <a:cubicBezTo>
                  <a:pt x="108287" y="306645"/>
                  <a:pt x="120372" y="306645"/>
                  <a:pt x="127814" y="299204"/>
                </a:cubicBezTo>
                <a:lnTo>
                  <a:pt x="223064" y="203954"/>
                </a:lnTo>
                <a:cubicBezTo>
                  <a:pt x="230505" y="196513"/>
                  <a:pt x="230505" y="184428"/>
                  <a:pt x="223064" y="176986"/>
                </a:cubicBezTo>
                <a:cubicBezTo>
                  <a:pt x="215622" y="169545"/>
                  <a:pt x="203537" y="169545"/>
                  <a:pt x="196096" y="176986"/>
                </a:cubicBezTo>
                <a:lnTo>
                  <a:pt x="133350" y="239732"/>
                </a:lnTo>
                <a:lnTo>
                  <a:pt x="133350" y="19050"/>
                </a:lnTo>
                <a:cubicBezTo>
                  <a:pt x="133350" y="8513"/>
                  <a:pt x="124837" y="0"/>
                  <a:pt x="114300" y="0"/>
                </a:cubicBezTo>
                <a:cubicBezTo>
                  <a:pt x="103763" y="0"/>
                  <a:pt x="95250" y="8513"/>
                  <a:pt x="95250" y="19050"/>
                </a:cubicBezTo>
                <a:lnTo>
                  <a:pt x="95250" y="239732"/>
                </a:lnTo>
                <a:lnTo>
                  <a:pt x="32504" y="176986"/>
                </a:lnTo>
                <a:cubicBezTo>
                  <a:pt x="25063" y="169545"/>
                  <a:pt x="12978" y="169545"/>
                  <a:pt x="5536" y="176986"/>
                </a:cubicBezTo>
                <a:cubicBezTo>
                  <a:pt x="-1905" y="184428"/>
                  <a:pt x="-1905" y="196513"/>
                  <a:pt x="5536" y="203954"/>
                </a:cubicBezTo>
                <a:lnTo>
                  <a:pt x="100786" y="299204"/>
                </a:lnTo>
                <a:close/>
              </a:path>
            </a:pathLst>
          </a:custGeom>
          <a:solidFill>
            <a:srgbClr val="4D5EFF"/>
          </a:solid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08-27-20:07:28-d2nfa018bjvh7rlj0eug.jpg"/>
          <p:cNvPicPr>
            <a:picLocks noChangeAspect="1"/>
          </p:cNvPicPr>
          <p:nvPr/>
        </p:nvPicPr>
        <p:blipFill>
          <a:blip r:embed="rId1"/>
          <a:stretch>
            <a:fillRect/>
          </a:stretch>
        </p:blipFill>
        <p:spPr>
          <a:xfrm>
            <a:off x="0" y="0"/>
            <a:ext cx="12233275" cy="6881495"/>
          </a:xfrm>
          <a:prstGeom prst="rect">
            <a:avLst/>
          </a:prstGeom>
        </p:spPr>
      </p:pic>
      <p:pic>
        <p:nvPicPr>
          <p:cNvPr id="3" name="Image 1" descr="https://kimi-img.moonshot.cn/pub/slides/slides_tmpl/image/25-08-27-20:07:28-d2nfa018bjvh7rlj0et0.png"/>
          <p:cNvPicPr>
            <a:picLocks noChangeAspect="1"/>
          </p:cNvPicPr>
          <p:nvPr/>
        </p:nvPicPr>
        <p:blipFill>
          <a:blip r:embed="rId2"/>
          <a:stretch>
            <a:fillRect/>
          </a:stretch>
        </p:blipFill>
        <p:spPr>
          <a:xfrm>
            <a:off x="0" y="5530850"/>
            <a:ext cx="1684020" cy="1327150"/>
          </a:xfrm>
          <a:prstGeom prst="rect">
            <a:avLst/>
          </a:prstGeom>
        </p:spPr>
      </p:pic>
      <p:pic>
        <p:nvPicPr>
          <p:cNvPr id="4" name="Image 2" descr="https://kimi-img.moonshot.cn/pub/slides/slides_tmpl/image/25-08-27-20:07:28-d2nfa018bjvh7rlj0eu0.png"/>
          <p:cNvPicPr>
            <a:picLocks noChangeAspect="1"/>
          </p:cNvPicPr>
          <p:nvPr/>
        </p:nvPicPr>
        <p:blipFill>
          <a:blip r:embed="rId3"/>
          <a:stretch>
            <a:fillRect/>
          </a:stretch>
        </p:blipFill>
        <p:spPr>
          <a:xfrm>
            <a:off x="10076180" y="0"/>
            <a:ext cx="2116455" cy="2286000"/>
          </a:xfrm>
          <a:prstGeom prst="rect">
            <a:avLst/>
          </a:prstGeom>
        </p:spPr>
      </p:pic>
      <p:sp>
        <p:nvSpPr>
          <p:cNvPr id="5" name="Text 0"/>
          <p:cNvSpPr/>
          <p:nvPr/>
        </p:nvSpPr>
        <p:spPr>
          <a:xfrm>
            <a:off x="0" y="1752600"/>
            <a:ext cx="12192000" cy="457200"/>
          </a:xfrm>
          <a:prstGeom prst="rect">
            <a:avLst/>
          </a:prstGeom>
          <a:noFill/>
        </p:spPr>
        <p:txBody>
          <a:bodyPr wrap="square" lIns="0" tIns="0" rIns="0" bIns="0" rtlCol="0" anchor="ctr"/>
          <a:lstStyle/>
          <a:p>
            <a:pPr marL="0" indent="0" algn="ctr">
              <a:lnSpc>
                <a:spcPct val="100000"/>
              </a:lnSpc>
              <a:buNone/>
            </a:pPr>
            <a:r>
              <a:rPr lang="en-US" sz="3000" dirty="0">
                <a:solidFill>
                  <a:srgbClr val="3341B8"/>
                </a:solidFill>
                <a:latin typeface="MiSans" pitchFamily="34" charset="-122"/>
                <a:ea typeface="MiSans" pitchFamily="34" charset="-122"/>
                <a:cs typeface="MiSans" pitchFamily="34" charset="-120"/>
              </a:rPr>
              <a:t>Kinh Doanh &amp; Học Tập Trực Tuyến</a:t>
            </a:r>
            <a:endParaRPr lang="en-US" sz="1600" dirty="0"/>
          </a:p>
        </p:txBody>
      </p:sp>
      <p:sp>
        <p:nvSpPr>
          <p:cNvPr id="6" name="Shape 1"/>
          <p:cNvSpPr/>
          <p:nvPr/>
        </p:nvSpPr>
        <p:spPr>
          <a:xfrm>
            <a:off x="254000" y="2616200"/>
            <a:ext cx="5638800" cy="2489200"/>
          </a:xfrm>
          <a:custGeom>
            <a:avLst/>
            <a:gdLst/>
            <a:ahLst/>
            <a:cxnLst/>
            <a:rect l="l" t="t" r="r" b="b"/>
            <a:pathLst>
              <a:path w="5638800" h="2489200">
                <a:moveTo>
                  <a:pt x="101609" y="0"/>
                </a:moveTo>
                <a:lnTo>
                  <a:pt x="5537191" y="0"/>
                </a:lnTo>
                <a:cubicBezTo>
                  <a:pt x="5593308" y="0"/>
                  <a:pt x="5638800" y="45492"/>
                  <a:pt x="5638800" y="101609"/>
                </a:cubicBezTo>
                <a:lnTo>
                  <a:pt x="5638800" y="2387591"/>
                </a:lnTo>
                <a:cubicBezTo>
                  <a:pt x="5638800" y="2443708"/>
                  <a:pt x="5593308" y="2489200"/>
                  <a:pt x="5537191" y="2489200"/>
                </a:cubicBezTo>
                <a:lnTo>
                  <a:pt x="101609" y="2489200"/>
                </a:lnTo>
                <a:cubicBezTo>
                  <a:pt x="45492" y="2489200"/>
                  <a:pt x="0" y="2443708"/>
                  <a:pt x="0" y="2387591"/>
                </a:cubicBezTo>
                <a:lnTo>
                  <a:pt x="0" y="101609"/>
                </a:lnTo>
                <a:cubicBezTo>
                  <a:pt x="0" y="45492"/>
                  <a:pt x="45492" y="0"/>
                  <a:pt x="101609" y="0"/>
                </a:cubicBezTo>
                <a:close/>
              </a:path>
            </a:pathLst>
          </a:custGeom>
          <a:solidFill>
            <a:srgbClr val="3341B8">
              <a:alpha val="10196"/>
            </a:srgbClr>
          </a:solidFill>
        </p:spPr>
      </p:sp>
      <p:sp>
        <p:nvSpPr>
          <p:cNvPr id="7" name="Shape 2"/>
          <p:cNvSpPr/>
          <p:nvPr/>
        </p:nvSpPr>
        <p:spPr>
          <a:xfrm>
            <a:off x="2844800" y="2819400"/>
            <a:ext cx="457200" cy="457200"/>
          </a:xfrm>
          <a:custGeom>
            <a:avLst/>
            <a:gdLst/>
            <a:ahLst/>
            <a:cxnLst/>
            <a:rect l="l" t="t" r="r" b="b"/>
            <a:pathLst>
              <a:path w="457200" h="457200">
                <a:moveTo>
                  <a:pt x="27414" y="64562"/>
                </a:moveTo>
                <a:cubicBezTo>
                  <a:pt x="33576" y="43220"/>
                  <a:pt x="53132" y="28575"/>
                  <a:pt x="75367" y="28575"/>
                </a:cubicBezTo>
                <a:lnTo>
                  <a:pt x="382548" y="28575"/>
                </a:lnTo>
                <a:cubicBezTo>
                  <a:pt x="404783" y="28575"/>
                  <a:pt x="424339" y="43220"/>
                  <a:pt x="430590" y="64562"/>
                </a:cubicBezTo>
                <a:lnTo>
                  <a:pt x="451485" y="136178"/>
                </a:lnTo>
                <a:cubicBezTo>
                  <a:pt x="462915" y="175200"/>
                  <a:pt x="433536" y="214313"/>
                  <a:pt x="392906" y="214313"/>
                </a:cubicBezTo>
                <a:cubicBezTo>
                  <a:pt x="369421" y="214313"/>
                  <a:pt x="348794" y="201007"/>
                  <a:pt x="338614" y="181183"/>
                </a:cubicBezTo>
                <a:cubicBezTo>
                  <a:pt x="328255" y="200739"/>
                  <a:pt x="307717" y="214313"/>
                  <a:pt x="283785" y="214313"/>
                </a:cubicBezTo>
                <a:cubicBezTo>
                  <a:pt x="260033" y="214313"/>
                  <a:pt x="239405" y="200918"/>
                  <a:pt x="229046" y="181273"/>
                </a:cubicBezTo>
                <a:cubicBezTo>
                  <a:pt x="218688" y="200918"/>
                  <a:pt x="198060" y="214313"/>
                  <a:pt x="174308" y="214313"/>
                </a:cubicBezTo>
                <a:cubicBezTo>
                  <a:pt x="150376" y="214313"/>
                  <a:pt x="129838" y="200829"/>
                  <a:pt x="119479" y="181183"/>
                </a:cubicBezTo>
                <a:cubicBezTo>
                  <a:pt x="109299" y="200918"/>
                  <a:pt x="88672" y="214313"/>
                  <a:pt x="65187" y="214313"/>
                </a:cubicBezTo>
                <a:cubicBezTo>
                  <a:pt x="24467" y="214313"/>
                  <a:pt x="-4822" y="175290"/>
                  <a:pt x="6608" y="136178"/>
                </a:cubicBezTo>
                <a:lnTo>
                  <a:pt x="27414" y="64562"/>
                </a:lnTo>
                <a:close/>
                <a:moveTo>
                  <a:pt x="86082" y="314325"/>
                </a:moveTo>
                <a:lnTo>
                  <a:pt x="371832" y="314325"/>
                </a:lnTo>
                <a:lnTo>
                  <a:pt x="371832" y="255032"/>
                </a:lnTo>
                <a:cubicBezTo>
                  <a:pt x="378619" y="256461"/>
                  <a:pt x="385673" y="257175"/>
                  <a:pt x="392817" y="257175"/>
                </a:cubicBezTo>
                <a:cubicBezTo>
                  <a:pt x="405586" y="257175"/>
                  <a:pt x="417820" y="254853"/>
                  <a:pt x="428982" y="250746"/>
                </a:cubicBezTo>
                <a:lnTo>
                  <a:pt x="428982" y="385763"/>
                </a:lnTo>
                <a:cubicBezTo>
                  <a:pt x="428982" y="409426"/>
                  <a:pt x="409783" y="428625"/>
                  <a:pt x="386120" y="428625"/>
                </a:cubicBezTo>
                <a:lnTo>
                  <a:pt x="71795" y="428625"/>
                </a:lnTo>
                <a:cubicBezTo>
                  <a:pt x="48131" y="428625"/>
                  <a:pt x="28932" y="409426"/>
                  <a:pt x="28932" y="385763"/>
                </a:cubicBezTo>
                <a:lnTo>
                  <a:pt x="28932" y="250746"/>
                </a:lnTo>
                <a:cubicBezTo>
                  <a:pt x="40094" y="254853"/>
                  <a:pt x="52239" y="257175"/>
                  <a:pt x="65097" y="257175"/>
                </a:cubicBezTo>
                <a:cubicBezTo>
                  <a:pt x="72330" y="257175"/>
                  <a:pt x="79296" y="256461"/>
                  <a:pt x="86082" y="255032"/>
                </a:cubicBezTo>
                <a:lnTo>
                  <a:pt x="86082" y="314325"/>
                </a:lnTo>
                <a:close/>
              </a:path>
            </a:pathLst>
          </a:custGeom>
          <a:solidFill>
            <a:srgbClr val="3341B8"/>
          </a:solidFill>
        </p:spPr>
      </p:sp>
      <p:sp>
        <p:nvSpPr>
          <p:cNvPr id="8" name="Text 3"/>
          <p:cNvSpPr/>
          <p:nvPr/>
        </p:nvSpPr>
        <p:spPr>
          <a:xfrm>
            <a:off x="203200" y="3429000"/>
            <a:ext cx="5740400" cy="355600"/>
          </a:xfrm>
          <a:prstGeom prst="rect">
            <a:avLst/>
          </a:prstGeom>
          <a:noFill/>
        </p:spPr>
        <p:txBody>
          <a:bodyPr wrap="square" lIns="0" tIns="0" rIns="0" bIns="0" rtlCol="0" anchor="ctr"/>
          <a:lstStyle/>
          <a:p>
            <a:pPr marL="0" indent="0" algn="ctr">
              <a:lnSpc>
                <a:spcPct val="120000"/>
              </a:lnSpc>
              <a:buNone/>
            </a:pPr>
            <a:r>
              <a:rPr lang="en-US" sz="2000" dirty="0">
                <a:solidFill>
                  <a:srgbClr val="3341B8"/>
                </a:solidFill>
                <a:latin typeface="MiSans" pitchFamily="34" charset="-122"/>
                <a:ea typeface="MiSans" pitchFamily="34" charset="-122"/>
                <a:cs typeface="MiSans" pitchFamily="34" charset="-120"/>
              </a:rPr>
              <a:t>Kinh Doanh</a:t>
            </a:r>
            <a:endParaRPr lang="en-US" sz="1600" dirty="0"/>
          </a:p>
        </p:txBody>
      </p:sp>
      <p:sp>
        <p:nvSpPr>
          <p:cNvPr id="9" name="Shape 4"/>
          <p:cNvSpPr/>
          <p:nvPr/>
        </p:nvSpPr>
        <p:spPr>
          <a:xfrm>
            <a:off x="482600" y="3987800"/>
            <a:ext cx="177800" cy="177800"/>
          </a:xfrm>
          <a:custGeom>
            <a:avLst/>
            <a:gdLst/>
            <a:ahLst/>
            <a:cxnLst/>
            <a:rect l="l" t="t" r="r" b="b"/>
            <a:pathLst>
              <a:path w="177800" h="177800">
                <a:moveTo>
                  <a:pt x="88900" y="177800"/>
                </a:moveTo>
                <a:cubicBezTo>
                  <a:pt x="137965" y="177800"/>
                  <a:pt x="177800" y="137965"/>
                  <a:pt x="177800" y="88900"/>
                </a:cubicBezTo>
                <a:cubicBezTo>
                  <a:pt x="177800" y="39835"/>
                  <a:pt x="137965" y="0"/>
                  <a:pt x="88900" y="0"/>
                </a:cubicBezTo>
                <a:cubicBezTo>
                  <a:pt x="39835" y="0"/>
                  <a:pt x="0" y="39835"/>
                  <a:pt x="0" y="88900"/>
                </a:cubicBezTo>
                <a:cubicBezTo>
                  <a:pt x="0" y="137965"/>
                  <a:pt x="39835" y="177800"/>
                  <a:pt x="88900" y="177800"/>
                </a:cubicBezTo>
                <a:close/>
                <a:moveTo>
                  <a:pt x="118209" y="73863"/>
                </a:moveTo>
                <a:lnTo>
                  <a:pt x="90428" y="118313"/>
                </a:lnTo>
                <a:cubicBezTo>
                  <a:pt x="88969" y="120640"/>
                  <a:pt x="86469" y="122099"/>
                  <a:pt x="83726" y="122238"/>
                </a:cubicBezTo>
                <a:cubicBezTo>
                  <a:pt x="80982" y="122376"/>
                  <a:pt x="78343" y="121126"/>
                  <a:pt x="76711" y="118904"/>
                </a:cubicBezTo>
                <a:lnTo>
                  <a:pt x="60042" y="96679"/>
                </a:lnTo>
                <a:cubicBezTo>
                  <a:pt x="57264" y="92998"/>
                  <a:pt x="58028" y="87789"/>
                  <a:pt x="61709" y="85011"/>
                </a:cubicBezTo>
                <a:cubicBezTo>
                  <a:pt x="65390" y="82233"/>
                  <a:pt x="70599" y="82996"/>
                  <a:pt x="73377" y="86678"/>
                </a:cubicBezTo>
                <a:lnTo>
                  <a:pt x="82753" y="99179"/>
                </a:lnTo>
                <a:lnTo>
                  <a:pt x="104076" y="65043"/>
                </a:lnTo>
                <a:cubicBezTo>
                  <a:pt x="106506" y="61153"/>
                  <a:pt x="111646" y="59938"/>
                  <a:pt x="115570" y="62404"/>
                </a:cubicBezTo>
                <a:cubicBezTo>
                  <a:pt x="119494" y="64869"/>
                  <a:pt x="120675" y="69974"/>
                  <a:pt x="118209" y="73898"/>
                </a:cubicBezTo>
                <a:close/>
              </a:path>
            </a:pathLst>
          </a:custGeom>
          <a:solidFill>
            <a:srgbClr val="4D5EFF"/>
          </a:solidFill>
        </p:spPr>
      </p:sp>
      <p:sp>
        <p:nvSpPr>
          <p:cNvPr id="10" name="Text 5"/>
          <p:cNvSpPr/>
          <p:nvPr/>
        </p:nvSpPr>
        <p:spPr>
          <a:xfrm>
            <a:off x="781050" y="3937000"/>
            <a:ext cx="2387600" cy="254000"/>
          </a:xfrm>
          <a:prstGeom prst="rect">
            <a:avLst/>
          </a:prstGeom>
          <a:noFill/>
        </p:spPr>
        <p:txBody>
          <a:bodyPr wrap="square" lIns="0" tIns="0" rIns="0" bIns="0" rtlCol="0" anchor="ctr"/>
          <a:lstStyle/>
          <a:p>
            <a:pPr marL="0" indent="0" algn="l">
              <a:lnSpc>
                <a:spcPct val="120000"/>
              </a:lnSpc>
              <a:buNone/>
            </a:pPr>
            <a:r>
              <a:rPr lang="en-US" sz="1400" dirty="0">
                <a:solidFill>
                  <a:srgbClr val="34385E"/>
                </a:solidFill>
                <a:latin typeface="MiSans" pitchFamily="34" charset="-122"/>
                <a:ea typeface="MiSans" pitchFamily="34" charset="-122"/>
                <a:cs typeface="MiSans" pitchFamily="34" charset="-120"/>
              </a:rPr>
              <a:t>Quảng cáo </a:t>
            </a:r>
            <a:r>
              <a:rPr lang="en-US" sz="1400" dirty="0">
                <a:solidFill>
                  <a:srgbClr val="34385E"/>
                </a:solidFill>
                <a:latin typeface="MiSans" pitchFamily="34" charset="-122"/>
                <a:ea typeface="MiSans" pitchFamily="34" charset="-122"/>
                <a:cs typeface="MiSans" pitchFamily="34" charset="-120"/>
              </a:rPr>
              <a:t>micro-targeting</a:t>
            </a:r>
            <a:endParaRPr lang="en-US" sz="1600" dirty="0"/>
          </a:p>
        </p:txBody>
      </p:sp>
      <p:sp>
        <p:nvSpPr>
          <p:cNvPr id="11" name="Shape 6"/>
          <p:cNvSpPr/>
          <p:nvPr/>
        </p:nvSpPr>
        <p:spPr>
          <a:xfrm>
            <a:off x="482600" y="4343400"/>
            <a:ext cx="177800" cy="177800"/>
          </a:xfrm>
          <a:custGeom>
            <a:avLst/>
            <a:gdLst/>
            <a:ahLst/>
            <a:cxnLst/>
            <a:rect l="l" t="t" r="r" b="b"/>
            <a:pathLst>
              <a:path w="177800" h="177800">
                <a:moveTo>
                  <a:pt x="88900" y="177800"/>
                </a:moveTo>
                <a:cubicBezTo>
                  <a:pt x="137965" y="177800"/>
                  <a:pt x="177800" y="137965"/>
                  <a:pt x="177800" y="88900"/>
                </a:cubicBezTo>
                <a:cubicBezTo>
                  <a:pt x="177800" y="39835"/>
                  <a:pt x="137965" y="0"/>
                  <a:pt x="88900" y="0"/>
                </a:cubicBezTo>
                <a:cubicBezTo>
                  <a:pt x="39835" y="0"/>
                  <a:pt x="0" y="39835"/>
                  <a:pt x="0" y="88900"/>
                </a:cubicBezTo>
                <a:cubicBezTo>
                  <a:pt x="0" y="137965"/>
                  <a:pt x="39835" y="177800"/>
                  <a:pt x="88900" y="177800"/>
                </a:cubicBezTo>
                <a:close/>
                <a:moveTo>
                  <a:pt x="118209" y="73863"/>
                </a:moveTo>
                <a:lnTo>
                  <a:pt x="90428" y="118313"/>
                </a:lnTo>
                <a:cubicBezTo>
                  <a:pt x="88969" y="120640"/>
                  <a:pt x="86469" y="122099"/>
                  <a:pt x="83726" y="122238"/>
                </a:cubicBezTo>
                <a:cubicBezTo>
                  <a:pt x="80982" y="122376"/>
                  <a:pt x="78343" y="121126"/>
                  <a:pt x="76711" y="118904"/>
                </a:cubicBezTo>
                <a:lnTo>
                  <a:pt x="60042" y="96679"/>
                </a:lnTo>
                <a:cubicBezTo>
                  <a:pt x="57264" y="92998"/>
                  <a:pt x="58028" y="87789"/>
                  <a:pt x="61709" y="85011"/>
                </a:cubicBezTo>
                <a:cubicBezTo>
                  <a:pt x="65390" y="82233"/>
                  <a:pt x="70599" y="82996"/>
                  <a:pt x="73377" y="86678"/>
                </a:cubicBezTo>
                <a:lnTo>
                  <a:pt x="82753" y="99179"/>
                </a:lnTo>
                <a:lnTo>
                  <a:pt x="104076" y="65043"/>
                </a:lnTo>
                <a:cubicBezTo>
                  <a:pt x="106506" y="61153"/>
                  <a:pt x="111646" y="59938"/>
                  <a:pt x="115570" y="62404"/>
                </a:cubicBezTo>
                <a:cubicBezTo>
                  <a:pt x="119494" y="64869"/>
                  <a:pt x="120675" y="69974"/>
                  <a:pt x="118209" y="73898"/>
                </a:cubicBezTo>
                <a:close/>
              </a:path>
            </a:pathLst>
          </a:custGeom>
          <a:solidFill>
            <a:srgbClr val="4D5EFF"/>
          </a:solidFill>
        </p:spPr>
      </p:sp>
      <p:sp>
        <p:nvSpPr>
          <p:cNvPr id="12" name="Text 7"/>
          <p:cNvSpPr/>
          <p:nvPr/>
        </p:nvSpPr>
        <p:spPr>
          <a:xfrm>
            <a:off x="781050" y="4292600"/>
            <a:ext cx="1790700" cy="254000"/>
          </a:xfrm>
          <a:prstGeom prst="rect">
            <a:avLst/>
          </a:prstGeom>
          <a:noFill/>
        </p:spPr>
        <p:txBody>
          <a:bodyPr wrap="square" lIns="0" tIns="0" rIns="0" bIns="0" rtlCol="0" anchor="ctr"/>
          <a:lstStyle/>
          <a:p>
            <a:pPr marL="0" indent="0" algn="l">
              <a:lnSpc>
                <a:spcPct val="120000"/>
              </a:lnSpc>
              <a:buNone/>
            </a:pPr>
            <a:r>
              <a:rPr lang="en-US" sz="1400" dirty="0">
                <a:solidFill>
                  <a:srgbClr val="34385E"/>
                </a:solidFill>
                <a:latin typeface="MiSans" pitchFamily="34" charset="-122"/>
                <a:ea typeface="MiSans" pitchFamily="34" charset="-122"/>
                <a:cs typeface="MiSans" pitchFamily="34" charset="-120"/>
              </a:rPr>
              <a:t>Bán hàng </a:t>
            </a:r>
            <a:r>
              <a:rPr lang="en-US" sz="1400" dirty="0">
                <a:solidFill>
                  <a:srgbClr val="34385E"/>
                </a:solidFill>
                <a:latin typeface="MiSans" pitchFamily="34" charset="-122"/>
                <a:ea typeface="MiSans" pitchFamily="34" charset="-122"/>
                <a:cs typeface="MiSans" pitchFamily="34" charset="-120"/>
              </a:rPr>
              <a:t>livestream</a:t>
            </a:r>
            <a:endParaRPr lang="en-US" sz="1600" dirty="0"/>
          </a:p>
        </p:txBody>
      </p:sp>
      <p:sp>
        <p:nvSpPr>
          <p:cNvPr id="13" name="Shape 8"/>
          <p:cNvSpPr/>
          <p:nvPr/>
        </p:nvSpPr>
        <p:spPr>
          <a:xfrm>
            <a:off x="482600" y="4699000"/>
            <a:ext cx="177800" cy="177800"/>
          </a:xfrm>
          <a:custGeom>
            <a:avLst/>
            <a:gdLst/>
            <a:ahLst/>
            <a:cxnLst/>
            <a:rect l="l" t="t" r="r" b="b"/>
            <a:pathLst>
              <a:path w="177800" h="177800">
                <a:moveTo>
                  <a:pt x="88900" y="177800"/>
                </a:moveTo>
                <a:cubicBezTo>
                  <a:pt x="137965" y="177800"/>
                  <a:pt x="177800" y="137965"/>
                  <a:pt x="177800" y="88900"/>
                </a:cubicBezTo>
                <a:cubicBezTo>
                  <a:pt x="177800" y="39835"/>
                  <a:pt x="137965" y="0"/>
                  <a:pt x="88900" y="0"/>
                </a:cubicBezTo>
                <a:cubicBezTo>
                  <a:pt x="39835" y="0"/>
                  <a:pt x="0" y="39835"/>
                  <a:pt x="0" y="88900"/>
                </a:cubicBezTo>
                <a:cubicBezTo>
                  <a:pt x="0" y="137965"/>
                  <a:pt x="39835" y="177800"/>
                  <a:pt x="88900" y="177800"/>
                </a:cubicBezTo>
                <a:close/>
                <a:moveTo>
                  <a:pt x="118209" y="73863"/>
                </a:moveTo>
                <a:lnTo>
                  <a:pt x="90428" y="118313"/>
                </a:lnTo>
                <a:cubicBezTo>
                  <a:pt x="88969" y="120640"/>
                  <a:pt x="86469" y="122099"/>
                  <a:pt x="83726" y="122238"/>
                </a:cubicBezTo>
                <a:cubicBezTo>
                  <a:pt x="80982" y="122376"/>
                  <a:pt x="78343" y="121126"/>
                  <a:pt x="76711" y="118904"/>
                </a:cubicBezTo>
                <a:lnTo>
                  <a:pt x="60042" y="96679"/>
                </a:lnTo>
                <a:cubicBezTo>
                  <a:pt x="57264" y="92998"/>
                  <a:pt x="58028" y="87789"/>
                  <a:pt x="61709" y="85011"/>
                </a:cubicBezTo>
                <a:cubicBezTo>
                  <a:pt x="65390" y="82233"/>
                  <a:pt x="70599" y="82996"/>
                  <a:pt x="73377" y="86678"/>
                </a:cubicBezTo>
                <a:lnTo>
                  <a:pt x="82753" y="99179"/>
                </a:lnTo>
                <a:lnTo>
                  <a:pt x="104076" y="65043"/>
                </a:lnTo>
                <a:cubicBezTo>
                  <a:pt x="106506" y="61153"/>
                  <a:pt x="111646" y="59938"/>
                  <a:pt x="115570" y="62404"/>
                </a:cubicBezTo>
                <a:cubicBezTo>
                  <a:pt x="119494" y="64869"/>
                  <a:pt x="120675" y="69974"/>
                  <a:pt x="118209" y="73898"/>
                </a:cubicBezTo>
                <a:close/>
              </a:path>
            </a:pathLst>
          </a:custGeom>
          <a:solidFill>
            <a:srgbClr val="4D5EFF"/>
          </a:solidFill>
        </p:spPr>
      </p:sp>
      <p:sp>
        <p:nvSpPr>
          <p:cNvPr id="14" name="Text 9"/>
          <p:cNvSpPr/>
          <p:nvPr/>
        </p:nvSpPr>
        <p:spPr>
          <a:xfrm>
            <a:off x="781050" y="4648200"/>
            <a:ext cx="2806700" cy="254000"/>
          </a:xfrm>
          <a:prstGeom prst="rect">
            <a:avLst/>
          </a:prstGeom>
          <a:noFill/>
        </p:spPr>
        <p:txBody>
          <a:bodyPr wrap="square" lIns="0" tIns="0" rIns="0" bIns="0" rtlCol="0" anchor="ctr"/>
          <a:lstStyle/>
          <a:p>
            <a:pPr marL="0" indent="0" algn="l">
              <a:lnSpc>
                <a:spcPct val="120000"/>
              </a:lnSpc>
              <a:buNone/>
            </a:pPr>
            <a:r>
              <a:rPr lang="en-US" sz="1400" dirty="0">
                <a:solidFill>
                  <a:srgbClr val="34385E"/>
                </a:solidFill>
                <a:latin typeface="MiSans" pitchFamily="34" charset="-122"/>
                <a:ea typeface="MiSans" pitchFamily="34" charset="-122"/>
                <a:cs typeface="MiSans" pitchFamily="34" charset="-120"/>
              </a:rPr>
              <a:t>Chăm sóc khách hàng qua </a:t>
            </a:r>
            <a:r>
              <a:rPr lang="en-US" sz="1400" dirty="0">
                <a:solidFill>
                  <a:srgbClr val="34385E"/>
                </a:solidFill>
                <a:latin typeface="MiSans" pitchFamily="34" charset="-122"/>
                <a:ea typeface="MiSans" pitchFamily="34" charset="-122"/>
                <a:cs typeface="MiSans" pitchFamily="34" charset="-120"/>
              </a:rPr>
              <a:t>inbox</a:t>
            </a:r>
            <a:endParaRPr lang="en-US" sz="1600" dirty="0"/>
          </a:p>
        </p:txBody>
      </p:sp>
      <p:sp>
        <p:nvSpPr>
          <p:cNvPr id="15" name="Shape 10"/>
          <p:cNvSpPr/>
          <p:nvPr/>
        </p:nvSpPr>
        <p:spPr>
          <a:xfrm>
            <a:off x="6299200" y="2616200"/>
            <a:ext cx="5638800" cy="2489200"/>
          </a:xfrm>
          <a:custGeom>
            <a:avLst/>
            <a:gdLst/>
            <a:ahLst/>
            <a:cxnLst/>
            <a:rect l="l" t="t" r="r" b="b"/>
            <a:pathLst>
              <a:path w="5638800" h="2489200">
                <a:moveTo>
                  <a:pt x="101609" y="0"/>
                </a:moveTo>
                <a:lnTo>
                  <a:pt x="5537191" y="0"/>
                </a:lnTo>
                <a:cubicBezTo>
                  <a:pt x="5593308" y="0"/>
                  <a:pt x="5638800" y="45492"/>
                  <a:pt x="5638800" y="101609"/>
                </a:cubicBezTo>
                <a:lnTo>
                  <a:pt x="5638800" y="2387591"/>
                </a:lnTo>
                <a:cubicBezTo>
                  <a:pt x="5638800" y="2443708"/>
                  <a:pt x="5593308" y="2489200"/>
                  <a:pt x="5537191" y="2489200"/>
                </a:cubicBezTo>
                <a:lnTo>
                  <a:pt x="101609" y="2489200"/>
                </a:lnTo>
                <a:cubicBezTo>
                  <a:pt x="45492" y="2489200"/>
                  <a:pt x="0" y="2443708"/>
                  <a:pt x="0" y="2387591"/>
                </a:cubicBezTo>
                <a:lnTo>
                  <a:pt x="0" y="101609"/>
                </a:lnTo>
                <a:cubicBezTo>
                  <a:pt x="0" y="45492"/>
                  <a:pt x="45492" y="0"/>
                  <a:pt x="101609" y="0"/>
                </a:cubicBezTo>
                <a:close/>
              </a:path>
            </a:pathLst>
          </a:custGeom>
          <a:solidFill>
            <a:srgbClr val="6052C8">
              <a:alpha val="10196"/>
            </a:srgbClr>
          </a:solidFill>
        </p:spPr>
      </p:sp>
      <p:sp>
        <p:nvSpPr>
          <p:cNvPr id="16" name="Shape 11"/>
          <p:cNvSpPr/>
          <p:nvPr/>
        </p:nvSpPr>
        <p:spPr>
          <a:xfrm>
            <a:off x="8861425" y="2819400"/>
            <a:ext cx="514350" cy="457200"/>
          </a:xfrm>
          <a:custGeom>
            <a:avLst/>
            <a:gdLst/>
            <a:ahLst/>
            <a:cxnLst/>
            <a:rect l="l" t="t" r="r" b="b"/>
            <a:pathLst>
              <a:path w="514350" h="457200">
                <a:moveTo>
                  <a:pt x="42863" y="174843"/>
                </a:moveTo>
                <a:lnTo>
                  <a:pt x="229672" y="251728"/>
                </a:lnTo>
                <a:cubicBezTo>
                  <a:pt x="238423" y="255300"/>
                  <a:pt x="247710" y="257175"/>
                  <a:pt x="257175" y="257175"/>
                </a:cubicBezTo>
                <a:cubicBezTo>
                  <a:pt x="266640" y="257175"/>
                  <a:pt x="275927" y="255300"/>
                  <a:pt x="284678" y="251728"/>
                </a:cubicBezTo>
                <a:lnTo>
                  <a:pt x="501134" y="162610"/>
                </a:lnTo>
                <a:cubicBezTo>
                  <a:pt x="509171" y="159306"/>
                  <a:pt x="514350" y="151537"/>
                  <a:pt x="514350" y="142875"/>
                </a:cubicBezTo>
                <a:cubicBezTo>
                  <a:pt x="514350" y="134213"/>
                  <a:pt x="509171" y="126444"/>
                  <a:pt x="501134" y="123140"/>
                </a:cubicBezTo>
                <a:lnTo>
                  <a:pt x="284678" y="34022"/>
                </a:lnTo>
                <a:cubicBezTo>
                  <a:pt x="275927" y="30450"/>
                  <a:pt x="266640" y="28575"/>
                  <a:pt x="257175" y="28575"/>
                </a:cubicBezTo>
                <a:cubicBezTo>
                  <a:pt x="247710" y="28575"/>
                  <a:pt x="238423" y="30450"/>
                  <a:pt x="229672" y="34022"/>
                </a:cubicBezTo>
                <a:lnTo>
                  <a:pt x="13216" y="123140"/>
                </a:lnTo>
                <a:cubicBezTo>
                  <a:pt x="5179" y="126444"/>
                  <a:pt x="0" y="134213"/>
                  <a:pt x="0" y="142875"/>
                </a:cubicBezTo>
                <a:lnTo>
                  <a:pt x="0" y="407194"/>
                </a:lnTo>
                <a:cubicBezTo>
                  <a:pt x="0" y="419070"/>
                  <a:pt x="9555" y="428625"/>
                  <a:pt x="21431" y="428625"/>
                </a:cubicBezTo>
                <a:cubicBezTo>
                  <a:pt x="33308" y="428625"/>
                  <a:pt x="42863" y="419070"/>
                  <a:pt x="42863" y="407194"/>
                </a:cubicBezTo>
                <a:lnTo>
                  <a:pt x="42863" y="174843"/>
                </a:lnTo>
                <a:close/>
                <a:moveTo>
                  <a:pt x="85725" y="238869"/>
                </a:moveTo>
                <a:lnTo>
                  <a:pt x="85725" y="342900"/>
                </a:lnTo>
                <a:cubicBezTo>
                  <a:pt x="85725" y="390227"/>
                  <a:pt x="162520" y="428625"/>
                  <a:pt x="257175" y="428625"/>
                </a:cubicBezTo>
                <a:cubicBezTo>
                  <a:pt x="351830" y="428625"/>
                  <a:pt x="428625" y="390227"/>
                  <a:pt x="428625" y="342900"/>
                </a:cubicBezTo>
                <a:lnTo>
                  <a:pt x="428625" y="238780"/>
                </a:lnTo>
                <a:lnTo>
                  <a:pt x="301020" y="291376"/>
                </a:lnTo>
                <a:cubicBezTo>
                  <a:pt x="287089" y="297091"/>
                  <a:pt x="272266" y="300037"/>
                  <a:pt x="257175" y="300037"/>
                </a:cubicBezTo>
                <a:cubicBezTo>
                  <a:pt x="242084" y="300037"/>
                  <a:pt x="227261" y="297091"/>
                  <a:pt x="213330" y="291376"/>
                </a:cubicBezTo>
                <a:lnTo>
                  <a:pt x="85725" y="238780"/>
                </a:lnTo>
                <a:close/>
              </a:path>
            </a:pathLst>
          </a:custGeom>
          <a:solidFill>
            <a:srgbClr val="6052C8"/>
          </a:solidFill>
        </p:spPr>
      </p:sp>
      <p:sp>
        <p:nvSpPr>
          <p:cNvPr id="17" name="Text 12"/>
          <p:cNvSpPr/>
          <p:nvPr/>
        </p:nvSpPr>
        <p:spPr>
          <a:xfrm>
            <a:off x="6248400" y="3429000"/>
            <a:ext cx="5740400" cy="355600"/>
          </a:xfrm>
          <a:prstGeom prst="rect">
            <a:avLst/>
          </a:prstGeom>
          <a:noFill/>
        </p:spPr>
        <p:txBody>
          <a:bodyPr wrap="square" lIns="0" tIns="0" rIns="0" bIns="0" rtlCol="0" anchor="ctr"/>
          <a:lstStyle/>
          <a:p>
            <a:pPr marL="0" indent="0" algn="ctr">
              <a:lnSpc>
                <a:spcPct val="120000"/>
              </a:lnSpc>
              <a:buNone/>
            </a:pPr>
            <a:r>
              <a:rPr lang="en-US" sz="2000" dirty="0">
                <a:solidFill>
                  <a:srgbClr val="6052C8"/>
                </a:solidFill>
                <a:latin typeface="MiSans" pitchFamily="34" charset="-122"/>
                <a:ea typeface="MiSans" pitchFamily="34" charset="-122"/>
                <a:cs typeface="MiSans" pitchFamily="34" charset="-120"/>
              </a:rPr>
              <a:t>Học Tập</a:t>
            </a:r>
            <a:endParaRPr lang="en-US" sz="1600" dirty="0"/>
          </a:p>
        </p:txBody>
      </p:sp>
      <p:sp>
        <p:nvSpPr>
          <p:cNvPr id="18" name="Shape 13"/>
          <p:cNvSpPr/>
          <p:nvPr/>
        </p:nvSpPr>
        <p:spPr>
          <a:xfrm>
            <a:off x="6527800" y="3987800"/>
            <a:ext cx="177800" cy="177800"/>
          </a:xfrm>
          <a:custGeom>
            <a:avLst/>
            <a:gdLst/>
            <a:ahLst/>
            <a:cxnLst/>
            <a:rect l="l" t="t" r="r" b="b"/>
            <a:pathLst>
              <a:path w="177800" h="177800">
                <a:moveTo>
                  <a:pt x="88900" y="177800"/>
                </a:moveTo>
                <a:cubicBezTo>
                  <a:pt x="137965" y="177800"/>
                  <a:pt x="177800" y="137965"/>
                  <a:pt x="177800" y="88900"/>
                </a:cubicBezTo>
                <a:cubicBezTo>
                  <a:pt x="177800" y="39835"/>
                  <a:pt x="137965" y="0"/>
                  <a:pt x="88900" y="0"/>
                </a:cubicBezTo>
                <a:cubicBezTo>
                  <a:pt x="39835" y="0"/>
                  <a:pt x="0" y="39835"/>
                  <a:pt x="0" y="88900"/>
                </a:cubicBezTo>
                <a:cubicBezTo>
                  <a:pt x="0" y="137965"/>
                  <a:pt x="39835" y="177800"/>
                  <a:pt x="88900" y="177800"/>
                </a:cubicBezTo>
                <a:close/>
                <a:moveTo>
                  <a:pt x="118209" y="73863"/>
                </a:moveTo>
                <a:lnTo>
                  <a:pt x="90428" y="118313"/>
                </a:lnTo>
                <a:cubicBezTo>
                  <a:pt x="88969" y="120640"/>
                  <a:pt x="86469" y="122099"/>
                  <a:pt x="83726" y="122238"/>
                </a:cubicBezTo>
                <a:cubicBezTo>
                  <a:pt x="80982" y="122376"/>
                  <a:pt x="78343" y="121126"/>
                  <a:pt x="76711" y="118904"/>
                </a:cubicBezTo>
                <a:lnTo>
                  <a:pt x="60042" y="96679"/>
                </a:lnTo>
                <a:cubicBezTo>
                  <a:pt x="57264" y="92998"/>
                  <a:pt x="58028" y="87789"/>
                  <a:pt x="61709" y="85011"/>
                </a:cubicBezTo>
                <a:cubicBezTo>
                  <a:pt x="65390" y="82233"/>
                  <a:pt x="70599" y="82996"/>
                  <a:pt x="73377" y="86678"/>
                </a:cubicBezTo>
                <a:lnTo>
                  <a:pt x="82753" y="99179"/>
                </a:lnTo>
                <a:lnTo>
                  <a:pt x="104076" y="65043"/>
                </a:lnTo>
                <a:cubicBezTo>
                  <a:pt x="106506" y="61153"/>
                  <a:pt x="111646" y="59938"/>
                  <a:pt x="115570" y="62404"/>
                </a:cubicBezTo>
                <a:cubicBezTo>
                  <a:pt x="119494" y="64869"/>
                  <a:pt x="120675" y="69974"/>
                  <a:pt x="118209" y="73898"/>
                </a:cubicBezTo>
                <a:close/>
              </a:path>
            </a:pathLst>
          </a:custGeom>
          <a:solidFill>
            <a:srgbClr val="4D5EFF"/>
          </a:solidFill>
        </p:spPr>
      </p:sp>
      <p:sp>
        <p:nvSpPr>
          <p:cNvPr id="19" name="Text 14"/>
          <p:cNvSpPr/>
          <p:nvPr/>
        </p:nvSpPr>
        <p:spPr>
          <a:xfrm>
            <a:off x="6826250" y="3937000"/>
            <a:ext cx="3022600" cy="254000"/>
          </a:xfrm>
          <a:prstGeom prst="rect">
            <a:avLst/>
          </a:prstGeom>
          <a:noFill/>
        </p:spPr>
        <p:txBody>
          <a:bodyPr wrap="square" lIns="0" tIns="0" rIns="0" bIns="0" rtlCol="0" anchor="ctr"/>
          <a:lstStyle/>
          <a:p>
            <a:pPr marL="0" indent="0" algn="l">
              <a:lnSpc>
                <a:spcPct val="120000"/>
              </a:lnSpc>
              <a:buNone/>
            </a:pPr>
            <a:r>
              <a:rPr lang="en-US" sz="1400" dirty="0">
                <a:solidFill>
                  <a:srgbClr val="34385E"/>
                </a:solidFill>
                <a:latin typeface="MiSans" pitchFamily="34" charset="-122"/>
                <a:ea typeface="MiSans" pitchFamily="34" charset="-122"/>
                <a:cs typeface="MiSans" pitchFamily="34" charset="-120"/>
              </a:rPr>
              <a:t>Tham gia </a:t>
            </a:r>
            <a:r>
              <a:rPr lang="en-US" sz="1400" dirty="0">
                <a:solidFill>
                  <a:srgbClr val="34385E"/>
                </a:solidFill>
                <a:latin typeface="MiSans" pitchFamily="34" charset="-122"/>
                <a:ea typeface="MiSans" pitchFamily="34" charset="-122"/>
                <a:cs typeface="MiSans" pitchFamily="34" charset="-120"/>
              </a:rPr>
              <a:t>nhóm học tập</a:t>
            </a:r>
            <a:r>
              <a:rPr lang="en-US" sz="1400" dirty="0">
                <a:solidFill>
                  <a:srgbClr val="34385E"/>
                </a:solidFill>
                <a:latin typeface="MiSans" pitchFamily="34" charset="-122"/>
                <a:ea typeface="MiSans" pitchFamily="34" charset="-122"/>
                <a:cs typeface="MiSans" pitchFamily="34" charset="-120"/>
              </a:rPr>
              <a:t> &amp; </a:t>
            </a:r>
            <a:r>
              <a:rPr lang="en-US" sz="1400" dirty="0">
                <a:solidFill>
                  <a:srgbClr val="34385E"/>
                </a:solidFill>
                <a:latin typeface="MiSans" pitchFamily="34" charset="-122"/>
                <a:ea typeface="MiSans" pitchFamily="34" charset="-122"/>
                <a:cs typeface="MiSans" pitchFamily="34" charset="-120"/>
              </a:rPr>
              <a:t>webinar</a:t>
            </a:r>
            <a:endParaRPr lang="en-US" sz="1600" dirty="0"/>
          </a:p>
        </p:txBody>
      </p:sp>
      <p:sp>
        <p:nvSpPr>
          <p:cNvPr id="20" name="Shape 15"/>
          <p:cNvSpPr/>
          <p:nvPr/>
        </p:nvSpPr>
        <p:spPr>
          <a:xfrm>
            <a:off x="6527800" y="4343400"/>
            <a:ext cx="177800" cy="177800"/>
          </a:xfrm>
          <a:custGeom>
            <a:avLst/>
            <a:gdLst/>
            <a:ahLst/>
            <a:cxnLst/>
            <a:rect l="l" t="t" r="r" b="b"/>
            <a:pathLst>
              <a:path w="177800" h="177800">
                <a:moveTo>
                  <a:pt x="88900" y="177800"/>
                </a:moveTo>
                <a:cubicBezTo>
                  <a:pt x="137965" y="177800"/>
                  <a:pt x="177800" y="137965"/>
                  <a:pt x="177800" y="88900"/>
                </a:cubicBezTo>
                <a:cubicBezTo>
                  <a:pt x="177800" y="39835"/>
                  <a:pt x="137965" y="0"/>
                  <a:pt x="88900" y="0"/>
                </a:cubicBezTo>
                <a:cubicBezTo>
                  <a:pt x="39835" y="0"/>
                  <a:pt x="0" y="39835"/>
                  <a:pt x="0" y="88900"/>
                </a:cubicBezTo>
                <a:cubicBezTo>
                  <a:pt x="0" y="137965"/>
                  <a:pt x="39835" y="177800"/>
                  <a:pt x="88900" y="177800"/>
                </a:cubicBezTo>
                <a:close/>
                <a:moveTo>
                  <a:pt x="118209" y="73863"/>
                </a:moveTo>
                <a:lnTo>
                  <a:pt x="90428" y="118313"/>
                </a:lnTo>
                <a:cubicBezTo>
                  <a:pt x="88969" y="120640"/>
                  <a:pt x="86469" y="122099"/>
                  <a:pt x="83726" y="122238"/>
                </a:cubicBezTo>
                <a:cubicBezTo>
                  <a:pt x="80982" y="122376"/>
                  <a:pt x="78343" y="121126"/>
                  <a:pt x="76711" y="118904"/>
                </a:cubicBezTo>
                <a:lnTo>
                  <a:pt x="60042" y="96679"/>
                </a:lnTo>
                <a:cubicBezTo>
                  <a:pt x="57264" y="92998"/>
                  <a:pt x="58028" y="87789"/>
                  <a:pt x="61709" y="85011"/>
                </a:cubicBezTo>
                <a:cubicBezTo>
                  <a:pt x="65390" y="82233"/>
                  <a:pt x="70599" y="82996"/>
                  <a:pt x="73377" y="86678"/>
                </a:cubicBezTo>
                <a:lnTo>
                  <a:pt x="82753" y="99179"/>
                </a:lnTo>
                <a:lnTo>
                  <a:pt x="104076" y="65043"/>
                </a:lnTo>
                <a:cubicBezTo>
                  <a:pt x="106506" y="61153"/>
                  <a:pt x="111646" y="59938"/>
                  <a:pt x="115570" y="62404"/>
                </a:cubicBezTo>
                <a:cubicBezTo>
                  <a:pt x="119494" y="64869"/>
                  <a:pt x="120675" y="69974"/>
                  <a:pt x="118209" y="73898"/>
                </a:cubicBezTo>
                <a:close/>
              </a:path>
            </a:pathLst>
          </a:custGeom>
          <a:solidFill>
            <a:srgbClr val="4D5EFF"/>
          </a:solidFill>
        </p:spPr>
      </p:sp>
      <p:sp>
        <p:nvSpPr>
          <p:cNvPr id="21" name="Text 16"/>
          <p:cNvSpPr/>
          <p:nvPr/>
        </p:nvSpPr>
        <p:spPr>
          <a:xfrm>
            <a:off x="6826250" y="4292600"/>
            <a:ext cx="3238500" cy="254000"/>
          </a:xfrm>
          <a:prstGeom prst="rect">
            <a:avLst/>
          </a:prstGeom>
          <a:noFill/>
        </p:spPr>
        <p:txBody>
          <a:bodyPr wrap="square" lIns="0" tIns="0" rIns="0" bIns="0" rtlCol="0" anchor="ctr"/>
          <a:lstStyle/>
          <a:p>
            <a:pPr marL="0" indent="0" algn="l">
              <a:lnSpc>
                <a:spcPct val="120000"/>
              </a:lnSpc>
              <a:buNone/>
            </a:pPr>
            <a:r>
              <a:rPr lang="en-US" sz="1400" dirty="0">
                <a:solidFill>
                  <a:srgbClr val="34385E"/>
                </a:solidFill>
                <a:latin typeface="MiSans" pitchFamily="34" charset="-122"/>
                <a:ea typeface="MiSans" pitchFamily="34" charset="-122"/>
                <a:cs typeface="MiSans" pitchFamily="34" charset="-120"/>
              </a:rPr>
              <a:t>Học các </a:t>
            </a:r>
            <a:r>
              <a:rPr lang="en-US" sz="1400" dirty="0">
                <a:solidFill>
                  <a:srgbClr val="34385E"/>
                </a:solidFill>
                <a:latin typeface="MiSans" pitchFamily="34" charset="-122"/>
                <a:ea typeface="MiSans" pitchFamily="34" charset="-122"/>
                <a:cs typeface="MiSans" pitchFamily="34" charset="-120"/>
              </a:rPr>
              <a:t>khoá học ngắn hạn</a:t>
            </a:r>
            <a:r>
              <a:rPr lang="en-US" sz="1400" dirty="0">
                <a:solidFill>
                  <a:srgbClr val="34385E"/>
                </a:solidFill>
                <a:latin typeface="MiSans" pitchFamily="34" charset="-122"/>
                <a:ea typeface="MiSans" pitchFamily="34" charset="-122"/>
                <a:cs typeface="MiSans" pitchFamily="34" charset="-120"/>
              </a:rPr>
              <a:t> trực tuyến</a:t>
            </a:r>
            <a:endParaRPr lang="en-US" sz="1600" dirty="0"/>
          </a:p>
        </p:txBody>
      </p:sp>
      <p:sp>
        <p:nvSpPr>
          <p:cNvPr id="22" name="Shape 17"/>
          <p:cNvSpPr/>
          <p:nvPr/>
        </p:nvSpPr>
        <p:spPr>
          <a:xfrm>
            <a:off x="6527800" y="4699000"/>
            <a:ext cx="177800" cy="177800"/>
          </a:xfrm>
          <a:custGeom>
            <a:avLst/>
            <a:gdLst/>
            <a:ahLst/>
            <a:cxnLst/>
            <a:rect l="l" t="t" r="r" b="b"/>
            <a:pathLst>
              <a:path w="177800" h="177800">
                <a:moveTo>
                  <a:pt x="88900" y="177800"/>
                </a:moveTo>
                <a:cubicBezTo>
                  <a:pt x="137965" y="177800"/>
                  <a:pt x="177800" y="137965"/>
                  <a:pt x="177800" y="88900"/>
                </a:cubicBezTo>
                <a:cubicBezTo>
                  <a:pt x="177800" y="39835"/>
                  <a:pt x="137965" y="0"/>
                  <a:pt x="88900" y="0"/>
                </a:cubicBezTo>
                <a:cubicBezTo>
                  <a:pt x="39835" y="0"/>
                  <a:pt x="0" y="39835"/>
                  <a:pt x="0" y="88900"/>
                </a:cubicBezTo>
                <a:cubicBezTo>
                  <a:pt x="0" y="137965"/>
                  <a:pt x="39835" y="177800"/>
                  <a:pt x="88900" y="177800"/>
                </a:cubicBezTo>
                <a:close/>
                <a:moveTo>
                  <a:pt x="118209" y="73863"/>
                </a:moveTo>
                <a:lnTo>
                  <a:pt x="90428" y="118313"/>
                </a:lnTo>
                <a:cubicBezTo>
                  <a:pt x="88969" y="120640"/>
                  <a:pt x="86469" y="122099"/>
                  <a:pt x="83726" y="122238"/>
                </a:cubicBezTo>
                <a:cubicBezTo>
                  <a:pt x="80982" y="122376"/>
                  <a:pt x="78343" y="121126"/>
                  <a:pt x="76711" y="118904"/>
                </a:cubicBezTo>
                <a:lnTo>
                  <a:pt x="60042" y="96679"/>
                </a:lnTo>
                <a:cubicBezTo>
                  <a:pt x="57264" y="92998"/>
                  <a:pt x="58028" y="87789"/>
                  <a:pt x="61709" y="85011"/>
                </a:cubicBezTo>
                <a:cubicBezTo>
                  <a:pt x="65390" y="82233"/>
                  <a:pt x="70599" y="82996"/>
                  <a:pt x="73377" y="86678"/>
                </a:cubicBezTo>
                <a:lnTo>
                  <a:pt x="82753" y="99179"/>
                </a:lnTo>
                <a:lnTo>
                  <a:pt x="104076" y="65043"/>
                </a:lnTo>
                <a:cubicBezTo>
                  <a:pt x="106506" y="61153"/>
                  <a:pt x="111646" y="59938"/>
                  <a:pt x="115570" y="62404"/>
                </a:cubicBezTo>
                <a:cubicBezTo>
                  <a:pt x="119494" y="64869"/>
                  <a:pt x="120675" y="69974"/>
                  <a:pt x="118209" y="73898"/>
                </a:cubicBezTo>
                <a:close/>
              </a:path>
            </a:pathLst>
          </a:custGeom>
          <a:solidFill>
            <a:srgbClr val="4D5EFF"/>
          </a:solidFill>
        </p:spPr>
      </p:sp>
      <p:sp>
        <p:nvSpPr>
          <p:cNvPr id="23" name="Text 18"/>
          <p:cNvSpPr/>
          <p:nvPr/>
        </p:nvSpPr>
        <p:spPr>
          <a:xfrm>
            <a:off x="6826250" y="4648200"/>
            <a:ext cx="2984500" cy="254000"/>
          </a:xfrm>
          <a:prstGeom prst="rect">
            <a:avLst/>
          </a:prstGeom>
          <a:noFill/>
        </p:spPr>
        <p:txBody>
          <a:bodyPr wrap="square" lIns="0" tIns="0" rIns="0" bIns="0" rtlCol="0" anchor="ctr"/>
          <a:lstStyle/>
          <a:p>
            <a:pPr marL="0" indent="0" algn="l">
              <a:lnSpc>
                <a:spcPct val="120000"/>
              </a:lnSpc>
              <a:buNone/>
            </a:pPr>
            <a:r>
              <a:rPr lang="en-US" sz="1400" dirty="0">
                <a:solidFill>
                  <a:srgbClr val="34385E"/>
                </a:solidFill>
                <a:latin typeface="MiSans" pitchFamily="34" charset="-122"/>
                <a:ea typeface="MiSans" pitchFamily="34" charset="-122"/>
                <a:cs typeface="MiSans" pitchFamily="34" charset="-120"/>
              </a:rPr>
              <a:t>Tận dụng </a:t>
            </a:r>
            <a:r>
              <a:rPr lang="en-US" sz="1400" dirty="0">
                <a:solidFill>
                  <a:srgbClr val="34385E"/>
                </a:solidFill>
                <a:latin typeface="MiSans" pitchFamily="34" charset="-122"/>
                <a:ea typeface="MiSans" pitchFamily="34" charset="-122"/>
                <a:cs typeface="MiSans" pitchFamily="34" charset="-120"/>
              </a:rPr>
              <a:t>tri thức mở</a:t>
            </a:r>
            <a:r>
              <a:rPr lang="en-US" sz="1400" dirty="0">
                <a:solidFill>
                  <a:srgbClr val="34385E"/>
                </a:solidFill>
                <a:latin typeface="MiSans" pitchFamily="34" charset="-122"/>
                <a:ea typeface="MiSans" pitchFamily="34" charset="-122"/>
                <a:cs typeface="MiSans" pitchFamily="34" charset="-120"/>
              </a:rPr>
              <a:t> từ chuyên gia</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D31E2"/>
        </a:solidFill>
        <a:effectLst/>
      </p:bgPr>
    </p:bg>
    <p:spTree>
      <p:nvGrpSpPr>
        <p:cNvPr id="1" name=""/>
        <p:cNvGrpSpPr/>
        <p:nvPr/>
      </p:nvGrpSpPr>
      <p:grpSpPr>
        <a:xfrm>
          <a:off x="0" y="0"/>
          <a:ext cx="0" cy="0"/>
          <a:chOff x="0" y="0"/>
          <a:chExt cx="0" cy="0"/>
        </a:xfrm>
      </p:grpSpPr>
      <p:pic>
        <p:nvPicPr>
          <p:cNvPr id="2" name="Image 0" descr="https://kimi-img.moonshot.cn/pub/slides/slides_tmpl/image/25-08-27-20:07:28-d2nfa018bjvh7rlj0eug.jpg"/>
          <p:cNvPicPr>
            <a:picLocks noChangeAspect="1"/>
          </p:cNvPicPr>
          <p:nvPr/>
        </p:nvPicPr>
        <p:blipFill>
          <a:blip r:embed="rId1"/>
          <a:stretch>
            <a:fillRect/>
          </a:stretch>
        </p:blipFill>
        <p:spPr>
          <a:xfrm>
            <a:off x="0" y="0"/>
            <a:ext cx="12192635" cy="6858000"/>
          </a:xfrm>
          <a:prstGeom prst="rect">
            <a:avLst/>
          </a:prstGeom>
        </p:spPr>
      </p:pic>
      <p:sp>
        <p:nvSpPr>
          <p:cNvPr id="3" name="Text 0"/>
          <p:cNvSpPr/>
          <p:nvPr/>
        </p:nvSpPr>
        <p:spPr>
          <a:xfrm>
            <a:off x="423545" y="3815080"/>
            <a:ext cx="5547360" cy="492125"/>
          </a:xfrm>
          <a:prstGeom prst="rect">
            <a:avLst/>
          </a:prstGeom>
          <a:noFill/>
        </p:spPr>
        <p:txBody>
          <a:bodyPr wrap="square" lIns="0" tIns="0" rIns="0" bIns="0" rtlCol="0" anchor="t">
            <a:spAutoFit/>
          </a:bodyPr>
          <a:lstStyle/>
          <a:p>
            <a:pPr marL="0" indent="0" algn="ctr">
              <a:lnSpc>
                <a:spcPct val="100000"/>
              </a:lnSpc>
              <a:buNone/>
            </a:pPr>
            <a:r>
              <a:rPr lang="en-US" sz="3200" dirty="0">
                <a:solidFill>
                  <a:srgbClr val="1D31E2"/>
                </a:solidFill>
                <a:latin typeface="MiSans" pitchFamily="34" charset="-122"/>
                <a:ea typeface="MiSans" pitchFamily="34" charset="-122"/>
                <a:cs typeface="MiSans" pitchFamily="34" charset="-120"/>
              </a:rPr>
              <a:t>Ưu điểm vượt trội</a:t>
            </a:r>
            <a:endParaRPr lang="en-US" sz="1600" dirty="0"/>
          </a:p>
        </p:txBody>
      </p:sp>
      <p:pic>
        <p:nvPicPr>
          <p:cNvPr id="4" name="Image 1" descr="https://kimi-img.moonshot.cn/pub/slides/slides_tmpl/image/25-08-27-20:07:28-d2nfa018bjvh7rlj0f60.png"/>
          <p:cNvPicPr>
            <a:picLocks noChangeAspect="1"/>
          </p:cNvPicPr>
          <p:nvPr/>
        </p:nvPicPr>
        <p:blipFill>
          <a:blip r:embed="rId2">
            <a:alphaModFix amt="23000"/>
          </a:blip>
          <a:stretch>
            <a:fillRect/>
          </a:stretch>
        </p:blipFill>
        <p:spPr>
          <a:xfrm rot="5400000" flipH="1">
            <a:off x="8475980" y="2972435"/>
            <a:ext cx="1301115" cy="976630"/>
          </a:xfrm>
          <a:prstGeom prst="rect">
            <a:avLst/>
          </a:prstGeom>
        </p:spPr>
      </p:pic>
      <p:sp>
        <p:nvSpPr>
          <p:cNvPr id="5" name="Shape 1"/>
          <p:cNvSpPr/>
          <p:nvPr/>
        </p:nvSpPr>
        <p:spPr>
          <a:xfrm>
            <a:off x="1874550" y="1562096"/>
            <a:ext cx="2284095" cy="2335530"/>
          </a:xfrm>
          <a:prstGeom prst="rect">
            <a:avLst/>
          </a:prstGeom>
          <a:solidFill>
            <a:srgbClr val="000000">
              <a:alpha val="0"/>
            </a:srgbClr>
          </a:solidFill>
        </p:spPr>
      </p:sp>
      <p:sp>
        <p:nvSpPr>
          <p:cNvPr id="6" name="Text 2"/>
          <p:cNvSpPr/>
          <p:nvPr/>
        </p:nvSpPr>
        <p:spPr>
          <a:xfrm>
            <a:off x="1874550" y="1562096"/>
            <a:ext cx="2284095" cy="2335530"/>
          </a:xfrm>
          <a:prstGeom prst="rect">
            <a:avLst/>
          </a:prstGeom>
          <a:noFill/>
        </p:spPr>
        <p:txBody>
          <a:bodyPr wrap="square" lIns="0" tIns="0" rIns="0" bIns="0" rtlCol="0" anchor="t"/>
          <a:lstStyle/>
          <a:p>
            <a:pPr marL="0" indent="0" algn="ctr">
              <a:lnSpc>
                <a:spcPct val="110000"/>
              </a:lnSpc>
              <a:buNone/>
            </a:pPr>
            <a:r>
              <a:rPr lang="en-US" sz="13800" dirty="0">
                <a:solidFill>
                  <a:srgbClr val="1D31E2"/>
                </a:solidFill>
                <a:latin typeface="MiSans" pitchFamily="34" charset="-122"/>
                <a:ea typeface="MiSans" pitchFamily="34" charset="-122"/>
                <a:cs typeface="MiSans" pitchFamily="34" charset="-120"/>
              </a:rPr>
              <a:t>03</a:t>
            </a:r>
            <a:endParaRPr lang="en-US" sz="1600" dirty="0"/>
          </a:p>
        </p:txBody>
      </p:sp>
      <p:pic>
        <p:nvPicPr>
          <p:cNvPr id="7" name="Image 2" descr="https://kimi-img.moonshot.cn/pub/slides/slides_tmpl/image/25-08-27-20:07:28-d2nfa018bjvh7rlj0f70.png"/>
          <p:cNvPicPr>
            <a:picLocks noChangeAspect="1"/>
          </p:cNvPicPr>
          <p:nvPr/>
        </p:nvPicPr>
        <p:blipFill>
          <a:blip r:embed="rId3"/>
          <a:stretch>
            <a:fillRect/>
          </a:stretch>
        </p:blipFill>
        <p:spPr>
          <a:xfrm>
            <a:off x="6001385" y="1950085"/>
            <a:ext cx="4074795" cy="3778250"/>
          </a:xfrm>
          <a:prstGeom prst="rect">
            <a:avLst/>
          </a:prstGeom>
        </p:spPr>
      </p:pic>
      <p:pic>
        <p:nvPicPr>
          <p:cNvPr id="8" name="Image 3" descr="https://kimi-img.moonshot.cn/pub/slides/slides_tmpl/image/25-08-27-20:07:28-d2nfa018bjvh7rlj0eu0.png"/>
          <p:cNvPicPr>
            <a:picLocks noChangeAspect="1"/>
          </p:cNvPicPr>
          <p:nvPr/>
        </p:nvPicPr>
        <p:blipFill>
          <a:blip r:embed="rId4"/>
          <a:stretch>
            <a:fillRect/>
          </a:stretch>
        </p:blipFill>
        <p:spPr>
          <a:xfrm>
            <a:off x="10076180" y="0"/>
            <a:ext cx="2116455" cy="2286000"/>
          </a:xfrm>
          <a:prstGeom prst="rect">
            <a:avLst/>
          </a:prstGeom>
        </p:spPr>
      </p:pic>
      <p:pic>
        <p:nvPicPr>
          <p:cNvPr id="9" name="Image 4" descr="https://kimi-img.moonshot.cn/pub/slides/slides_tmpl/image/25-08-27-20:07:28-d2nfa018bjvh7rlj0et0.png"/>
          <p:cNvPicPr>
            <a:picLocks noChangeAspect="1"/>
          </p:cNvPicPr>
          <p:nvPr/>
        </p:nvPicPr>
        <p:blipFill>
          <a:blip r:embed="rId5"/>
          <a:stretch>
            <a:fillRect/>
          </a:stretch>
        </p:blipFill>
        <p:spPr>
          <a:xfrm>
            <a:off x="0" y="5530850"/>
            <a:ext cx="1684020" cy="132715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08-27-20:07:28-d2nfa018bjvh7rlj0eug.jpg"/>
          <p:cNvPicPr>
            <a:picLocks noChangeAspect="1"/>
          </p:cNvPicPr>
          <p:nvPr/>
        </p:nvPicPr>
        <p:blipFill>
          <a:blip r:embed="rId1"/>
          <a:stretch>
            <a:fillRect/>
          </a:stretch>
        </p:blipFill>
        <p:spPr>
          <a:xfrm>
            <a:off x="0" y="0"/>
            <a:ext cx="12233275" cy="6881495"/>
          </a:xfrm>
          <a:prstGeom prst="rect">
            <a:avLst/>
          </a:prstGeom>
        </p:spPr>
      </p:pic>
      <p:pic>
        <p:nvPicPr>
          <p:cNvPr id="3" name="Image 1" descr="https://kimi-img.moonshot.cn/pub/slides/slides_tmpl/image/25-08-27-20:07:28-d2nfa018bjvh7rlj0et0.png"/>
          <p:cNvPicPr>
            <a:picLocks noChangeAspect="1"/>
          </p:cNvPicPr>
          <p:nvPr/>
        </p:nvPicPr>
        <p:blipFill>
          <a:blip r:embed="rId2"/>
          <a:stretch>
            <a:fillRect/>
          </a:stretch>
        </p:blipFill>
        <p:spPr>
          <a:xfrm>
            <a:off x="0" y="5530850"/>
            <a:ext cx="1684020" cy="1327150"/>
          </a:xfrm>
          <a:prstGeom prst="rect">
            <a:avLst/>
          </a:prstGeom>
        </p:spPr>
      </p:pic>
      <p:pic>
        <p:nvPicPr>
          <p:cNvPr id="4" name="Image 2" descr="https://kimi-img.moonshot.cn/pub/slides/slides_tmpl/image/25-08-27-20:07:28-d2nfa018bjvh7rlj0eu0.png"/>
          <p:cNvPicPr>
            <a:picLocks noChangeAspect="1"/>
          </p:cNvPicPr>
          <p:nvPr/>
        </p:nvPicPr>
        <p:blipFill>
          <a:blip r:embed="rId3"/>
          <a:stretch>
            <a:fillRect/>
          </a:stretch>
        </p:blipFill>
        <p:spPr>
          <a:xfrm>
            <a:off x="10076180" y="0"/>
            <a:ext cx="2116455" cy="2286000"/>
          </a:xfrm>
          <a:prstGeom prst="rect">
            <a:avLst/>
          </a:prstGeom>
        </p:spPr>
      </p:pic>
      <p:pic>
        <p:nvPicPr>
          <p:cNvPr id="5" name="Image 3" descr="https://kimi-web-img.moonshot.cn/img/thumbs.dreamstime.com/f5fc9f0cab683113586912a71ba0a5aeb8657627.jpg"/>
          <p:cNvPicPr>
            <a:picLocks noChangeAspect="1"/>
          </p:cNvPicPr>
          <p:nvPr/>
        </p:nvPicPr>
        <p:blipFill>
          <a:blip r:embed="rId4"/>
          <a:srcRect l="5600" r="5600"/>
          <a:stretch>
            <a:fillRect/>
          </a:stretch>
        </p:blipFill>
        <p:spPr>
          <a:xfrm>
            <a:off x="254000" y="254000"/>
            <a:ext cx="5638800" cy="6350000"/>
          </a:xfrm>
          <a:prstGeom prst="roundRect">
            <a:avLst>
              <a:gd name="adj" fmla="val 1802"/>
            </a:avLst>
          </a:prstGeom>
        </p:spPr>
      </p:pic>
      <p:sp>
        <p:nvSpPr>
          <p:cNvPr id="6" name="Text 0"/>
          <p:cNvSpPr/>
          <p:nvPr/>
        </p:nvSpPr>
        <p:spPr>
          <a:xfrm>
            <a:off x="6299200" y="1485900"/>
            <a:ext cx="5638800" cy="914400"/>
          </a:xfrm>
          <a:prstGeom prst="rect">
            <a:avLst/>
          </a:prstGeom>
          <a:noFill/>
        </p:spPr>
        <p:txBody>
          <a:bodyPr wrap="square" lIns="0" tIns="0" rIns="0" bIns="0" rtlCol="0" anchor="ctr"/>
          <a:lstStyle/>
          <a:p>
            <a:pPr marL="0" indent="0">
              <a:lnSpc>
                <a:spcPct val="100000"/>
              </a:lnSpc>
              <a:buNone/>
            </a:pPr>
            <a:r>
              <a:rPr lang="en-US" sz="3000" dirty="0">
                <a:solidFill>
                  <a:srgbClr val="3341B8"/>
                </a:solidFill>
                <a:latin typeface="MiSans" pitchFamily="34" charset="-122"/>
                <a:ea typeface="MiSans" pitchFamily="34" charset="-122"/>
                <a:cs typeface="MiSans" pitchFamily="34" charset="-120"/>
              </a:rPr>
              <a:t>Kết Nối Toàn Cầu &amp; Cập Nhật Nhanh</a:t>
            </a:r>
            <a:endParaRPr lang="en-US" sz="1600" dirty="0"/>
          </a:p>
        </p:txBody>
      </p:sp>
      <p:sp>
        <p:nvSpPr>
          <p:cNvPr id="7" name="Text 1"/>
          <p:cNvSpPr/>
          <p:nvPr/>
        </p:nvSpPr>
        <p:spPr>
          <a:xfrm>
            <a:off x="6299200" y="2603500"/>
            <a:ext cx="5638800" cy="990600"/>
          </a:xfrm>
          <a:prstGeom prst="rect">
            <a:avLst/>
          </a:prstGeom>
          <a:noFill/>
        </p:spPr>
        <p:txBody>
          <a:bodyPr wrap="square" lIns="0" tIns="0" rIns="0" bIns="0" rtlCol="0" anchor="ctr"/>
          <a:lstStyle/>
          <a:p>
            <a:pPr marL="0" indent="0">
              <a:lnSpc>
                <a:spcPct val="140000"/>
              </a:lnSpc>
              <a:buNone/>
            </a:pPr>
            <a:r>
              <a:rPr lang="en-US" sz="1600" dirty="0">
                <a:solidFill>
                  <a:srgbClr val="34385E"/>
                </a:solidFill>
                <a:latin typeface="MiSans" pitchFamily="34" charset="-122"/>
                <a:ea typeface="MiSans" pitchFamily="34" charset="-122"/>
                <a:cs typeface="MiSans" pitchFamily="34" charset="-120"/>
              </a:rPr>
              <a:t>Mạng xã hội phá vỡ rào cản địa lý, mở ra cơ hội học hỏi, hợp tác, du học, việc làm xuyên biên giới với chi phí gần như bằng không.</a:t>
            </a:r>
            <a:endParaRPr lang="en-US" sz="1600" dirty="0"/>
          </a:p>
        </p:txBody>
      </p:sp>
      <p:sp>
        <p:nvSpPr>
          <p:cNvPr id="8" name="Shape 2"/>
          <p:cNvSpPr/>
          <p:nvPr/>
        </p:nvSpPr>
        <p:spPr>
          <a:xfrm>
            <a:off x="6299200" y="3797300"/>
            <a:ext cx="5638800" cy="609600"/>
          </a:xfrm>
          <a:custGeom>
            <a:avLst/>
            <a:gdLst/>
            <a:ahLst/>
            <a:cxnLst/>
            <a:rect l="l" t="t" r="r" b="b"/>
            <a:pathLst>
              <a:path w="5638800" h="609600">
                <a:moveTo>
                  <a:pt x="76200" y="0"/>
                </a:moveTo>
                <a:lnTo>
                  <a:pt x="5562600" y="0"/>
                </a:lnTo>
                <a:cubicBezTo>
                  <a:pt x="5604656" y="0"/>
                  <a:pt x="5638800" y="34144"/>
                  <a:pt x="5638800" y="76200"/>
                </a:cubicBezTo>
                <a:lnTo>
                  <a:pt x="5638800" y="533400"/>
                </a:lnTo>
                <a:cubicBezTo>
                  <a:pt x="5638800" y="575456"/>
                  <a:pt x="5604656" y="609600"/>
                  <a:pt x="5562600" y="609600"/>
                </a:cubicBezTo>
                <a:lnTo>
                  <a:pt x="76200" y="609600"/>
                </a:lnTo>
                <a:cubicBezTo>
                  <a:pt x="34144" y="609600"/>
                  <a:pt x="0" y="575456"/>
                  <a:pt x="0" y="533400"/>
                </a:cubicBezTo>
                <a:lnTo>
                  <a:pt x="0" y="76200"/>
                </a:lnTo>
                <a:cubicBezTo>
                  <a:pt x="0" y="34144"/>
                  <a:pt x="34144" y="0"/>
                  <a:pt x="76200" y="0"/>
                </a:cubicBezTo>
                <a:close/>
              </a:path>
            </a:pathLst>
          </a:custGeom>
          <a:solidFill>
            <a:srgbClr val="3341B8">
              <a:alpha val="10196"/>
            </a:srgbClr>
          </a:solidFill>
        </p:spPr>
      </p:sp>
      <p:sp>
        <p:nvSpPr>
          <p:cNvPr id="9" name="Shape 3"/>
          <p:cNvSpPr/>
          <p:nvPr/>
        </p:nvSpPr>
        <p:spPr>
          <a:xfrm>
            <a:off x="6477000" y="3975100"/>
            <a:ext cx="254000" cy="254000"/>
          </a:xfrm>
          <a:custGeom>
            <a:avLst/>
            <a:gdLst/>
            <a:ahLst/>
            <a:cxnLst/>
            <a:rect l="l" t="t" r="r" b="b"/>
            <a:pathLst>
              <a:path w="254000" h="254000">
                <a:moveTo>
                  <a:pt x="27632" y="99070"/>
                </a:moveTo>
                <a:lnTo>
                  <a:pt x="42962" y="114399"/>
                </a:lnTo>
                <a:cubicBezTo>
                  <a:pt x="45938" y="117376"/>
                  <a:pt x="49957" y="119063"/>
                  <a:pt x="54173" y="119063"/>
                </a:cubicBezTo>
                <a:lnTo>
                  <a:pt x="64839" y="119063"/>
                </a:lnTo>
                <a:cubicBezTo>
                  <a:pt x="69056" y="119063"/>
                  <a:pt x="73075" y="120749"/>
                  <a:pt x="76051" y="123726"/>
                </a:cubicBezTo>
                <a:lnTo>
                  <a:pt x="90587" y="138261"/>
                </a:lnTo>
                <a:cubicBezTo>
                  <a:pt x="93563" y="141238"/>
                  <a:pt x="95250" y="145256"/>
                  <a:pt x="95250" y="149473"/>
                </a:cubicBezTo>
                <a:lnTo>
                  <a:pt x="95250" y="168077"/>
                </a:lnTo>
                <a:cubicBezTo>
                  <a:pt x="95250" y="172293"/>
                  <a:pt x="96937" y="176312"/>
                  <a:pt x="99913" y="179288"/>
                </a:cubicBezTo>
                <a:lnTo>
                  <a:pt x="106511" y="185886"/>
                </a:lnTo>
                <a:cubicBezTo>
                  <a:pt x="109488" y="188863"/>
                  <a:pt x="111175" y="192881"/>
                  <a:pt x="111175" y="197098"/>
                </a:cubicBezTo>
                <a:lnTo>
                  <a:pt x="111175" y="206375"/>
                </a:lnTo>
                <a:cubicBezTo>
                  <a:pt x="111175" y="215156"/>
                  <a:pt x="118269" y="222250"/>
                  <a:pt x="127050" y="222250"/>
                </a:cubicBezTo>
                <a:cubicBezTo>
                  <a:pt x="135830" y="222250"/>
                  <a:pt x="142925" y="215156"/>
                  <a:pt x="142925" y="206375"/>
                </a:cubicBezTo>
                <a:lnTo>
                  <a:pt x="142925" y="205036"/>
                </a:lnTo>
                <a:cubicBezTo>
                  <a:pt x="142925" y="200819"/>
                  <a:pt x="144611" y="196800"/>
                  <a:pt x="147588" y="193824"/>
                </a:cubicBezTo>
                <a:lnTo>
                  <a:pt x="170061" y="171351"/>
                </a:lnTo>
                <a:cubicBezTo>
                  <a:pt x="173038" y="168374"/>
                  <a:pt x="174724" y="164356"/>
                  <a:pt x="174724" y="160139"/>
                </a:cubicBezTo>
                <a:lnTo>
                  <a:pt x="174724" y="142925"/>
                </a:lnTo>
                <a:cubicBezTo>
                  <a:pt x="174724" y="134144"/>
                  <a:pt x="167630" y="127050"/>
                  <a:pt x="158849" y="127050"/>
                </a:cubicBezTo>
                <a:lnTo>
                  <a:pt x="117822" y="127050"/>
                </a:lnTo>
                <a:cubicBezTo>
                  <a:pt x="113605" y="127050"/>
                  <a:pt x="109587" y="125363"/>
                  <a:pt x="106611" y="122386"/>
                </a:cubicBezTo>
                <a:lnTo>
                  <a:pt x="98673" y="114449"/>
                </a:lnTo>
                <a:cubicBezTo>
                  <a:pt x="96589" y="112365"/>
                  <a:pt x="95399" y="109488"/>
                  <a:pt x="95399" y="106511"/>
                </a:cubicBezTo>
                <a:cubicBezTo>
                  <a:pt x="95399" y="100310"/>
                  <a:pt x="100409" y="95300"/>
                  <a:pt x="106611" y="95300"/>
                </a:cubicBezTo>
                <a:lnTo>
                  <a:pt x="123825" y="95300"/>
                </a:lnTo>
                <a:cubicBezTo>
                  <a:pt x="130026" y="95300"/>
                  <a:pt x="135037" y="90289"/>
                  <a:pt x="135037" y="84088"/>
                </a:cubicBezTo>
                <a:cubicBezTo>
                  <a:pt x="135037" y="81111"/>
                  <a:pt x="133846" y="78234"/>
                  <a:pt x="131763" y="76150"/>
                </a:cubicBezTo>
                <a:lnTo>
                  <a:pt x="121989" y="66377"/>
                </a:lnTo>
                <a:cubicBezTo>
                  <a:pt x="120055" y="64492"/>
                  <a:pt x="119063" y="62061"/>
                  <a:pt x="119063" y="59531"/>
                </a:cubicBezTo>
                <a:cubicBezTo>
                  <a:pt x="119063" y="57001"/>
                  <a:pt x="120055" y="54570"/>
                  <a:pt x="121890" y="52735"/>
                </a:cubicBezTo>
                <a:lnTo>
                  <a:pt x="130473" y="44152"/>
                </a:lnTo>
                <a:cubicBezTo>
                  <a:pt x="133350" y="41275"/>
                  <a:pt x="134987" y="37356"/>
                  <a:pt x="134987" y="33288"/>
                </a:cubicBezTo>
                <a:cubicBezTo>
                  <a:pt x="134987" y="29716"/>
                  <a:pt x="133796" y="26491"/>
                  <a:pt x="131812" y="23912"/>
                </a:cubicBezTo>
                <a:cubicBezTo>
                  <a:pt x="130225" y="23862"/>
                  <a:pt x="128637" y="23812"/>
                  <a:pt x="127050" y="23812"/>
                </a:cubicBezTo>
                <a:cubicBezTo>
                  <a:pt x="79722" y="23812"/>
                  <a:pt x="39886" y="55662"/>
                  <a:pt x="27682" y="99070"/>
                </a:cubicBezTo>
                <a:close/>
                <a:moveTo>
                  <a:pt x="230188" y="127000"/>
                </a:moveTo>
                <a:cubicBezTo>
                  <a:pt x="230188" y="109835"/>
                  <a:pt x="226020" y="93663"/>
                  <a:pt x="218579" y="79474"/>
                </a:cubicBezTo>
                <a:cubicBezTo>
                  <a:pt x="215404" y="79921"/>
                  <a:pt x="212279" y="81409"/>
                  <a:pt x="209699" y="83989"/>
                </a:cubicBezTo>
                <a:lnTo>
                  <a:pt x="203051" y="90636"/>
                </a:lnTo>
                <a:cubicBezTo>
                  <a:pt x="200075" y="93613"/>
                  <a:pt x="198388" y="97631"/>
                  <a:pt x="198388" y="101848"/>
                </a:cubicBezTo>
                <a:lnTo>
                  <a:pt x="198388" y="119063"/>
                </a:lnTo>
                <a:cubicBezTo>
                  <a:pt x="198388" y="127843"/>
                  <a:pt x="205482" y="134938"/>
                  <a:pt x="214263" y="134938"/>
                </a:cubicBezTo>
                <a:lnTo>
                  <a:pt x="226219" y="134938"/>
                </a:lnTo>
                <a:cubicBezTo>
                  <a:pt x="227459" y="134938"/>
                  <a:pt x="228699" y="134789"/>
                  <a:pt x="229840" y="134541"/>
                </a:cubicBezTo>
                <a:cubicBezTo>
                  <a:pt x="230039" y="132060"/>
                  <a:pt x="230088" y="129530"/>
                  <a:pt x="230088" y="127000"/>
                </a:cubicBezTo>
                <a:close/>
                <a:moveTo>
                  <a:pt x="0" y="127000"/>
                </a:moveTo>
                <a:cubicBezTo>
                  <a:pt x="0" y="56907"/>
                  <a:pt x="56907" y="0"/>
                  <a:pt x="127000" y="0"/>
                </a:cubicBezTo>
                <a:cubicBezTo>
                  <a:pt x="197093" y="0"/>
                  <a:pt x="254000" y="56907"/>
                  <a:pt x="254000" y="127000"/>
                </a:cubicBezTo>
                <a:cubicBezTo>
                  <a:pt x="254000" y="197093"/>
                  <a:pt x="197093" y="254000"/>
                  <a:pt x="127000" y="254000"/>
                </a:cubicBezTo>
                <a:cubicBezTo>
                  <a:pt x="56907" y="254000"/>
                  <a:pt x="0" y="197093"/>
                  <a:pt x="0" y="127000"/>
                </a:cubicBezTo>
                <a:close/>
              </a:path>
            </a:pathLst>
          </a:custGeom>
          <a:solidFill>
            <a:srgbClr val="4D5EFF"/>
          </a:solidFill>
        </p:spPr>
      </p:sp>
      <p:sp>
        <p:nvSpPr>
          <p:cNvPr id="10" name="Text 4"/>
          <p:cNvSpPr/>
          <p:nvPr/>
        </p:nvSpPr>
        <p:spPr>
          <a:xfrm>
            <a:off x="6959600" y="3949700"/>
            <a:ext cx="2984500" cy="304800"/>
          </a:xfrm>
          <a:prstGeom prst="rect">
            <a:avLst/>
          </a:prstGeom>
          <a:noFill/>
        </p:spPr>
        <p:txBody>
          <a:bodyPr wrap="square" lIns="0" tIns="0" rIns="0" bIns="0" rtlCol="0" anchor="ctr"/>
          <a:lstStyle/>
          <a:p>
            <a:pPr marL="0" indent="0">
              <a:lnSpc>
                <a:spcPct val="130000"/>
              </a:lnSpc>
              <a:buNone/>
            </a:pPr>
            <a:r>
              <a:rPr lang="en-US" sz="1600" dirty="0">
                <a:solidFill>
                  <a:srgbClr val="34385E"/>
                </a:solidFill>
                <a:latin typeface="MiSans" pitchFamily="34" charset="-122"/>
                <a:ea typeface="MiSans" pitchFamily="34" charset="-122"/>
                <a:cs typeface="MiSans" pitchFamily="34" charset="-120"/>
              </a:rPr>
              <a:t>Giao lưu quốc tế dễ dàng</a:t>
            </a:r>
            <a:endParaRPr lang="en-US" sz="1600" dirty="0"/>
          </a:p>
        </p:txBody>
      </p:sp>
      <p:sp>
        <p:nvSpPr>
          <p:cNvPr id="11" name="Shape 5"/>
          <p:cNvSpPr/>
          <p:nvPr/>
        </p:nvSpPr>
        <p:spPr>
          <a:xfrm>
            <a:off x="6299200" y="4559300"/>
            <a:ext cx="5638800" cy="812800"/>
          </a:xfrm>
          <a:custGeom>
            <a:avLst/>
            <a:gdLst/>
            <a:ahLst/>
            <a:cxnLst/>
            <a:rect l="l" t="t" r="r" b="b"/>
            <a:pathLst>
              <a:path w="5638800" h="812800">
                <a:moveTo>
                  <a:pt x="76200" y="0"/>
                </a:moveTo>
                <a:lnTo>
                  <a:pt x="5562600" y="0"/>
                </a:lnTo>
                <a:cubicBezTo>
                  <a:pt x="5604656" y="0"/>
                  <a:pt x="5638800" y="34144"/>
                  <a:pt x="5638800" y="76200"/>
                </a:cubicBezTo>
                <a:lnTo>
                  <a:pt x="5638800" y="736600"/>
                </a:lnTo>
                <a:cubicBezTo>
                  <a:pt x="5638800" y="778656"/>
                  <a:pt x="5604656" y="812800"/>
                  <a:pt x="5562600" y="812800"/>
                </a:cubicBezTo>
                <a:lnTo>
                  <a:pt x="76200" y="812800"/>
                </a:lnTo>
                <a:cubicBezTo>
                  <a:pt x="34144" y="812800"/>
                  <a:pt x="0" y="778656"/>
                  <a:pt x="0" y="736600"/>
                </a:cubicBezTo>
                <a:lnTo>
                  <a:pt x="0" y="76200"/>
                </a:lnTo>
                <a:cubicBezTo>
                  <a:pt x="0" y="34144"/>
                  <a:pt x="34144" y="0"/>
                  <a:pt x="76200" y="0"/>
                </a:cubicBezTo>
                <a:close/>
              </a:path>
            </a:pathLst>
          </a:custGeom>
          <a:solidFill>
            <a:srgbClr val="3341B8">
              <a:alpha val="10196"/>
            </a:srgbClr>
          </a:solidFill>
        </p:spPr>
      </p:sp>
      <p:sp>
        <p:nvSpPr>
          <p:cNvPr id="12" name="Shape 6"/>
          <p:cNvSpPr/>
          <p:nvPr/>
        </p:nvSpPr>
        <p:spPr>
          <a:xfrm>
            <a:off x="6477000" y="4838700"/>
            <a:ext cx="254000" cy="254000"/>
          </a:xfrm>
          <a:custGeom>
            <a:avLst/>
            <a:gdLst/>
            <a:ahLst/>
            <a:cxnLst/>
            <a:rect l="l" t="t" r="r" b="b"/>
            <a:pathLst>
              <a:path w="254000" h="254000">
                <a:moveTo>
                  <a:pt x="0" y="206375"/>
                </a:moveTo>
                <a:lnTo>
                  <a:pt x="0" y="59531"/>
                </a:lnTo>
                <a:cubicBezTo>
                  <a:pt x="0" y="52933"/>
                  <a:pt x="5308" y="47625"/>
                  <a:pt x="11906" y="47625"/>
                </a:cubicBezTo>
                <a:cubicBezTo>
                  <a:pt x="18504" y="47625"/>
                  <a:pt x="23812" y="52933"/>
                  <a:pt x="23812" y="59531"/>
                </a:cubicBezTo>
                <a:lnTo>
                  <a:pt x="23812" y="202406"/>
                </a:lnTo>
                <a:cubicBezTo>
                  <a:pt x="23812" y="209004"/>
                  <a:pt x="29121" y="214313"/>
                  <a:pt x="35719" y="214313"/>
                </a:cubicBezTo>
                <a:cubicBezTo>
                  <a:pt x="42317" y="214313"/>
                  <a:pt x="47625" y="209004"/>
                  <a:pt x="47625" y="202406"/>
                </a:cubicBezTo>
                <a:lnTo>
                  <a:pt x="47625" y="47625"/>
                </a:lnTo>
                <a:cubicBezTo>
                  <a:pt x="47625" y="30113"/>
                  <a:pt x="61863" y="15875"/>
                  <a:pt x="79375" y="15875"/>
                </a:cubicBezTo>
                <a:lnTo>
                  <a:pt x="222250" y="15875"/>
                </a:lnTo>
                <a:cubicBezTo>
                  <a:pt x="239762" y="15875"/>
                  <a:pt x="254000" y="30113"/>
                  <a:pt x="254000" y="47625"/>
                </a:cubicBezTo>
                <a:lnTo>
                  <a:pt x="254000" y="206375"/>
                </a:lnTo>
                <a:cubicBezTo>
                  <a:pt x="254000" y="223887"/>
                  <a:pt x="239762" y="238125"/>
                  <a:pt x="222250" y="238125"/>
                </a:cubicBezTo>
                <a:lnTo>
                  <a:pt x="31750" y="238125"/>
                </a:lnTo>
                <a:cubicBezTo>
                  <a:pt x="14238" y="238125"/>
                  <a:pt x="0" y="223887"/>
                  <a:pt x="0" y="206375"/>
                </a:cubicBezTo>
                <a:close/>
                <a:moveTo>
                  <a:pt x="79375" y="63500"/>
                </a:moveTo>
                <a:lnTo>
                  <a:pt x="79375" y="95250"/>
                </a:lnTo>
                <a:cubicBezTo>
                  <a:pt x="79375" y="104031"/>
                  <a:pt x="86469" y="111125"/>
                  <a:pt x="95250" y="111125"/>
                </a:cubicBezTo>
                <a:lnTo>
                  <a:pt x="127000" y="111125"/>
                </a:lnTo>
                <a:cubicBezTo>
                  <a:pt x="135781" y="111125"/>
                  <a:pt x="142875" y="104031"/>
                  <a:pt x="142875" y="95250"/>
                </a:cubicBezTo>
                <a:lnTo>
                  <a:pt x="142875" y="63500"/>
                </a:lnTo>
                <a:cubicBezTo>
                  <a:pt x="142875" y="54719"/>
                  <a:pt x="135781" y="47625"/>
                  <a:pt x="127000" y="47625"/>
                </a:cubicBezTo>
                <a:lnTo>
                  <a:pt x="95250" y="47625"/>
                </a:lnTo>
                <a:cubicBezTo>
                  <a:pt x="86469" y="47625"/>
                  <a:pt x="79375" y="54719"/>
                  <a:pt x="79375" y="63500"/>
                </a:cubicBezTo>
                <a:close/>
                <a:moveTo>
                  <a:pt x="91281" y="182563"/>
                </a:moveTo>
                <a:cubicBezTo>
                  <a:pt x="84683" y="182563"/>
                  <a:pt x="79375" y="187871"/>
                  <a:pt x="79375" y="194469"/>
                </a:cubicBezTo>
                <a:cubicBezTo>
                  <a:pt x="79375" y="201067"/>
                  <a:pt x="84683" y="206375"/>
                  <a:pt x="91281" y="206375"/>
                </a:cubicBezTo>
                <a:lnTo>
                  <a:pt x="210344" y="206375"/>
                </a:lnTo>
                <a:cubicBezTo>
                  <a:pt x="216942" y="206375"/>
                  <a:pt x="222250" y="201067"/>
                  <a:pt x="222250" y="194469"/>
                </a:cubicBezTo>
                <a:cubicBezTo>
                  <a:pt x="222250" y="187871"/>
                  <a:pt x="216942" y="182563"/>
                  <a:pt x="210344" y="182563"/>
                </a:cubicBezTo>
                <a:lnTo>
                  <a:pt x="91281" y="182563"/>
                </a:lnTo>
                <a:close/>
                <a:moveTo>
                  <a:pt x="79375" y="146844"/>
                </a:moveTo>
                <a:cubicBezTo>
                  <a:pt x="79375" y="153442"/>
                  <a:pt x="84683" y="158750"/>
                  <a:pt x="91281" y="158750"/>
                </a:cubicBezTo>
                <a:lnTo>
                  <a:pt x="210344" y="158750"/>
                </a:lnTo>
                <a:cubicBezTo>
                  <a:pt x="216942" y="158750"/>
                  <a:pt x="222250" y="153442"/>
                  <a:pt x="222250" y="146844"/>
                </a:cubicBezTo>
                <a:cubicBezTo>
                  <a:pt x="222250" y="140246"/>
                  <a:pt x="216942" y="134938"/>
                  <a:pt x="210344" y="134938"/>
                </a:cubicBezTo>
                <a:lnTo>
                  <a:pt x="91281" y="134938"/>
                </a:lnTo>
                <a:cubicBezTo>
                  <a:pt x="84683" y="134938"/>
                  <a:pt x="79375" y="140246"/>
                  <a:pt x="79375" y="146844"/>
                </a:cubicBezTo>
                <a:close/>
                <a:moveTo>
                  <a:pt x="178594" y="87313"/>
                </a:moveTo>
                <a:cubicBezTo>
                  <a:pt x="171996" y="87313"/>
                  <a:pt x="166688" y="92621"/>
                  <a:pt x="166688" y="99219"/>
                </a:cubicBezTo>
                <a:cubicBezTo>
                  <a:pt x="166688" y="105817"/>
                  <a:pt x="171996" y="111125"/>
                  <a:pt x="178594" y="111125"/>
                </a:cubicBezTo>
                <a:lnTo>
                  <a:pt x="210344" y="111125"/>
                </a:lnTo>
                <a:cubicBezTo>
                  <a:pt x="216942" y="111125"/>
                  <a:pt x="222250" y="105817"/>
                  <a:pt x="222250" y="99219"/>
                </a:cubicBezTo>
                <a:cubicBezTo>
                  <a:pt x="222250" y="92621"/>
                  <a:pt x="216942" y="87313"/>
                  <a:pt x="210344" y="87313"/>
                </a:cubicBezTo>
                <a:lnTo>
                  <a:pt x="178594" y="87313"/>
                </a:lnTo>
                <a:close/>
              </a:path>
            </a:pathLst>
          </a:custGeom>
          <a:solidFill>
            <a:srgbClr val="4D5EFF"/>
          </a:solidFill>
        </p:spPr>
      </p:sp>
      <p:sp>
        <p:nvSpPr>
          <p:cNvPr id="13" name="Text 7"/>
          <p:cNvSpPr/>
          <p:nvPr/>
        </p:nvSpPr>
        <p:spPr>
          <a:xfrm>
            <a:off x="6959600" y="4660900"/>
            <a:ext cx="4876800" cy="609600"/>
          </a:xfrm>
          <a:prstGeom prst="rect">
            <a:avLst/>
          </a:prstGeom>
          <a:noFill/>
        </p:spPr>
        <p:txBody>
          <a:bodyPr wrap="square" lIns="0" tIns="0" rIns="0" bIns="0" rtlCol="0" anchor="ctr"/>
          <a:lstStyle/>
          <a:p>
            <a:pPr marL="0" indent="0">
              <a:lnSpc>
                <a:spcPct val="130000"/>
              </a:lnSpc>
              <a:buNone/>
            </a:pPr>
            <a:r>
              <a:rPr lang="en-US" sz="1600" dirty="0">
                <a:solidFill>
                  <a:srgbClr val="34385E"/>
                </a:solidFill>
                <a:latin typeface="MiSans" pitchFamily="34" charset="-122"/>
                <a:ea typeface="MiSans" pitchFamily="34" charset="-122"/>
                <a:cs typeface="MiSans" pitchFamily="34" charset="-120"/>
              </a:rPr>
              <a:t>Cập nhật tin tức thời sự, thị trường gần như trực tiếp</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08-27-20:07:28-d2nfa018bjvh7rlj0eug.jpg"/>
          <p:cNvPicPr>
            <a:picLocks noChangeAspect="1"/>
          </p:cNvPicPr>
          <p:nvPr/>
        </p:nvPicPr>
        <p:blipFill>
          <a:blip r:embed="rId1"/>
          <a:stretch>
            <a:fillRect/>
          </a:stretch>
        </p:blipFill>
        <p:spPr>
          <a:xfrm>
            <a:off x="0" y="0"/>
            <a:ext cx="12233275" cy="6881495"/>
          </a:xfrm>
          <a:prstGeom prst="rect">
            <a:avLst/>
          </a:prstGeom>
        </p:spPr>
      </p:pic>
      <p:pic>
        <p:nvPicPr>
          <p:cNvPr id="3" name="Image 1" descr="https://kimi-img.moonshot.cn/pub/slides/slides_tmpl/image/25-08-27-20:07:28-d2nfa018bjvh7rlj0et0.png"/>
          <p:cNvPicPr>
            <a:picLocks noChangeAspect="1"/>
          </p:cNvPicPr>
          <p:nvPr/>
        </p:nvPicPr>
        <p:blipFill>
          <a:blip r:embed="rId2"/>
          <a:stretch>
            <a:fillRect/>
          </a:stretch>
        </p:blipFill>
        <p:spPr>
          <a:xfrm>
            <a:off x="0" y="5530850"/>
            <a:ext cx="1684020" cy="1327150"/>
          </a:xfrm>
          <a:prstGeom prst="rect">
            <a:avLst/>
          </a:prstGeom>
        </p:spPr>
      </p:pic>
      <p:pic>
        <p:nvPicPr>
          <p:cNvPr id="4" name="Image 2" descr="https://kimi-img.moonshot.cn/pub/slides/slides_tmpl/image/25-08-27-20:07:28-d2nfa018bjvh7rlj0eu0.png"/>
          <p:cNvPicPr>
            <a:picLocks noChangeAspect="1"/>
          </p:cNvPicPr>
          <p:nvPr/>
        </p:nvPicPr>
        <p:blipFill>
          <a:blip r:embed="rId3"/>
          <a:stretch>
            <a:fillRect/>
          </a:stretch>
        </p:blipFill>
        <p:spPr>
          <a:xfrm>
            <a:off x="10076180" y="0"/>
            <a:ext cx="2116455" cy="2286000"/>
          </a:xfrm>
          <a:prstGeom prst="rect">
            <a:avLst/>
          </a:prstGeom>
        </p:spPr>
      </p:pic>
      <p:sp>
        <p:nvSpPr>
          <p:cNvPr id="5" name="Text 0"/>
          <p:cNvSpPr/>
          <p:nvPr/>
        </p:nvSpPr>
        <p:spPr>
          <a:xfrm>
            <a:off x="0" y="1473200"/>
            <a:ext cx="12192000" cy="457200"/>
          </a:xfrm>
          <a:prstGeom prst="rect">
            <a:avLst/>
          </a:prstGeom>
          <a:noFill/>
        </p:spPr>
        <p:txBody>
          <a:bodyPr wrap="square" lIns="0" tIns="0" rIns="0" bIns="0" rtlCol="0" anchor="ctr"/>
          <a:lstStyle/>
          <a:p>
            <a:pPr marL="0" indent="0" algn="ctr">
              <a:lnSpc>
                <a:spcPct val="100000"/>
              </a:lnSpc>
              <a:buNone/>
            </a:pPr>
            <a:r>
              <a:rPr lang="en-US" sz="3000" dirty="0">
                <a:solidFill>
                  <a:srgbClr val="3341B8"/>
                </a:solidFill>
                <a:latin typeface="MiSans" pitchFamily="34" charset="-122"/>
                <a:ea typeface="MiSans" pitchFamily="34" charset="-122"/>
                <a:cs typeface="MiSans" pitchFamily="34" charset="-120"/>
              </a:rPr>
              <a:t>Cơ Hội Học Hỏi &amp; Phát Triển Kỹ Năng</a:t>
            </a:r>
            <a:endParaRPr lang="en-US" sz="1600" dirty="0"/>
          </a:p>
        </p:txBody>
      </p:sp>
      <p:sp>
        <p:nvSpPr>
          <p:cNvPr id="6" name="Shape 1"/>
          <p:cNvSpPr/>
          <p:nvPr/>
        </p:nvSpPr>
        <p:spPr>
          <a:xfrm>
            <a:off x="1524000" y="2717800"/>
            <a:ext cx="1219200" cy="1219200"/>
          </a:xfrm>
          <a:custGeom>
            <a:avLst/>
            <a:gdLst/>
            <a:ahLst/>
            <a:cxnLst/>
            <a:rect l="l" t="t" r="r" b="b"/>
            <a:pathLst>
              <a:path w="1219200" h="1219200">
                <a:moveTo>
                  <a:pt x="609600" y="0"/>
                </a:moveTo>
                <a:lnTo>
                  <a:pt x="609600" y="0"/>
                </a:lnTo>
                <a:cubicBezTo>
                  <a:pt x="946047" y="0"/>
                  <a:pt x="1219200" y="273153"/>
                  <a:pt x="1219200" y="609600"/>
                </a:cubicBezTo>
                <a:lnTo>
                  <a:pt x="1219200" y="609600"/>
                </a:lnTo>
                <a:cubicBezTo>
                  <a:pt x="1219200" y="946047"/>
                  <a:pt x="946047" y="1219200"/>
                  <a:pt x="609600" y="1219200"/>
                </a:cubicBezTo>
                <a:lnTo>
                  <a:pt x="609600" y="1219200"/>
                </a:lnTo>
                <a:cubicBezTo>
                  <a:pt x="273153" y="1219200"/>
                  <a:pt x="0" y="946047"/>
                  <a:pt x="0" y="609600"/>
                </a:cubicBezTo>
                <a:lnTo>
                  <a:pt x="0" y="609600"/>
                </a:lnTo>
                <a:cubicBezTo>
                  <a:pt x="0" y="273153"/>
                  <a:pt x="273153" y="0"/>
                  <a:pt x="609600" y="0"/>
                </a:cubicBezTo>
                <a:close/>
              </a:path>
            </a:pathLst>
          </a:custGeom>
          <a:solidFill>
            <a:srgbClr val="3341B8">
              <a:alpha val="10196"/>
            </a:srgbClr>
          </a:solidFill>
        </p:spPr>
      </p:sp>
      <p:sp>
        <p:nvSpPr>
          <p:cNvPr id="7" name="Shape 2"/>
          <p:cNvSpPr/>
          <p:nvPr/>
        </p:nvSpPr>
        <p:spPr>
          <a:xfrm>
            <a:off x="1828800" y="3022600"/>
            <a:ext cx="609600" cy="609600"/>
          </a:xfrm>
          <a:custGeom>
            <a:avLst/>
            <a:gdLst/>
            <a:ahLst/>
            <a:cxnLst/>
            <a:rect l="l" t="t" r="r" b="b"/>
            <a:pathLst>
              <a:path w="609600" h="609600">
                <a:moveTo>
                  <a:pt x="304800" y="180975"/>
                </a:moveTo>
                <a:cubicBezTo>
                  <a:pt x="362627" y="180975"/>
                  <a:pt x="409575" y="134027"/>
                  <a:pt x="409575" y="76200"/>
                </a:cubicBezTo>
                <a:cubicBezTo>
                  <a:pt x="409575" y="18373"/>
                  <a:pt x="362627" y="-28575"/>
                  <a:pt x="304800" y="-28575"/>
                </a:cubicBezTo>
                <a:cubicBezTo>
                  <a:pt x="246973" y="-28575"/>
                  <a:pt x="200025" y="18373"/>
                  <a:pt x="200025" y="76200"/>
                </a:cubicBezTo>
                <a:cubicBezTo>
                  <a:pt x="200025" y="134027"/>
                  <a:pt x="246973" y="180975"/>
                  <a:pt x="304800" y="180975"/>
                </a:cubicBezTo>
                <a:close/>
                <a:moveTo>
                  <a:pt x="304800" y="536615"/>
                </a:moveTo>
                <a:lnTo>
                  <a:pt x="304800" y="358854"/>
                </a:lnTo>
                <a:cubicBezTo>
                  <a:pt x="324207" y="350758"/>
                  <a:pt x="343972" y="342543"/>
                  <a:pt x="363974" y="334208"/>
                </a:cubicBezTo>
                <a:cubicBezTo>
                  <a:pt x="410408" y="314920"/>
                  <a:pt x="460177" y="304919"/>
                  <a:pt x="510540" y="304919"/>
                </a:cubicBezTo>
                <a:lnTo>
                  <a:pt x="533400" y="304919"/>
                </a:lnTo>
                <a:lnTo>
                  <a:pt x="533400" y="495419"/>
                </a:lnTo>
                <a:lnTo>
                  <a:pt x="510540" y="495419"/>
                </a:lnTo>
                <a:cubicBezTo>
                  <a:pt x="440174" y="495419"/>
                  <a:pt x="370403" y="509349"/>
                  <a:pt x="305395" y="536496"/>
                </a:cubicBezTo>
                <a:lnTo>
                  <a:pt x="304800" y="536734"/>
                </a:lnTo>
                <a:close/>
                <a:moveTo>
                  <a:pt x="304800" y="276225"/>
                </a:moveTo>
                <a:lnTo>
                  <a:pt x="274915" y="263723"/>
                </a:lnTo>
                <a:cubicBezTo>
                  <a:pt x="219194" y="240506"/>
                  <a:pt x="159425" y="228600"/>
                  <a:pt x="99060" y="228600"/>
                </a:cubicBezTo>
                <a:lnTo>
                  <a:pt x="57150" y="228600"/>
                </a:lnTo>
                <a:cubicBezTo>
                  <a:pt x="25598" y="228600"/>
                  <a:pt x="0" y="254198"/>
                  <a:pt x="0" y="285750"/>
                </a:cubicBezTo>
                <a:lnTo>
                  <a:pt x="0" y="514350"/>
                </a:lnTo>
                <a:cubicBezTo>
                  <a:pt x="0" y="545902"/>
                  <a:pt x="25598" y="571500"/>
                  <a:pt x="57150" y="571500"/>
                </a:cubicBezTo>
                <a:lnTo>
                  <a:pt x="99060" y="571500"/>
                </a:lnTo>
                <a:cubicBezTo>
                  <a:pt x="159425" y="571500"/>
                  <a:pt x="219194" y="583406"/>
                  <a:pt x="274915" y="606623"/>
                </a:cubicBezTo>
                <a:lnTo>
                  <a:pt x="290155" y="612934"/>
                </a:lnTo>
                <a:cubicBezTo>
                  <a:pt x="299561" y="616863"/>
                  <a:pt x="310039" y="616863"/>
                  <a:pt x="319445" y="612934"/>
                </a:cubicBezTo>
                <a:lnTo>
                  <a:pt x="334685" y="606623"/>
                </a:lnTo>
                <a:cubicBezTo>
                  <a:pt x="390406" y="583406"/>
                  <a:pt x="450175" y="571500"/>
                  <a:pt x="510540" y="571500"/>
                </a:cubicBezTo>
                <a:lnTo>
                  <a:pt x="552450" y="571500"/>
                </a:lnTo>
                <a:cubicBezTo>
                  <a:pt x="584002" y="571500"/>
                  <a:pt x="609600" y="545902"/>
                  <a:pt x="609600" y="514350"/>
                </a:cubicBezTo>
                <a:lnTo>
                  <a:pt x="609600" y="285750"/>
                </a:lnTo>
                <a:cubicBezTo>
                  <a:pt x="609600" y="254198"/>
                  <a:pt x="584002" y="228600"/>
                  <a:pt x="552450" y="228600"/>
                </a:cubicBezTo>
                <a:lnTo>
                  <a:pt x="510540" y="228600"/>
                </a:lnTo>
                <a:cubicBezTo>
                  <a:pt x="450175" y="228600"/>
                  <a:pt x="390406" y="240506"/>
                  <a:pt x="334685" y="263723"/>
                </a:cubicBezTo>
                <a:lnTo>
                  <a:pt x="304800" y="276225"/>
                </a:lnTo>
                <a:close/>
              </a:path>
            </a:pathLst>
          </a:custGeom>
          <a:solidFill>
            <a:srgbClr val="3341B8"/>
          </a:solidFill>
        </p:spPr>
      </p:sp>
      <p:sp>
        <p:nvSpPr>
          <p:cNvPr id="8" name="Text 3"/>
          <p:cNvSpPr/>
          <p:nvPr/>
        </p:nvSpPr>
        <p:spPr>
          <a:xfrm>
            <a:off x="976511" y="4089400"/>
            <a:ext cx="2311400" cy="355600"/>
          </a:xfrm>
          <a:prstGeom prst="rect">
            <a:avLst/>
          </a:prstGeom>
          <a:noFill/>
        </p:spPr>
        <p:txBody>
          <a:bodyPr wrap="square" lIns="0" tIns="0" rIns="0" bIns="0" rtlCol="0" anchor="ctr"/>
          <a:lstStyle/>
          <a:p>
            <a:pPr marL="0" indent="0" algn="ctr">
              <a:lnSpc>
                <a:spcPct val="130000"/>
              </a:lnSpc>
              <a:buNone/>
            </a:pPr>
            <a:r>
              <a:rPr lang="en-US" sz="1800" dirty="0">
                <a:solidFill>
                  <a:srgbClr val="3341B8"/>
                </a:solidFill>
                <a:latin typeface="MiSans" pitchFamily="34" charset="-122"/>
                <a:ea typeface="MiSans" pitchFamily="34" charset="-122"/>
                <a:cs typeface="MiSans" pitchFamily="34" charset="-120"/>
              </a:rPr>
              <a:t>Tiếp cận tri thức</a:t>
            </a:r>
            <a:endParaRPr lang="en-US" sz="1600" dirty="0"/>
          </a:p>
        </p:txBody>
      </p:sp>
      <p:sp>
        <p:nvSpPr>
          <p:cNvPr id="9" name="Text 4"/>
          <p:cNvSpPr/>
          <p:nvPr/>
        </p:nvSpPr>
        <p:spPr>
          <a:xfrm>
            <a:off x="457200" y="4495800"/>
            <a:ext cx="3352800" cy="508000"/>
          </a:xfrm>
          <a:prstGeom prst="rect">
            <a:avLst/>
          </a:prstGeom>
          <a:noFill/>
        </p:spPr>
        <p:txBody>
          <a:bodyPr wrap="square" lIns="0" tIns="0" rIns="0" bIns="0" rtlCol="0" anchor="ctr"/>
          <a:lstStyle/>
          <a:p>
            <a:pPr marL="0" indent="0" algn="ctr">
              <a:lnSpc>
                <a:spcPct val="120000"/>
              </a:lnSpc>
              <a:buNone/>
            </a:pPr>
            <a:r>
              <a:rPr lang="en-US" sz="1400" dirty="0">
                <a:solidFill>
                  <a:srgbClr val="34385E"/>
                </a:solidFill>
                <a:latin typeface="MiSans" pitchFamily="34" charset="-122"/>
                <a:ea typeface="MiSans" pitchFamily="34" charset="-122"/>
                <a:cs typeface="MiSans" pitchFamily="34" charset="-120"/>
              </a:rPr>
              <a:t>Diễn đàn chuyên môn, group kỹ năng, kênh dạy nghề miễn phí.</a:t>
            </a:r>
            <a:endParaRPr lang="en-US" sz="1600" dirty="0"/>
          </a:p>
        </p:txBody>
      </p:sp>
      <p:sp>
        <p:nvSpPr>
          <p:cNvPr id="10" name="Shape 5"/>
          <p:cNvSpPr/>
          <p:nvPr/>
        </p:nvSpPr>
        <p:spPr>
          <a:xfrm>
            <a:off x="5486400" y="2717800"/>
            <a:ext cx="1219200" cy="1219200"/>
          </a:xfrm>
          <a:custGeom>
            <a:avLst/>
            <a:gdLst/>
            <a:ahLst/>
            <a:cxnLst/>
            <a:rect l="l" t="t" r="r" b="b"/>
            <a:pathLst>
              <a:path w="1219200" h="1219200">
                <a:moveTo>
                  <a:pt x="609600" y="0"/>
                </a:moveTo>
                <a:lnTo>
                  <a:pt x="609600" y="0"/>
                </a:lnTo>
                <a:cubicBezTo>
                  <a:pt x="946047" y="0"/>
                  <a:pt x="1219200" y="273153"/>
                  <a:pt x="1219200" y="609600"/>
                </a:cubicBezTo>
                <a:lnTo>
                  <a:pt x="1219200" y="609600"/>
                </a:lnTo>
                <a:cubicBezTo>
                  <a:pt x="1219200" y="946047"/>
                  <a:pt x="946047" y="1219200"/>
                  <a:pt x="609600" y="1219200"/>
                </a:cubicBezTo>
                <a:lnTo>
                  <a:pt x="609600" y="1219200"/>
                </a:lnTo>
                <a:cubicBezTo>
                  <a:pt x="273153" y="1219200"/>
                  <a:pt x="0" y="946047"/>
                  <a:pt x="0" y="609600"/>
                </a:cubicBezTo>
                <a:lnTo>
                  <a:pt x="0" y="609600"/>
                </a:lnTo>
                <a:cubicBezTo>
                  <a:pt x="0" y="273153"/>
                  <a:pt x="273153" y="0"/>
                  <a:pt x="609600" y="0"/>
                </a:cubicBezTo>
                <a:close/>
              </a:path>
            </a:pathLst>
          </a:custGeom>
          <a:solidFill>
            <a:srgbClr val="6052C8">
              <a:alpha val="10196"/>
            </a:srgbClr>
          </a:solidFill>
        </p:spPr>
      </p:sp>
      <p:sp>
        <p:nvSpPr>
          <p:cNvPr id="11" name="Shape 6"/>
          <p:cNvSpPr/>
          <p:nvPr/>
        </p:nvSpPr>
        <p:spPr>
          <a:xfrm>
            <a:off x="5753100" y="3022600"/>
            <a:ext cx="685800" cy="609600"/>
          </a:xfrm>
          <a:custGeom>
            <a:avLst/>
            <a:gdLst/>
            <a:ahLst/>
            <a:cxnLst/>
            <a:rect l="l" t="t" r="r" b="b"/>
            <a:pathLst>
              <a:path w="685800" h="609600">
                <a:moveTo>
                  <a:pt x="457200" y="171450"/>
                </a:moveTo>
                <a:cubicBezTo>
                  <a:pt x="457200" y="287179"/>
                  <a:pt x="354806" y="381000"/>
                  <a:pt x="228600" y="381000"/>
                </a:cubicBezTo>
                <a:cubicBezTo>
                  <a:pt x="196810" y="381000"/>
                  <a:pt x="166568" y="375047"/>
                  <a:pt x="139065" y="364331"/>
                </a:cubicBezTo>
                <a:lnTo>
                  <a:pt x="41910" y="415766"/>
                </a:lnTo>
                <a:cubicBezTo>
                  <a:pt x="30837" y="421600"/>
                  <a:pt x="17264" y="419576"/>
                  <a:pt x="8334" y="410766"/>
                </a:cubicBezTo>
                <a:cubicBezTo>
                  <a:pt x="-595" y="401955"/>
                  <a:pt x="-2619" y="388263"/>
                  <a:pt x="3334" y="377190"/>
                </a:cubicBezTo>
                <a:lnTo>
                  <a:pt x="45720" y="297180"/>
                </a:lnTo>
                <a:cubicBezTo>
                  <a:pt x="17026" y="262176"/>
                  <a:pt x="0" y="218599"/>
                  <a:pt x="0" y="171450"/>
                </a:cubicBezTo>
                <a:cubicBezTo>
                  <a:pt x="0" y="55721"/>
                  <a:pt x="102394" y="-38100"/>
                  <a:pt x="228600" y="-38100"/>
                </a:cubicBezTo>
                <a:cubicBezTo>
                  <a:pt x="354806" y="-38100"/>
                  <a:pt x="457200" y="55721"/>
                  <a:pt x="457200" y="171450"/>
                </a:cubicBezTo>
                <a:close/>
                <a:moveTo>
                  <a:pt x="457200" y="609600"/>
                </a:moveTo>
                <a:cubicBezTo>
                  <a:pt x="345162" y="609600"/>
                  <a:pt x="251936" y="535662"/>
                  <a:pt x="232410" y="438150"/>
                </a:cubicBezTo>
                <a:cubicBezTo>
                  <a:pt x="375285" y="436364"/>
                  <a:pt x="499467" y="334685"/>
                  <a:pt x="513159" y="196810"/>
                </a:cubicBezTo>
                <a:cubicBezTo>
                  <a:pt x="612338" y="219670"/>
                  <a:pt x="685800" y="301943"/>
                  <a:pt x="685800" y="400050"/>
                </a:cubicBezTo>
                <a:cubicBezTo>
                  <a:pt x="685800" y="447199"/>
                  <a:pt x="668774" y="490776"/>
                  <a:pt x="640080" y="525780"/>
                </a:cubicBezTo>
                <a:lnTo>
                  <a:pt x="682466" y="605790"/>
                </a:lnTo>
                <a:cubicBezTo>
                  <a:pt x="688300" y="616863"/>
                  <a:pt x="686276" y="630436"/>
                  <a:pt x="677466" y="639366"/>
                </a:cubicBezTo>
                <a:cubicBezTo>
                  <a:pt x="668655" y="648295"/>
                  <a:pt x="654963" y="650319"/>
                  <a:pt x="643890" y="644366"/>
                </a:cubicBezTo>
                <a:lnTo>
                  <a:pt x="546735" y="592931"/>
                </a:lnTo>
                <a:cubicBezTo>
                  <a:pt x="519232" y="603647"/>
                  <a:pt x="488990" y="609600"/>
                  <a:pt x="457200" y="609600"/>
                </a:cubicBezTo>
                <a:close/>
              </a:path>
            </a:pathLst>
          </a:custGeom>
          <a:solidFill>
            <a:srgbClr val="6052C8"/>
          </a:solidFill>
        </p:spPr>
      </p:sp>
      <p:sp>
        <p:nvSpPr>
          <p:cNvPr id="12" name="Text 7"/>
          <p:cNvSpPr/>
          <p:nvPr/>
        </p:nvSpPr>
        <p:spPr>
          <a:xfrm>
            <a:off x="4583311" y="4089400"/>
            <a:ext cx="3022600" cy="355600"/>
          </a:xfrm>
          <a:prstGeom prst="rect">
            <a:avLst/>
          </a:prstGeom>
          <a:noFill/>
        </p:spPr>
        <p:txBody>
          <a:bodyPr wrap="square" lIns="0" tIns="0" rIns="0" bIns="0" rtlCol="0" anchor="ctr"/>
          <a:lstStyle/>
          <a:p>
            <a:pPr marL="0" indent="0" algn="ctr">
              <a:lnSpc>
                <a:spcPct val="130000"/>
              </a:lnSpc>
              <a:buNone/>
            </a:pPr>
            <a:r>
              <a:rPr lang="en-US" sz="1800" dirty="0">
                <a:solidFill>
                  <a:srgbClr val="6052C8"/>
                </a:solidFill>
                <a:latin typeface="MiSans" pitchFamily="34" charset="-122"/>
                <a:ea typeface="MiSans" pitchFamily="34" charset="-122"/>
                <a:cs typeface="MiSans" pitchFamily="34" charset="-120"/>
              </a:rPr>
              <a:t>Nhận feedback tức thì</a:t>
            </a:r>
            <a:endParaRPr lang="en-US" sz="1600" dirty="0"/>
          </a:p>
        </p:txBody>
      </p:sp>
      <p:sp>
        <p:nvSpPr>
          <p:cNvPr id="13" name="Text 8"/>
          <p:cNvSpPr/>
          <p:nvPr/>
        </p:nvSpPr>
        <p:spPr>
          <a:xfrm>
            <a:off x="4419600" y="4495800"/>
            <a:ext cx="3352800" cy="508000"/>
          </a:xfrm>
          <a:prstGeom prst="rect">
            <a:avLst/>
          </a:prstGeom>
          <a:noFill/>
        </p:spPr>
        <p:txBody>
          <a:bodyPr wrap="square" lIns="0" tIns="0" rIns="0" bIns="0" rtlCol="0" anchor="ctr"/>
          <a:lstStyle/>
          <a:p>
            <a:pPr marL="0" indent="0" algn="ctr">
              <a:lnSpc>
                <a:spcPct val="120000"/>
              </a:lnSpc>
              <a:buNone/>
            </a:pPr>
            <a:r>
              <a:rPr lang="en-US" sz="1400" dirty="0">
                <a:solidFill>
                  <a:srgbClr val="34385E"/>
                </a:solidFill>
                <a:latin typeface="MiSans" pitchFamily="34" charset="-122"/>
                <a:ea typeface="MiSans" pitchFamily="34" charset="-122"/>
                <a:cs typeface="MiSans" pitchFamily="34" charset="-120"/>
              </a:rPr>
              <a:t>Cải thiện nhanh năng lực viết, nói, quay dựng, thiết kế.</a:t>
            </a:r>
            <a:endParaRPr lang="en-US" sz="1600" dirty="0"/>
          </a:p>
        </p:txBody>
      </p:sp>
      <p:sp>
        <p:nvSpPr>
          <p:cNvPr id="14" name="Shape 9"/>
          <p:cNvSpPr/>
          <p:nvPr/>
        </p:nvSpPr>
        <p:spPr>
          <a:xfrm>
            <a:off x="9448800" y="2540000"/>
            <a:ext cx="1219200" cy="1219200"/>
          </a:xfrm>
          <a:custGeom>
            <a:avLst/>
            <a:gdLst/>
            <a:ahLst/>
            <a:cxnLst/>
            <a:rect l="l" t="t" r="r" b="b"/>
            <a:pathLst>
              <a:path w="1219200" h="1219200">
                <a:moveTo>
                  <a:pt x="609600" y="0"/>
                </a:moveTo>
                <a:lnTo>
                  <a:pt x="609600" y="0"/>
                </a:lnTo>
                <a:cubicBezTo>
                  <a:pt x="946047" y="0"/>
                  <a:pt x="1219200" y="273153"/>
                  <a:pt x="1219200" y="609600"/>
                </a:cubicBezTo>
                <a:lnTo>
                  <a:pt x="1219200" y="609600"/>
                </a:lnTo>
                <a:cubicBezTo>
                  <a:pt x="1219200" y="946047"/>
                  <a:pt x="946047" y="1219200"/>
                  <a:pt x="609600" y="1219200"/>
                </a:cubicBezTo>
                <a:lnTo>
                  <a:pt x="609600" y="1219200"/>
                </a:lnTo>
                <a:cubicBezTo>
                  <a:pt x="273153" y="1219200"/>
                  <a:pt x="0" y="946047"/>
                  <a:pt x="0" y="609600"/>
                </a:cubicBezTo>
                <a:lnTo>
                  <a:pt x="0" y="609600"/>
                </a:lnTo>
                <a:cubicBezTo>
                  <a:pt x="0" y="273153"/>
                  <a:pt x="273153" y="0"/>
                  <a:pt x="609600" y="0"/>
                </a:cubicBezTo>
                <a:close/>
              </a:path>
            </a:pathLst>
          </a:custGeom>
          <a:solidFill>
            <a:srgbClr val="4D5EFF">
              <a:alpha val="10196"/>
            </a:srgbClr>
          </a:solidFill>
        </p:spPr>
      </p:sp>
      <p:sp>
        <p:nvSpPr>
          <p:cNvPr id="15" name="Shape 10"/>
          <p:cNvSpPr/>
          <p:nvPr/>
        </p:nvSpPr>
        <p:spPr>
          <a:xfrm>
            <a:off x="9791700" y="2844800"/>
            <a:ext cx="533400" cy="609600"/>
          </a:xfrm>
          <a:custGeom>
            <a:avLst/>
            <a:gdLst/>
            <a:ahLst/>
            <a:cxnLst/>
            <a:rect l="l" t="t" r="r" b="b"/>
            <a:pathLst>
              <a:path w="533400" h="609600">
                <a:moveTo>
                  <a:pt x="266700" y="295275"/>
                </a:moveTo>
                <a:cubicBezTo>
                  <a:pt x="187845" y="295275"/>
                  <a:pt x="123825" y="231255"/>
                  <a:pt x="123825" y="152400"/>
                </a:cubicBezTo>
                <a:cubicBezTo>
                  <a:pt x="123825" y="73545"/>
                  <a:pt x="187845" y="9525"/>
                  <a:pt x="266700" y="9525"/>
                </a:cubicBezTo>
                <a:cubicBezTo>
                  <a:pt x="345555" y="9525"/>
                  <a:pt x="409575" y="73545"/>
                  <a:pt x="409575" y="152400"/>
                </a:cubicBezTo>
                <a:cubicBezTo>
                  <a:pt x="409575" y="231255"/>
                  <a:pt x="345555" y="295275"/>
                  <a:pt x="266700" y="295275"/>
                </a:cubicBezTo>
                <a:close/>
                <a:moveTo>
                  <a:pt x="230386" y="361950"/>
                </a:moveTo>
                <a:lnTo>
                  <a:pt x="303014" y="361950"/>
                </a:lnTo>
                <a:cubicBezTo>
                  <a:pt x="314563" y="361950"/>
                  <a:pt x="323850" y="371237"/>
                  <a:pt x="323850" y="382786"/>
                </a:cubicBezTo>
                <a:cubicBezTo>
                  <a:pt x="323850" y="387787"/>
                  <a:pt x="322064" y="392549"/>
                  <a:pt x="318849" y="396359"/>
                </a:cubicBezTo>
                <a:lnTo>
                  <a:pt x="286226" y="434459"/>
                </a:lnTo>
                <a:lnTo>
                  <a:pt x="323136" y="571500"/>
                </a:lnTo>
                <a:lnTo>
                  <a:pt x="323850" y="571500"/>
                </a:lnTo>
                <a:lnTo>
                  <a:pt x="365046" y="406598"/>
                </a:lnTo>
                <a:cubicBezTo>
                  <a:pt x="367665" y="396240"/>
                  <a:pt x="378262" y="389930"/>
                  <a:pt x="388263" y="393740"/>
                </a:cubicBezTo>
                <a:cubicBezTo>
                  <a:pt x="461963" y="421838"/>
                  <a:pt x="514350" y="493276"/>
                  <a:pt x="514350" y="576858"/>
                </a:cubicBezTo>
                <a:cubicBezTo>
                  <a:pt x="514350" y="594836"/>
                  <a:pt x="499705" y="609481"/>
                  <a:pt x="481727" y="609481"/>
                </a:cubicBezTo>
                <a:lnTo>
                  <a:pt x="51673" y="609600"/>
                </a:lnTo>
                <a:cubicBezTo>
                  <a:pt x="33695" y="609600"/>
                  <a:pt x="19050" y="594955"/>
                  <a:pt x="19050" y="576977"/>
                </a:cubicBezTo>
                <a:cubicBezTo>
                  <a:pt x="19050" y="493395"/>
                  <a:pt x="71438" y="421958"/>
                  <a:pt x="145137" y="393859"/>
                </a:cubicBezTo>
                <a:cubicBezTo>
                  <a:pt x="155138" y="390049"/>
                  <a:pt x="165735" y="396359"/>
                  <a:pt x="168354" y="406718"/>
                </a:cubicBezTo>
                <a:lnTo>
                  <a:pt x="209550" y="571619"/>
                </a:lnTo>
                <a:lnTo>
                  <a:pt x="210264" y="571619"/>
                </a:lnTo>
                <a:lnTo>
                  <a:pt x="247174" y="434578"/>
                </a:lnTo>
                <a:lnTo>
                  <a:pt x="214551" y="396478"/>
                </a:lnTo>
                <a:cubicBezTo>
                  <a:pt x="211336" y="392668"/>
                  <a:pt x="209550" y="387906"/>
                  <a:pt x="209550" y="382905"/>
                </a:cubicBezTo>
                <a:cubicBezTo>
                  <a:pt x="209550" y="371356"/>
                  <a:pt x="218837" y="362069"/>
                  <a:pt x="230386" y="362069"/>
                </a:cubicBezTo>
                <a:close/>
              </a:path>
            </a:pathLst>
          </a:custGeom>
          <a:solidFill>
            <a:srgbClr val="4D5EFF"/>
          </a:solidFill>
        </p:spPr>
      </p:sp>
      <p:sp>
        <p:nvSpPr>
          <p:cNvPr id="16" name="Text 11"/>
          <p:cNvSpPr/>
          <p:nvPr/>
        </p:nvSpPr>
        <p:spPr>
          <a:xfrm>
            <a:off x="8382000" y="3911600"/>
            <a:ext cx="3352800" cy="711200"/>
          </a:xfrm>
          <a:prstGeom prst="rect">
            <a:avLst/>
          </a:prstGeom>
          <a:noFill/>
        </p:spPr>
        <p:txBody>
          <a:bodyPr wrap="square" lIns="0" tIns="0" rIns="0" bIns="0" rtlCol="0" anchor="ctr"/>
          <a:lstStyle/>
          <a:p>
            <a:pPr marL="0" indent="0" algn="ctr">
              <a:lnSpc>
                <a:spcPct val="130000"/>
              </a:lnSpc>
              <a:buNone/>
            </a:pPr>
            <a:r>
              <a:rPr lang="en-US" sz="1800" dirty="0">
                <a:solidFill>
                  <a:srgbClr val="4D5EFF"/>
                </a:solidFill>
                <a:latin typeface="MiSans" pitchFamily="34" charset="-122"/>
                <a:ea typeface="MiSans" pitchFamily="34" charset="-122"/>
                <a:cs typeface="MiSans" pitchFamily="34" charset="-120"/>
              </a:rPr>
              <a:t>Xây dựng thương hiệu cá nhân</a:t>
            </a:r>
            <a:endParaRPr lang="en-US" sz="1600" dirty="0"/>
          </a:p>
        </p:txBody>
      </p:sp>
      <p:sp>
        <p:nvSpPr>
          <p:cNvPr id="17" name="Text 12"/>
          <p:cNvSpPr/>
          <p:nvPr/>
        </p:nvSpPr>
        <p:spPr>
          <a:xfrm>
            <a:off x="8382000" y="4673600"/>
            <a:ext cx="3352800" cy="508000"/>
          </a:xfrm>
          <a:prstGeom prst="rect">
            <a:avLst/>
          </a:prstGeom>
          <a:noFill/>
        </p:spPr>
        <p:txBody>
          <a:bodyPr wrap="square" lIns="0" tIns="0" rIns="0" bIns="0" rtlCol="0" anchor="ctr"/>
          <a:lstStyle/>
          <a:p>
            <a:pPr marL="0" indent="0" algn="ctr">
              <a:lnSpc>
                <a:spcPct val="120000"/>
              </a:lnSpc>
              <a:buNone/>
            </a:pPr>
            <a:r>
              <a:rPr lang="en-US" sz="1400" dirty="0">
                <a:solidFill>
                  <a:srgbClr val="34385E"/>
                </a:solidFill>
                <a:latin typeface="MiSans" pitchFamily="34" charset="-122"/>
                <a:ea typeface="MiSans" pitchFamily="34" charset="-122"/>
                <a:cs typeface="MiSans" pitchFamily="34" charset="-120"/>
              </a:rPr>
              <a:t>Tạo dựng uy tín và ảnh hưởng, phục vụ tương lai nghề nghiệp.</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D31E2"/>
        </a:solidFill>
        <a:effectLst/>
      </p:bgPr>
    </p:bg>
    <p:spTree>
      <p:nvGrpSpPr>
        <p:cNvPr id="1" name=""/>
        <p:cNvGrpSpPr/>
        <p:nvPr/>
      </p:nvGrpSpPr>
      <p:grpSpPr>
        <a:xfrm>
          <a:off x="0" y="0"/>
          <a:ext cx="0" cy="0"/>
          <a:chOff x="0" y="0"/>
          <a:chExt cx="0" cy="0"/>
        </a:xfrm>
      </p:grpSpPr>
      <p:pic>
        <p:nvPicPr>
          <p:cNvPr id="2" name="Image 0" descr="https://kimi-img.moonshot.cn/pub/slides/slides_tmpl/image/25-08-27-20:07:28-d2nfa018bjvh7rlj0eug.jpg"/>
          <p:cNvPicPr>
            <a:picLocks noChangeAspect="1"/>
          </p:cNvPicPr>
          <p:nvPr/>
        </p:nvPicPr>
        <p:blipFill>
          <a:blip r:embed="rId1"/>
          <a:stretch>
            <a:fillRect/>
          </a:stretch>
        </p:blipFill>
        <p:spPr>
          <a:xfrm>
            <a:off x="0" y="0"/>
            <a:ext cx="12192635" cy="6858000"/>
          </a:xfrm>
          <a:prstGeom prst="rect">
            <a:avLst/>
          </a:prstGeom>
        </p:spPr>
      </p:pic>
      <p:sp>
        <p:nvSpPr>
          <p:cNvPr id="3" name="Text 0"/>
          <p:cNvSpPr/>
          <p:nvPr/>
        </p:nvSpPr>
        <p:spPr>
          <a:xfrm>
            <a:off x="423545" y="3815080"/>
            <a:ext cx="5547360" cy="495300"/>
          </a:xfrm>
          <a:prstGeom prst="rect">
            <a:avLst/>
          </a:prstGeom>
          <a:noFill/>
        </p:spPr>
        <p:txBody>
          <a:bodyPr wrap="square" lIns="0" tIns="0" rIns="0" bIns="0" rtlCol="0" anchor="t">
            <a:spAutoFit/>
          </a:bodyPr>
          <a:lstStyle/>
          <a:p>
            <a:pPr marL="0" indent="0" algn="ctr">
              <a:lnSpc>
                <a:spcPct val="100000"/>
              </a:lnSpc>
              <a:buNone/>
            </a:pPr>
            <a:r>
              <a:rPr lang="en-US" sz="3200" dirty="0">
                <a:solidFill>
                  <a:srgbClr val="1D31E2"/>
                </a:solidFill>
                <a:latin typeface="MiSans" pitchFamily="34" charset="-122"/>
                <a:ea typeface="MiSans" pitchFamily="34" charset="-122"/>
                <a:cs typeface="MiSans" pitchFamily="34" charset="-120"/>
              </a:rPr>
              <a:t>Nhược điểm và rủi ro</a:t>
            </a:r>
            <a:endParaRPr lang="en-US" sz="1600" dirty="0"/>
          </a:p>
        </p:txBody>
      </p:sp>
      <p:pic>
        <p:nvPicPr>
          <p:cNvPr id="4" name="Image 1" descr="https://kimi-img.moonshot.cn/pub/slides/slides_tmpl/image/25-08-27-20:07:28-d2nfa018bjvh7rlj0f60.png"/>
          <p:cNvPicPr>
            <a:picLocks noChangeAspect="1"/>
          </p:cNvPicPr>
          <p:nvPr/>
        </p:nvPicPr>
        <p:blipFill>
          <a:blip r:embed="rId2">
            <a:alphaModFix amt="23000"/>
          </a:blip>
          <a:stretch>
            <a:fillRect/>
          </a:stretch>
        </p:blipFill>
        <p:spPr>
          <a:xfrm rot="5400000" flipH="1">
            <a:off x="8475980" y="2972435"/>
            <a:ext cx="1301115" cy="976630"/>
          </a:xfrm>
          <a:prstGeom prst="rect">
            <a:avLst/>
          </a:prstGeom>
        </p:spPr>
      </p:pic>
      <p:sp>
        <p:nvSpPr>
          <p:cNvPr id="5" name="Shape 1"/>
          <p:cNvSpPr/>
          <p:nvPr/>
        </p:nvSpPr>
        <p:spPr>
          <a:xfrm>
            <a:off x="1874550" y="1562096"/>
            <a:ext cx="2284095" cy="2335530"/>
          </a:xfrm>
          <a:prstGeom prst="rect">
            <a:avLst/>
          </a:prstGeom>
          <a:solidFill>
            <a:srgbClr val="000000">
              <a:alpha val="0"/>
            </a:srgbClr>
          </a:solidFill>
        </p:spPr>
      </p:sp>
      <p:sp>
        <p:nvSpPr>
          <p:cNvPr id="6" name="Text 2"/>
          <p:cNvSpPr/>
          <p:nvPr/>
        </p:nvSpPr>
        <p:spPr>
          <a:xfrm>
            <a:off x="1874550" y="1562096"/>
            <a:ext cx="2284095" cy="2335530"/>
          </a:xfrm>
          <a:prstGeom prst="rect">
            <a:avLst/>
          </a:prstGeom>
          <a:noFill/>
        </p:spPr>
        <p:txBody>
          <a:bodyPr wrap="square" lIns="0" tIns="0" rIns="0" bIns="0" rtlCol="0" anchor="t"/>
          <a:lstStyle/>
          <a:p>
            <a:pPr marL="0" indent="0" algn="ctr">
              <a:lnSpc>
                <a:spcPct val="110000"/>
              </a:lnSpc>
              <a:buNone/>
            </a:pPr>
            <a:r>
              <a:rPr lang="en-US" sz="13800" dirty="0">
                <a:solidFill>
                  <a:srgbClr val="1D31E2"/>
                </a:solidFill>
                <a:latin typeface="MiSans" pitchFamily="34" charset="-122"/>
                <a:ea typeface="MiSans" pitchFamily="34" charset="-122"/>
                <a:cs typeface="MiSans" pitchFamily="34" charset="-120"/>
              </a:rPr>
              <a:t>04</a:t>
            </a:r>
            <a:endParaRPr lang="en-US" sz="1600" dirty="0"/>
          </a:p>
        </p:txBody>
      </p:sp>
      <p:pic>
        <p:nvPicPr>
          <p:cNvPr id="7" name="Image 2" descr="https://kimi-img.moonshot.cn/pub/slides/slides_tmpl/image/25-08-27-20:07:28-d2nfa018bjvh7rlj0f70.png"/>
          <p:cNvPicPr>
            <a:picLocks noChangeAspect="1"/>
          </p:cNvPicPr>
          <p:nvPr/>
        </p:nvPicPr>
        <p:blipFill>
          <a:blip r:embed="rId3"/>
          <a:stretch>
            <a:fillRect/>
          </a:stretch>
        </p:blipFill>
        <p:spPr>
          <a:xfrm>
            <a:off x="6001385" y="1950085"/>
            <a:ext cx="4074795" cy="3778250"/>
          </a:xfrm>
          <a:prstGeom prst="rect">
            <a:avLst/>
          </a:prstGeom>
        </p:spPr>
      </p:pic>
      <p:pic>
        <p:nvPicPr>
          <p:cNvPr id="8" name="Image 3" descr="https://kimi-img.moonshot.cn/pub/slides/slides_tmpl/image/25-08-27-20:07:28-d2nfa018bjvh7rlj0eu0.png"/>
          <p:cNvPicPr>
            <a:picLocks noChangeAspect="1"/>
          </p:cNvPicPr>
          <p:nvPr/>
        </p:nvPicPr>
        <p:blipFill>
          <a:blip r:embed="rId4"/>
          <a:stretch>
            <a:fillRect/>
          </a:stretch>
        </p:blipFill>
        <p:spPr>
          <a:xfrm>
            <a:off x="10076180" y="0"/>
            <a:ext cx="2116455" cy="2286000"/>
          </a:xfrm>
          <a:prstGeom prst="rect">
            <a:avLst/>
          </a:prstGeom>
        </p:spPr>
      </p:pic>
      <p:pic>
        <p:nvPicPr>
          <p:cNvPr id="9" name="Image 4" descr="https://kimi-img.moonshot.cn/pub/slides/slides_tmpl/image/25-08-27-20:07:28-d2nfa018bjvh7rlj0et0.png"/>
          <p:cNvPicPr>
            <a:picLocks noChangeAspect="1"/>
          </p:cNvPicPr>
          <p:nvPr/>
        </p:nvPicPr>
        <p:blipFill>
          <a:blip r:embed="rId5"/>
          <a:stretch>
            <a:fillRect/>
          </a:stretch>
        </p:blipFill>
        <p:spPr>
          <a:xfrm>
            <a:off x="0" y="5530850"/>
            <a:ext cx="1684020" cy="132715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08-27-20:07:28-d2nfa018bjvh7rlj0eug.jpg"/>
          <p:cNvPicPr>
            <a:picLocks noChangeAspect="1"/>
          </p:cNvPicPr>
          <p:nvPr/>
        </p:nvPicPr>
        <p:blipFill>
          <a:blip r:embed="rId1"/>
          <a:stretch>
            <a:fillRect/>
          </a:stretch>
        </p:blipFill>
        <p:spPr>
          <a:xfrm>
            <a:off x="69215" y="-221615"/>
            <a:ext cx="12233275" cy="6881495"/>
          </a:xfrm>
          <a:prstGeom prst="rect">
            <a:avLst/>
          </a:prstGeom>
        </p:spPr>
      </p:pic>
      <p:pic>
        <p:nvPicPr>
          <p:cNvPr id="3" name="Image 1" descr="https://kimi-img.moonshot.cn/pub/slides/slides_tmpl/image/25-08-27-20:07:28-d2nfa018bjvh7rlj0et0.png"/>
          <p:cNvPicPr>
            <a:picLocks noChangeAspect="1"/>
          </p:cNvPicPr>
          <p:nvPr/>
        </p:nvPicPr>
        <p:blipFill>
          <a:blip r:embed="rId2"/>
          <a:stretch>
            <a:fillRect/>
          </a:stretch>
        </p:blipFill>
        <p:spPr>
          <a:xfrm>
            <a:off x="0" y="5530850"/>
            <a:ext cx="1684020" cy="1327150"/>
          </a:xfrm>
          <a:prstGeom prst="rect">
            <a:avLst/>
          </a:prstGeom>
        </p:spPr>
      </p:pic>
      <p:pic>
        <p:nvPicPr>
          <p:cNvPr id="4" name="Image 2" descr="https://kimi-img.moonshot.cn/pub/slides/slides_tmpl/image/25-08-27-20:07:28-d2nfa018bjvh7rlj0eu0.png"/>
          <p:cNvPicPr>
            <a:picLocks noChangeAspect="1"/>
          </p:cNvPicPr>
          <p:nvPr/>
        </p:nvPicPr>
        <p:blipFill>
          <a:blip r:embed="rId3"/>
          <a:stretch>
            <a:fillRect/>
          </a:stretch>
        </p:blipFill>
        <p:spPr>
          <a:xfrm>
            <a:off x="10076180" y="0"/>
            <a:ext cx="2116455" cy="2286000"/>
          </a:xfrm>
          <a:prstGeom prst="rect">
            <a:avLst/>
          </a:prstGeom>
        </p:spPr>
      </p:pic>
      <p:sp>
        <p:nvSpPr>
          <p:cNvPr id="5" name="Text 0"/>
          <p:cNvSpPr/>
          <p:nvPr/>
        </p:nvSpPr>
        <p:spPr>
          <a:xfrm>
            <a:off x="254000" y="1460500"/>
            <a:ext cx="5638800" cy="914400"/>
          </a:xfrm>
          <a:prstGeom prst="rect">
            <a:avLst/>
          </a:prstGeom>
          <a:noFill/>
        </p:spPr>
        <p:txBody>
          <a:bodyPr wrap="square" lIns="0" tIns="0" rIns="0" bIns="0" rtlCol="0" anchor="ctr"/>
          <a:lstStyle/>
          <a:p>
            <a:pPr marL="0" indent="0">
              <a:lnSpc>
                <a:spcPct val="100000"/>
              </a:lnSpc>
              <a:buNone/>
            </a:pPr>
            <a:r>
              <a:rPr lang="en-US" sz="3000" dirty="0">
                <a:solidFill>
                  <a:srgbClr val="3341B8"/>
                </a:solidFill>
                <a:latin typeface="MiSans" pitchFamily="34" charset="-122"/>
                <a:ea typeface="MiSans" pitchFamily="34" charset="-122"/>
                <a:cs typeface="MiSans" pitchFamily="34" charset="-120"/>
              </a:rPr>
              <a:t>Nghiện Mạng Xã Hội &amp; Suy Giảm Sức Khoẻ Tinh Thần</a:t>
            </a:r>
            <a:endParaRPr lang="en-US" sz="1600" dirty="0"/>
          </a:p>
        </p:txBody>
      </p:sp>
      <p:sp>
        <p:nvSpPr>
          <p:cNvPr id="6" name="Text 1"/>
          <p:cNvSpPr/>
          <p:nvPr/>
        </p:nvSpPr>
        <p:spPr>
          <a:xfrm>
            <a:off x="254000" y="2578100"/>
            <a:ext cx="5638800" cy="990600"/>
          </a:xfrm>
          <a:prstGeom prst="rect">
            <a:avLst/>
          </a:prstGeom>
          <a:noFill/>
        </p:spPr>
        <p:txBody>
          <a:bodyPr wrap="square" lIns="0" tIns="0" rIns="0" bIns="0" rtlCol="0" anchor="ctr"/>
          <a:lstStyle/>
          <a:p>
            <a:pPr marL="0" indent="0">
              <a:lnSpc>
                <a:spcPct val="140000"/>
              </a:lnSpc>
              <a:buNone/>
            </a:pPr>
            <a:r>
              <a:rPr lang="en-US" sz="1600" dirty="0">
                <a:solidFill>
                  <a:srgbClr val="34385E"/>
                </a:solidFill>
                <a:latin typeface="MiSans" pitchFamily="34" charset="-122"/>
                <a:ea typeface="MiSans" pitchFamily="34" charset="-122"/>
                <a:cs typeface="MiSans" pitchFamily="34" charset="-120"/>
              </a:rPr>
              <a:t>Tình trạng </a:t>
            </a:r>
            <a:r>
              <a:rPr lang="en-US" sz="1600" dirty="0">
                <a:solidFill>
                  <a:srgbClr val="4D5EFF"/>
                </a:solidFill>
                <a:latin typeface="MiSans" pitchFamily="34" charset="-122"/>
                <a:ea typeface="MiSans" pitchFamily="34" charset="-122"/>
                <a:cs typeface="MiSans" pitchFamily="34" charset="-120"/>
              </a:rPr>
              <a:t>doom-scrolling</a:t>
            </a:r>
            <a:r>
              <a:rPr lang="en-US" sz="1600" dirty="0">
                <a:solidFill>
                  <a:srgbClr val="34385E"/>
                </a:solidFill>
                <a:latin typeface="MiSans" pitchFamily="34" charset="-122"/>
                <a:ea typeface="MiSans" pitchFamily="34" charset="-122"/>
                <a:cs typeface="MiSans" pitchFamily="34" charset="-120"/>
              </a:rPr>
              <a:t> và </a:t>
            </a:r>
            <a:r>
              <a:rPr lang="en-US" sz="1600" dirty="0">
                <a:solidFill>
                  <a:srgbClr val="4D5EFF"/>
                </a:solidFill>
                <a:latin typeface="MiSans" pitchFamily="34" charset="-122"/>
                <a:ea typeface="MiSans" pitchFamily="34" charset="-122"/>
                <a:cs typeface="MiSans" pitchFamily="34" charset="-120"/>
              </a:rPr>
              <a:t>FOMO</a:t>
            </a:r>
            <a:r>
              <a:rPr lang="en-US" sz="1600" dirty="0">
                <a:solidFill>
                  <a:srgbClr val="34385E"/>
                </a:solidFill>
                <a:latin typeface="MiSans" pitchFamily="34" charset="-122"/>
                <a:ea typeface="MiSans" pitchFamily="34" charset="-122"/>
                <a:cs typeface="MiSans" pitchFamily="34" charset="-120"/>
              </a:rPr>
              <a:t> khiến người dùng dành hàng giờ lướt mạng, dẫn tới mất ngủ, trầm cảm, lo âu, ảnh hưởng học tập, làm việc và chất lượng cuộc sống thực.</a:t>
            </a:r>
            <a:endParaRPr lang="en-US" sz="1600" dirty="0"/>
          </a:p>
        </p:txBody>
      </p:sp>
      <p:sp>
        <p:nvSpPr>
          <p:cNvPr id="7" name="Shape 2"/>
          <p:cNvSpPr/>
          <p:nvPr/>
        </p:nvSpPr>
        <p:spPr>
          <a:xfrm>
            <a:off x="254000" y="3771900"/>
            <a:ext cx="5638800" cy="1625600"/>
          </a:xfrm>
          <a:custGeom>
            <a:avLst/>
            <a:gdLst/>
            <a:ahLst/>
            <a:cxnLst/>
            <a:rect l="l" t="t" r="r" b="b"/>
            <a:pathLst>
              <a:path w="5638800" h="1625600">
                <a:moveTo>
                  <a:pt x="101600" y="0"/>
                </a:moveTo>
                <a:lnTo>
                  <a:pt x="5537200" y="0"/>
                </a:lnTo>
                <a:cubicBezTo>
                  <a:pt x="5593275" y="0"/>
                  <a:pt x="5638800" y="45525"/>
                  <a:pt x="5638800" y="101600"/>
                </a:cubicBezTo>
                <a:lnTo>
                  <a:pt x="5638800" y="1524000"/>
                </a:lnTo>
                <a:cubicBezTo>
                  <a:pt x="5638800" y="1580075"/>
                  <a:pt x="5593275" y="1625600"/>
                  <a:pt x="5537200" y="1625600"/>
                </a:cubicBezTo>
                <a:lnTo>
                  <a:pt x="101600" y="1625600"/>
                </a:lnTo>
                <a:cubicBezTo>
                  <a:pt x="45525" y="1625600"/>
                  <a:pt x="0" y="1580075"/>
                  <a:pt x="0" y="1524000"/>
                </a:cubicBezTo>
                <a:lnTo>
                  <a:pt x="0" y="101600"/>
                </a:lnTo>
                <a:cubicBezTo>
                  <a:pt x="0" y="45525"/>
                  <a:pt x="45525" y="0"/>
                  <a:pt x="101600" y="0"/>
                </a:cubicBezTo>
                <a:close/>
              </a:path>
            </a:pathLst>
          </a:custGeom>
          <a:solidFill>
            <a:srgbClr val="6052C8">
              <a:alpha val="20000"/>
            </a:srgbClr>
          </a:solidFill>
        </p:spPr>
      </p:sp>
      <p:sp>
        <p:nvSpPr>
          <p:cNvPr id="8" name="Text 3"/>
          <p:cNvSpPr/>
          <p:nvPr/>
        </p:nvSpPr>
        <p:spPr>
          <a:xfrm>
            <a:off x="203200" y="3975100"/>
            <a:ext cx="5740400" cy="609600"/>
          </a:xfrm>
          <a:prstGeom prst="rect">
            <a:avLst/>
          </a:prstGeom>
          <a:noFill/>
        </p:spPr>
        <p:txBody>
          <a:bodyPr wrap="square" lIns="0" tIns="0" rIns="0" bIns="0" rtlCol="0" anchor="ctr"/>
          <a:lstStyle/>
          <a:p>
            <a:pPr marL="0" indent="0" algn="ctr">
              <a:lnSpc>
                <a:spcPct val="80000"/>
              </a:lnSpc>
              <a:buNone/>
            </a:pPr>
            <a:r>
              <a:rPr lang="en-US" sz="4800" dirty="0">
                <a:solidFill>
                  <a:srgbClr val="6052C8"/>
                </a:solidFill>
                <a:latin typeface="MiSans" pitchFamily="34" charset="-122"/>
                <a:ea typeface="MiSans" pitchFamily="34" charset="-122"/>
                <a:cs typeface="MiSans" pitchFamily="34" charset="-120"/>
              </a:rPr>
              <a:t>21%</a:t>
            </a:r>
            <a:endParaRPr lang="en-US" sz="1600" dirty="0"/>
          </a:p>
        </p:txBody>
      </p:sp>
      <p:sp>
        <p:nvSpPr>
          <p:cNvPr id="9" name="Text 4"/>
          <p:cNvSpPr/>
          <p:nvPr/>
        </p:nvSpPr>
        <p:spPr>
          <a:xfrm>
            <a:off x="457200" y="4584700"/>
            <a:ext cx="5232400" cy="609600"/>
          </a:xfrm>
          <a:prstGeom prst="rect">
            <a:avLst/>
          </a:prstGeom>
          <a:noFill/>
        </p:spPr>
        <p:txBody>
          <a:bodyPr wrap="square" lIns="0" tIns="0" rIns="0" bIns="0" rtlCol="0" anchor="ctr"/>
          <a:lstStyle/>
          <a:p>
            <a:pPr marL="0" indent="0" algn="ctr">
              <a:lnSpc>
                <a:spcPct val="130000"/>
              </a:lnSpc>
              <a:buNone/>
            </a:pPr>
            <a:r>
              <a:rPr lang="en-US" sz="1600" dirty="0">
                <a:solidFill>
                  <a:srgbClr val="34385E"/>
                </a:solidFill>
                <a:latin typeface="MiSans" pitchFamily="34" charset="-122"/>
                <a:ea typeface="MiSans" pitchFamily="34" charset="-122"/>
                <a:cs typeface="MiSans" pitchFamily="34" charset="-120"/>
              </a:rPr>
              <a:t>Tỷ lệ trầm cảm ở thiếu niên tăng khi dùng trên 3 giờ mỗi ngày.</a:t>
            </a:r>
            <a:endParaRPr lang="en-US" sz="1600" dirty="0"/>
          </a:p>
        </p:txBody>
      </p:sp>
      <p:sp>
        <p:nvSpPr>
          <p:cNvPr id="10" name="Shape 5"/>
          <p:cNvSpPr/>
          <p:nvPr/>
        </p:nvSpPr>
        <p:spPr>
          <a:xfrm>
            <a:off x="7493000" y="1803400"/>
            <a:ext cx="3149600" cy="3149600"/>
          </a:xfrm>
          <a:custGeom>
            <a:avLst/>
            <a:gdLst/>
            <a:ahLst/>
            <a:cxnLst/>
            <a:rect l="l" t="t" r="r" b="b"/>
            <a:pathLst>
              <a:path w="3149600" h="3149600">
                <a:moveTo>
                  <a:pt x="1574800" y="0"/>
                </a:moveTo>
                <a:lnTo>
                  <a:pt x="1574800" y="0"/>
                </a:lnTo>
                <a:cubicBezTo>
                  <a:pt x="2443956" y="0"/>
                  <a:pt x="3149600" y="705644"/>
                  <a:pt x="3149600" y="1574800"/>
                </a:cubicBezTo>
                <a:lnTo>
                  <a:pt x="3149600" y="1574800"/>
                </a:lnTo>
                <a:cubicBezTo>
                  <a:pt x="3149600" y="2443956"/>
                  <a:pt x="2443956" y="3149600"/>
                  <a:pt x="1574800" y="3149600"/>
                </a:cubicBezTo>
                <a:lnTo>
                  <a:pt x="1574800" y="3149600"/>
                </a:lnTo>
                <a:cubicBezTo>
                  <a:pt x="705644" y="3149600"/>
                  <a:pt x="0" y="2443956"/>
                  <a:pt x="0" y="1574800"/>
                </a:cubicBezTo>
                <a:lnTo>
                  <a:pt x="0" y="1574800"/>
                </a:lnTo>
                <a:cubicBezTo>
                  <a:pt x="0" y="705644"/>
                  <a:pt x="705644" y="0"/>
                  <a:pt x="1574800" y="0"/>
                </a:cubicBezTo>
                <a:close/>
              </a:path>
            </a:pathLst>
          </a:custGeom>
          <a:solidFill>
            <a:srgbClr val="000000">
              <a:alpha val="0"/>
            </a:srgbClr>
          </a:solidFill>
          <a:ln w="50800">
            <a:solidFill>
              <a:srgbClr val="3341B8"/>
            </a:solidFill>
            <a:prstDash val="solid"/>
          </a:ln>
        </p:spPr>
      </p:sp>
      <p:sp>
        <p:nvSpPr>
          <p:cNvPr id="11" name="Shape 6"/>
          <p:cNvSpPr/>
          <p:nvPr/>
        </p:nvSpPr>
        <p:spPr>
          <a:xfrm>
            <a:off x="7696200" y="2006600"/>
            <a:ext cx="2743200" cy="2743200"/>
          </a:xfrm>
          <a:custGeom>
            <a:avLst/>
            <a:gdLst/>
            <a:ahLst/>
            <a:cxnLst/>
            <a:rect l="l" t="t" r="r" b="b"/>
            <a:pathLst>
              <a:path w="2743200" h="2743200">
                <a:moveTo>
                  <a:pt x="1371600" y="0"/>
                </a:moveTo>
                <a:lnTo>
                  <a:pt x="1371600" y="0"/>
                </a:lnTo>
                <a:cubicBezTo>
                  <a:pt x="2128607" y="0"/>
                  <a:pt x="2743200" y="614593"/>
                  <a:pt x="2743200" y="1371600"/>
                </a:cubicBezTo>
                <a:lnTo>
                  <a:pt x="2743200" y="1371600"/>
                </a:lnTo>
                <a:cubicBezTo>
                  <a:pt x="2743200" y="2128607"/>
                  <a:pt x="2128607" y="2743200"/>
                  <a:pt x="1371600" y="2743200"/>
                </a:cubicBezTo>
                <a:lnTo>
                  <a:pt x="1371600" y="2743200"/>
                </a:lnTo>
                <a:cubicBezTo>
                  <a:pt x="614593" y="2743200"/>
                  <a:pt x="0" y="2128607"/>
                  <a:pt x="0" y="1371600"/>
                </a:cubicBezTo>
                <a:lnTo>
                  <a:pt x="0" y="1371600"/>
                </a:lnTo>
                <a:cubicBezTo>
                  <a:pt x="0" y="614593"/>
                  <a:pt x="614593" y="0"/>
                  <a:pt x="1371600" y="0"/>
                </a:cubicBezTo>
                <a:close/>
              </a:path>
            </a:pathLst>
          </a:custGeom>
          <a:solidFill>
            <a:srgbClr val="000000">
              <a:alpha val="0"/>
            </a:srgbClr>
          </a:solidFill>
          <a:ln w="50800">
            <a:solidFill>
              <a:srgbClr val="6052C8"/>
            </a:solidFill>
            <a:prstDash val="solid"/>
          </a:ln>
        </p:spPr>
      </p:sp>
      <p:sp>
        <p:nvSpPr>
          <p:cNvPr id="12" name="Shape 7"/>
          <p:cNvSpPr/>
          <p:nvPr/>
        </p:nvSpPr>
        <p:spPr>
          <a:xfrm>
            <a:off x="7899400" y="2209800"/>
            <a:ext cx="2336800" cy="2336800"/>
          </a:xfrm>
          <a:custGeom>
            <a:avLst/>
            <a:gdLst/>
            <a:ahLst/>
            <a:cxnLst/>
            <a:rect l="l" t="t" r="r" b="b"/>
            <a:pathLst>
              <a:path w="2336800" h="2336800">
                <a:moveTo>
                  <a:pt x="1168400" y="0"/>
                </a:moveTo>
                <a:lnTo>
                  <a:pt x="1168400" y="0"/>
                </a:lnTo>
                <a:cubicBezTo>
                  <a:pt x="1813258" y="0"/>
                  <a:pt x="2336800" y="523542"/>
                  <a:pt x="2336800" y="1168400"/>
                </a:cubicBezTo>
                <a:lnTo>
                  <a:pt x="2336800" y="1168400"/>
                </a:lnTo>
                <a:cubicBezTo>
                  <a:pt x="2336800" y="1813258"/>
                  <a:pt x="1813258" y="2336800"/>
                  <a:pt x="1168400" y="2336800"/>
                </a:cubicBezTo>
                <a:lnTo>
                  <a:pt x="1168400" y="2336800"/>
                </a:lnTo>
                <a:cubicBezTo>
                  <a:pt x="523542" y="2336800"/>
                  <a:pt x="0" y="1813258"/>
                  <a:pt x="0" y="1168400"/>
                </a:cubicBezTo>
                <a:lnTo>
                  <a:pt x="0" y="1168400"/>
                </a:lnTo>
                <a:cubicBezTo>
                  <a:pt x="0" y="523542"/>
                  <a:pt x="523542" y="0"/>
                  <a:pt x="1168400" y="0"/>
                </a:cubicBezTo>
                <a:close/>
              </a:path>
            </a:pathLst>
          </a:custGeom>
          <a:solidFill>
            <a:srgbClr val="000000">
              <a:alpha val="0"/>
            </a:srgbClr>
          </a:solidFill>
          <a:ln w="50800">
            <a:solidFill>
              <a:srgbClr val="4D5EFF"/>
            </a:solidFill>
            <a:prstDash val="solid"/>
          </a:ln>
        </p:spPr>
      </p:sp>
      <p:sp>
        <p:nvSpPr>
          <p:cNvPr id="13" name="Shape 8"/>
          <p:cNvSpPr/>
          <p:nvPr/>
        </p:nvSpPr>
        <p:spPr>
          <a:xfrm>
            <a:off x="8832850" y="3048000"/>
            <a:ext cx="571500" cy="762000"/>
          </a:xfrm>
          <a:custGeom>
            <a:avLst/>
            <a:gdLst/>
            <a:ahLst/>
            <a:cxnLst/>
            <a:rect l="l" t="t" r="r" b="b"/>
            <a:pathLst>
              <a:path w="571500" h="762000">
                <a:moveTo>
                  <a:pt x="23812" y="95250"/>
                </a:moveTo>
                <a:cubicBezTo>
                  <a:pt x="23812" y="42714"/>
                  <a:pt x="66526" y="0"/>
                  <a:pt x="119063" y="0"/>
                </a:cubicBezTo>
                <a:lnTo>
                  <a:pt x="452438" y="0"/>
                </a:lnTo>
                <a:cubicBezTo>
                  <a:pt x="504974" y="0"/>
                  <a:pt x="547687" y="42714"/>
                  <a:pt x="547687" y="95250"/>
                </a:cubicBezTo>
                <a:lnTo>
                  <a:pt x="547687" y="666750"/>
                </a:lnTo>
                <a:cubicBezTo>
                  <a:pt x="547687" y="719286"/>
                  <a:pt x="504974" y="762000"/>
                  <a:pt x="452438" y="762000"/>
                </a:cubicBezTo>
                <a:lnTo>
                  <a:pt x="119063" y="762000"/>
                </a:lnTo>
                <a:cubicBezTo>
                  <a:pt x="66526" y="762000"/>
                  <a:pt x="23812" y="719286"/>
                  <a:pt x="23812" y="666750"/>
                </a:cubicBezTo>
                <a:lnTo>
                  <a:pt x="23812" y="95250"/>
                </a:lnTo>
                <a:close/>
                <a:moveTo>
                  <a:pt x="119063" y="95250"/>
                </a:moveTo>
                <a:lnTo>
                  <a:pt x="119063" y="547687"/>
                </a:lnTo>
                <a:lnTo>
                  <a:pt x="452438" y="547687"/>
                </a:lnTo>
                <a:lnTo>
                  <a:pt x="452438" y="95250"/>
                </a:lnTo>
                <a:lnTo>
                  <a:pt x="119063" y="95250"/>
                </a:lnTo>
                <a:close/>
                <a:moveTo>
                  <a:pt x="285750" y="702469"/>
                </a:moveTo>
                <a:cubicBezTo>
                  <a:pt x="312093" y="702469"/>
                  <a:pt x="333375" y="681186"/>
                  <a:pt x="333375" y="654844"/>
                </a:cubicBezTo>
                <a:cubicBezTo>
                  <a:pt x="333375" y="628501"/>
                  <a:pt x="312093" y="607219"/>
                  <a:pt x="285750" y="607219"/>
                </a:cubicBezTo>
                <a:cubicBezTo>
                  <a:pt x="259407" y="607219"/>
                  <a:pt x="238125" y="628501"/>
                  <a:pt x="238125" y="654844"/>
                </a:cubicBezTo>
                <a:cubicBezTo>
                  <a:pt x="238125" y="681186"/>
                  <a:pt x="259407" y="702469"/>
                  <a:pt x="285750" y="702469"/>
                </a:cubicBezTo>
                <a:close/>
              </a:path>
            </a:pathLst>
          </a:custGeom>
          <a:solidFill>
            <a:srgbClr val="34385E"/>
          </a:solid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08-27-20:07:28-d2nfa018bjvh7rlj0eug.jpg"/>
          <p:cNvPicPr>
            <a:picLocks noChangeAspect="1"/>
          </p:cNvPicPr>
          <p:nvPr/>
        </p:nvPicPr>
        <p:blipFill>
          <a:blip r:embed="rId1"/>
          <a:stretch>
            <a:fillRect/>
          </a:stretch>
        </p:blipFill>
        <p:spPr>
          <a:xfrm>
            <a:off x="0" y="0"/>
            <a:ext cx="12233275" cy="6881495"/>
          </a:xfrm>
          <a:prstGeom prst="rect">
            <a:avLst/>
          </a:prstGeom>
        </p:spPr>
      </p:pic>
      <p:pic>
        <p:nvPicPr>
          <p:cNvPr id="3" name="Image 1" descr="https://kimi-img.moonshot.cn/pub/slides/slides_tmpl/image/25-08-27-20:07:28-d2nfa018bjvh7rlj0et0.png"/>
          <p:cNvPicPr>
            <a:picLocks noChangeAspect="1"/>
          </p:cNvPicPr>
          <p:nvPr/>
        </p:nvPicPr>
        <p:blipFill>
          <a:blip r:embed="rId2"/>
          <a:stretch>
            <a:fillRect/>
          </a:stretch>
        </p:blipFill>
        <p:spPr>
          <a:xfrm>
            <a:off x="0" y="5530850"/>
            <a:ext cx="1684020" cy="1327150"/>
          </a:xfrm>
          <a:prstGeom prst="rect">
            <a:avLst/>
          </a:prstGeom>
        </p:spPr>
      </p:pic>
      <p:pic>
        <p:nvPicPr>
          <p:cNvPr id="4" name="Image 2" descr="https://kimi-img.moonshot.cn/pub/slides/slides_tmpl/image/25-08-27-20:07:28-d2nfa018bjvh7rlj0eu0.png"/>
          <p:cNvPicPr>
            <a:picLocks noChangeAspect="1"/>
          </p:cNvPicPr>
          <p:nvPr/>
        </p:nvPicPr>
        <p:blipFill>
          <a:blip r:embed="rId3"/>
          <a:stretch>
            <a:fillRect/>
          </a:stretch>
        </p:blipFill>
        <p:spPr>
          <a:xfrm>
            <a:off x="10076180" y="0"/>
            <a:ext cx="2116455" cy="2286000"/>
          </a:xfrm>
          <a:prstGeom prst="rect">
            <a:avLst/>
          </a:prstGeom>
        </p:spPr>
      </p:pic>
      <p:sp>
        <p:nvSpPr>
          <p:cNvPr id="5" name="Text 0"/>
          <p:cNvSpPr/>
          <p:nvPr/>
        </p:nvSpPr>
        <p:spPr>
          <a:xfrm>
            <a:off x="0" y="1852612"/>
            <a:ext cx="12192000" cy="457200"/>
          </a:xfrm>
          <a:prstGeom prst="rect">
            <a:avLst/>
          </a:prstGeom>
          <a:noFill/>
        </p:spPr>
        <p:txBody>
          <a:bodyPr wrap="square" lIns="0" tIns="0" rIns="0" bIns="0" rtlCol="0" anchor="ctr"/>
          <a:lstStyle/>
          <a:p>
            <a:pPr marL="0" indent="0" algn="ctr">
              <a:lnSpc>
                <a:spcPct val="100000"/>
              </a:lnSpc>
              <a:buNone/>
            </a:pPr>
            <a:r>
              <a:rPr lang="en-US" sz="3000" dirty="0">
                <a:solidFill>
                  <a:srgbClr val="3341B8"/>
                </a:solidFill>
                <a:latin typeface="MiSans" pitchFamily="34" charset="-122"/>
                <a:ea typeface="MiSans" pitchFamily="34" charset="-122"/>
                <a:cs typeface="MiSans" pitchFamily="34" charset="-120"/>
              </a:rPr>
              <a:t>Tin Giả &amp; Xâm Phạm Quyền Riêng Tư</a:t>
            </a:r>
            <a:endParaRPr lang="en-US" sz="1600" dirty="0"/>
          </a:p>
        </p:txBody>
      </p:sp>
      <p:sp>
        <p:nvSpPr>
          <p:cNvPr id="6" name="Shape 1"/>
          <p:cNvSpPr/>
          <p:nvPr/>
        </p:nvSpPr>
        <p:spPr>
          <a:xfrm>
            <a:off x="2740025" y="2716213"/>
            <a:ext cx="666750" cy="762000"/>
          </a:xfrm>
          <a:custGeom>
            <a:avLst/>
            <a:gdLst/>
            <a:ahLst/>
            <a:cxnLst/>
            <a:rect l="l" t="t" r="r" b="b"/>
            <a:pathLst>
              <a:path w="666750" h="762000">
                <a:moveTo>
                  <a:pt x="254496" y="-23812"/>
                </a:moveTo>
                <a:cubicBezTo>
                  <a:pt x="200323" y="-23812"/>
                  <a:pt x="168473" y="62954"/>
                  <a:pt x="152846" y="142875"/>
                </a:cubicBezTo>
                <a:lnTo>
                  <a:pt x="107156" y="142875"/>
                </a:lnTo>
                <a:cubicBezTo>
                  <a:pt x="87362" y="142875"/>
                  <a:pt x="71438" y="158800"/>
                  <a:pt x="71438" y="178594"/>
                </a:cubicBezTo>
                <a:cubicBezTo>
                  <a:pt x="71438" y="198388"/>
                  <a:pt x="87362" y="214313"/>
                  <a:pt x="107156" y="214313"/>
                </a:cubicBezTo>
                <a:lnTo>
                  <a:pt x="142875" y="214313"/>
                </a:lnTo>
                <a:lnTo>
                  <a:pt x="142875" y="261938"/>
                </a:lnTo>
                <a:cubicBezTo>
                  <a:pt x="142875" y="287238"/>
                  <a:pt x="147786" y="311348"/>
                  <a:pt x="156716" y="333375"/>
                </a:cubicBezTo>
                <a:lnTo>
                  <a:pt x="142875" y="333375"/>
                </a:lnTo>
                <a:lnTo>
                  <a:pt x="142875" y="333375"/>
                </a:lnTo>
                <a:lnTo>
                  <a:pt x="112365" y="333375"/>
                </a:lnTo>
                <a:cubicBezTo>
                  <a:pt x="89743" y="333375"/>
                  <a:pt x="71438" y="351681"/>
                  <a:pt x="71438" y="374303"/>
                </a:cubicBezTo>
                <a:cubicBezTo>
                  <a:pt x="71438" y="378768"/>
                  <a:pt x="72182" y="383084"/>
                  <a:pt x="73521" y="387251"/>
                </a:cubicBezTo>
                <a:lnTo>
                  <a:pt x="116532" y="516136"/>
                </a:lnTo>
                <a:cubicBezTo>
                  <a:pt x="59829" y="564952"/>
                  <a:pt x="23812" y="637133"/>
                  <a:pt x="23812" y="717798"/>
                </a:cubicBezTo>
                <a:cubicBezTo>
                  <a:pt x="23812" y="742206"/>
                  <a:pt x="43607" y="762000"/>
                  <a:pt x="68014" y="762000"/>
                </a:cubicBezTo>
                <a:lnTo>
                  <a:pt x="598736" y="762000"/>
                </a:lnTo>
                <a:cubicBezTo>
                  <a:pt x="623143" y="762000"/>
                  <a:pt x="642938" y="742206"/>
                  <a:pt x="642938" y="717798"/>
                </a:cubicBezTo>
                <a:cubicBezTo>
                  <a:pt x="642938" y="637133"/>
                  <a:pt x="606921" y="564952"/>
                  <a:pt x="550218" y="516285"/>
                </a:cubicBezTo>
                <a:lnTo>
                  <a:pt x="593229" y="387400"/>
                </a:lnTo>
                <a:cubicBezTo>
                  <a:pt x="594568" y="383232"/>
                  <a:pt x="595312" y="378916"/>
                  <a:pt x="595312" y="374452"/>
                </a:cubicBezTo>
                <a:cubicBezTo>
                  <a:pt x="595312" y="351830"/>
                  <a:pt x="577007" y="333524"/>
                  <a:pt x="554385" y="333524"/>
                </a:cubicBezTo>
                <a:lnTo>
                  <a:pt x="523875" y="333524"/>
                </a:lnTo>
                <a:lnTo>
                  <a:pt x="523875" y="333524"/>
                </a:lnTo>
                <a:lnTo>
                  <a:pt x="510034" y="333524"/>
                </a:lnTo>
                <a:cubicBezTo>
                  <a:pt x="518964" y="311497"/>
                  <a:pt x="523875" y="287387"/>
                  <a:pt x="523875" y="262086"/>
                </a:cubicBezTo>
                <a:lnTo>
                  <a:pt x="523875" y="214461"/>
                </a:lnTo>
                <a:lnTo>
                  <a:pt x="559594" y="214461"/>
                </a:lnTo>
                <a:cubicBezTo>
                  <a:pt x="579388" y="214461"/>
                  <a:pt x="595312" y="198537"/>
                  <a:pt x="595312" y="178743"/>
                </a:cubicBezTo>
                <a:cubicBezTo>
                  <a:pt x="595312" y="158948"/>
                  <a:pt x="579388" y="143024"/>
                  <a:pt x="559594" y="143024"/>
                </a:cubicBezTo>
                <a:lnTo>
                  <a:pt x="513904" y="143024"/>
                </a:lnTo>
                <a:cubicBezTo>
                  <a:pt x="498425" y="63103"/>
                  <a:pt x="466427" y="-23664"/>
                  <a:pt x="412254" y="-23664"/>
                </a:cubicBezTo>
                <a:cubicBezTo>
                  <a:pt x="397966" y="-23664"/>
                  <a:pt x="383977" y="-17859"/>
                  <a:pt x="371326" y="-11460"/>
                </a:cubicBezTo>
                <a:cubicBezTo>
                  <a:pt x="359122" y="-5358"/>
                  <a:pt x="343942" y="149"/>
                  <a:pt x="333375" y="149"/>
                </a:cubicBezTo>
                <a:cubicBezTo>
                  <a:pt x="322808" y="149"/>
                  <a:pt x="307628" y="-5358"/>
                  <a:pt x="295424" y="-11460"/>
                </a:cubicBezTo>
                <a:cubicBezTo>
                  <a:pt x="282773" y="-18008"/>
                  <a:pt x="268784" y="-23812"/>
                  <a:pt x="254496" y="-23812"/>
                </a:cubicBezTo>
                <a:close/>
                <a:moveTo>
                  <a:pt x="393948" y="697111"/>
                </a:moveTo>
                <a:lnTo>
                  <a:pt x="357039" y="591592"/>
                </a:lnTo>
                <a:lnTo>
                  <a:pt x="398562" y="543223"/>
                </a:lnTo>
                <a:cubicBezTo>
                  <a:pt x="402580" y="538460"/>
                  <a:pt x="404812" y="532507"/>
                  <a:pt x="404812" y="526256"/>
                </a:cubicBezTo>
                <a:cubicBezTo>
                  <a:pt x="404812" y="511820"/>
                  <a:pt x="393204" y="500211"/>
                  <a:pt x="378768" y="500211"/>
                </a:cubicBezTo>
                <a:lnTo>
                  <a:pt x="287982" y="500211"/>
                </a:lnTo>
                <a:cubicBezTo>
                  <a:pt x="273546" y="500211"/>
                  <a:pt x="261937" y="511820"/>
                  <a:pt x="261937" y="526256"/>
                </a:cubicBezTo>
                <a:cubicBezTo>
                  <a:pt x="261937" y="532507"/>
                  <a:pt x="264170" y="538460"/>
                  <a:pt x="268188" y="543223"/>
                </a:cubicBezTo>
                <a:lnTo>
                  <a:pt x="309711" y="591592"/>
                </a:lnTo>
                <a:lnTo>
                  <a:pt x="272802" y="697111"/>
                </a:lnTo>
                <a:lnTo>
                  <a:pt x="187970" y="428625"/>
                </a:lnTo>
                <a:lnTo>
                  <a:pt x="241102" y="428625"/>
                </a:lnTo>
                <a:cubicBezTo>
                  <a:pt x="268486" y="443805"/>
                  <a:pt x="299889" y="452438"/>
                  <a:pt x="333375" y="452438"/>
                </a:cubicBezTo>
                <a:cubicBezTo>
                  <a:pt x="366861" y="452438"/>
                  <a:pt x="398264" y="443805"/>
                  <a:pt x="425648" y="428625"/>
                </a:cubicBezTo>
                <a:lnTo>
                  <a:pt x="478780" y="428625"/>
                </a:lnTo>
                <a:lnTo>
                  <a:pt x="393948" y="697111"/>
                </a:lnTo>
                <a:close/>
                <a:moveTo>
                  <a:pt x="333375" y="381000"/>
                </a:moveTo>
                <a:cubicBezTo>
                  <a:pt x="281732" y="381000"/>
                  <a:pt x="237827" y="348109"/>
                  <a:pt x="221307" y="302121"/>
                </a:cubicBezTo>
                <a:cubicBezTo>
                  <a:pt x="229791" y="306884"/>
                  <a:pt x="239613" y="309563"/>
                  <a:pt x="250031" y="309563"/>
                </a:cubicBezTo>
                <a:lnTo>
                  <a:pt x="268486" y="309563"/>
                </a:lnTo>
                <a:cubicBezTo>
                  <a:pt x="293043" y="309563"/>
                  <a:pt x="314771" y="293787"/>
                  <a:pt x="322511" y="270570"/>
                </a:cubicBezTo>
                <a:cubicBezTo>
                  <a:pt x="325934" y="260152"/>
                  <a:pt x="340668" y="260152"/>
                  <a:pt x="344091" y="270570"/>
                </a:cubicBezTo>
                <a:cubicBezTo>
                  <a:pt x="351830" y="293787"/>
                  <a:pt x="373707" y="309563"/>
                  <a:pt x="398115" y="309563"/>
                </a:cubicBezTo>
                <a:lnTo>
                  <a:pt x="416570" y="309563"/>
                </a:lnTo>
                <a:cubicBezTo>
                  <a:pt x="426988" y="309563"/>
                  <a:pt x="436811" y="306884"/>
                  <a:pt x="445294" y="302121"/>
                </a:cubicBezTo>
                <a:cubicBezTo>
                  <a:pt x="428774" y="348109"/>
                  <a:pt x="384870" y="381000"/>
                  <a:pt x="333226" y="381000"/>
                </a:cubicBezTo>
                <a:close/>
              </a:path>
            </a:pathLst>
          </a:custGeom>
          <a:solidFill>
            <a:srgbClr val="3341B8"/>
          </a:solidFill>
        </p:spPr>
      </p:sp>
      <p:sp>
        <p:nvSpPr>
          <p:cNvPr id="7" name="Text 2"/>
          <p:cNvSpPr/>
          <p:nvPr/>
        </p:nvSpPr>
        <p:spPr>
          <a:xfrm>
            <a:off x="1585119" y="3681413"/>
            <a:ext cx="2971800" cy="355600"/>
          </a:xfrm>
          <a:prstGeom prst="rect">
            <a:avLst/>
          </a:prstGeom>
          <a:noFill/>
        </p:spPr>
        <p:txBody>
          <a:bodyPr wrap="square" lIns="0" tIns="0" rIns="0" bIns="0" rtlCol="0" anchor="ctr"/>
          <a:lstStyle/>
          <a:p>
            <a:pPr marL="0" indent="0" algn="ctr">
              <a:lnSpc>
                <a:spcPct val="120000"/>
              </a:lnSpc>
              <a:buNone/>
            </a:pPr>
            <a:r>
              <a:rPr lang="en-US" sz="2000" dirty="0">
                <a:solidFill>
                  <a:srgbClr val="3341B8"/>
                </a:solidFill>
                <a:latin typeface="MiSans" pitchFamily="34" charset="-122"/>
                <a:ea typeface="MiSans" pitchFamily="34" charset="-122"/>
                <a:cs typeface="MiSans" pitchFamily="34" charset="-120"/>
              </a:rPr>
              <a:t>Tin Giả &amp; Deepfake</a:t>
            </a:r>
            <a:endParaRPr lang="en-US" sz="1600" dirty="0"/>
          </a:p>
        </p:txBody>
      </p:sp>
      <p:sp>
        <p:nvSpPr>
          <p:cNvPr id="8" name="Text 3"/>
          <p:cNvSpPr/>
          <p:nvPr/>
        </p:nvSpPr>
        <p:spPr>
          <a:xfrm>
            <a:off x="254000" y="4138613"/>
            <a:ext cx="5638800" cy="863600"/>
          </a:xfrm>
          <a:prstGeom prst="rect">
            <a:avLst/>
          </a:prstGeom>
          <a:noFill/>
        </p:spPr>
        <p:txBody>
          <a:bodyPr wrap="square" lIns="0" tIns="0" rIns="0" bIns="0" rtlCol="0" anchor="ctr"/>
          <a:lstStyle/>
          <a:p>
            <a:pPr marL="0" indent="0" algn="ctr">
              <a:lnSpc>
                <a:spcPct val="140000"/>
              </a:lnSpc>
              <a:buNone/>
            </a:pPr>
            <a:r>
              <a:rPr lang="en-US" sz="1400" dirty="0">
                <a:solidFill>
                  <a:srgbClr val="34385E"/>
                </a:solidFill>
                <a:latin typeface="MiSans" pitchFamily="34" charset="-122"/>
                <a:ea typeface="MiSans" pitchFamily="34" charset="-122"/>
                <a:cs typeface="MiSans" pitchFamily="34" charset="-120"/>
              </a:rPr>
              <a:t>Thông tin thất thiệt, bài viết bịa đặt, video deepfake lan truyền nhanh chóng, gây hoang mang xã hội và tổn hại uy tín cá nhân, tổ chức.</a:t>
            </a:r>
            <a:endParaRPr lang="en-US" sz="1600" dirty="0"/>
          </a:p>
        </p:txBody>
      </p:sp>
      <p:sp>
        <p:nvSpPr>
          <p:cNvPr id="9" name="Shape 4"/>
          <p:cNvSpPr/>
          <p:nvPr/>
        </p:nvSpPr>
        <p:spPr>
          <a:xfrm>
            <a:off x="8737600" y="2716213"/>
            <a:ext cx="762000" cy="762000"/>
          </a:xfrm>
          <a:custGeom>
            <a:avLst/>
            <a:gdLst/>
            <a:ahLst/>
            <a:cxnLst/>
            <a:rect l="l" t="t" r="r" b="b"/>
            <a:pathLst>
              <a:path w="762000" h="762000">
                <a:moveTo>
                  <a:pt x="381000" y="0"/>
                </a:moveTo>
                <a:cubicBezTo>
                  <a:pt x="387846" y="0"/>
                  <a:pt x="394692" y="1488"/>
                  <a:pt x="400943" y="4316"/>
                </a:cubicBezTo>
                <a:lnTo>
                  <a:pt x="681335" y="123230"/>
                </a:lnTo>
                <a:cubicBezTo>
                  <a:pt x="714077" y="137071"/>
                  <a:pt x="738485" y="169366"/>
                  <a:pt x="738336" y="208359"/>
                </a:cubicBezTo>
                <a:cubicBezTo>
                  <a:pt x="737592" y="355997"/>
                  <a:pt x="676870" y="626120"/>
                  <a:pt x="420439" y="748903"/>
                </a:cubicBezTo>
                <a:cubicBezTo>
                  <a:pt x="395585" y="760809"/>
                  <a:pt x="366713" y="760809"/>
                  <a:pt x="341858" y="748903"/>
                </a:cubicBezTo>
                <a:cubicBezTo>
                  <a:pt x="85279" y="626120"/>
                  <a:pt x="24705" y="355997"/>
                  <a:pt x="23961" y="208359"/>
                </a:cubicBezTo>
                <a:cubicBezTo>
                  <a:pt x="23812" y="169366"/>
                  <a:pt x="48220" y="137071"/>
                  <a:pt x="80962" y="123230"/>
                </a:cubicBezTo>
                <a:lnTo>
                  <a:pt x="361206" y="4316"/>
                </a:lnTo>
                <a:cubicBezTo>
                  <a:pt x="367457" y="1488"/>
                  <a:pt x="374154" y="0"/>
                  <a:pt x="381000" y="0"/>
                </a:cubicBezTo>
                <a:close/>
                <a:moveTo>
                  <a:pt x="381000" y="99417"/>
                </a:moveTo>
                <a:lnTo>
                  <a:pt x="381000" y="662136"/>
                </a:lnTo>
                <a:cubicBezTo>
                  <a:pt x="586383" y="562719"/>
                  <a:pt x="641598" y="342454"/>
                  <a:pt x="642938" y="210592"/>
                </a:cubicBezTo>
                <a:lnTo>
                  <a:pt x="381000" y="99566"/>
                </a:lnTo>
                <a:lnTo>
                  <a:pt x="381000" y="99566"/>
                </a:lnTo>
                <a:close/>
              </a:path>
            </a:pathLst>
          </a:custGeom>
          <a:solidFill>
            <a:srgbClr val="6052C8"/>
          </a:solidFill>
        </p:spPr>
      </p:sp>
      <p:sp>
        <p:nvSpPr>
          <p:cNvPr id="10" name="Text 5"/>
          <p:cNvSpPr/>
          <p:nvPr/>
        </p:nvSpPr>
        <p:spPr>
          <a:xfrm>
            <a:off x="7152283" y="3681413"/>
            <a:ext cx="3937000" cy="355600"/>
          </a:xfrm>
          <a:prstGeom prst="rect">
            <a:avLst/>
          </a:prstGeom>
          <a:noFill/>
        </p:spPr>
        <p:txBody>
          <a:bodyPr wrap="square" lIns="0" tIns="0" rIns="0" bIns="0" rtlCol="0" anchor="ctr"/>
          <a:lstStyle/>
          <a:p>
            <a:pPr marL="0" indent="0" algn="ctr">
              <a:lnSpc>
                <a:spcPct val="120000"/>
              </a:lnSpc>
              <a:buNone/>
            </a:pPr>
            <a:r>
              <a:rPr lang="en-US" sz="2000" dirty="0">
                <a:solidFill>
                  <a:srgbClr val="6052C8"/>
                </a:solidFill>
                <a:latin typeface="MiSans" pitchFamily="34" charset="-122"/>
                <a:ea typeface="MiSans" pitchFamily="34" charset="-122"/>
                <a:cs typeface="MiSans" pitchFamily="34" charset="-120"/>
              </a:rPr>
              <a:t>Xâm Phạm Quyền Riêng Tư</a:t>
            </a:r>
            <a:endParaRPr lang="en-US" sz="1600" dirty="0"/>
          </a:p>
        </p:txBody>
      </p:sp>
      <p:sp>
        <p:nvSpPr>
          <p:cNvPr id="11" name="Text 6"/>
          <p:cNvSpPr/>
          <p:nvPr/>
        </p:nvSpPr>
        <p:spPr>
          <a:xfrm>
            <a:off x="6299200" y="4138613"/>
            <a:ext cx="5638800" cy="584200"/>
          </a:xfrm>
          <a:prstGeom prst="rect">
            <a:avLst/>
          </a:prstGeom>
          <a:noFill/>
        </p:spPr>
        <p:txBody>
          <a:bodyPr wrap="square" lIns="0" tIns="0" rIns="0" bIns="0" rtlCol="0" anchor="ctr"/>
          <a:lstStyle/>
          <a:p>
            <a:pPr marL="0" indent="0" algn="ctr">
              <a:lnSpc>
                <a:spcPct val="140000"/>
              </a:lnSpc>
              <a:buNone/>
            </a:pPr>
            <a:r>
              <a:rPr lang="en-US" sz="1400" dirty="0">
                <a:solidFill>
                  <a:srgbClr val="34385E"/>
                </a:solidFill>
                <a:latin typeface="MiSans" pitchFamily="34" charset="-122"/>
                <a:ea typeface="MiSans" pitchFamily="34" charset="-122"/>
                <a:cs typeface="MiSans" pitchFamily="34" charset="-120"/>
              </a:rPr>
              <a:t>Dữ liệu cá nhân bị thu thập, bán cho bên thứ ba, dẫn tới spam, lừa đảo, đánh cắp danh tính, làm tổn hại tài sản của người dùng.</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D31E2"/>
        </a:solidFill>
        <a:effectLst/>
      </p:bgPr>
    </p:bg>
    <p:spTree>
      <p:nvGrpSpPr>
        <p:cNvPr id="1" name=""/>
        <p:cNvGrpSpPr/>
        <p:nvPr/>
      </p:nvGrpSpPr>
      <p:grpSpPr>
        <a:xfrm>
          <a:off x="0" y="0"/>
          <a:ext cx="0" cy="0"/>
          <a:chOff x="0" y="0"/>
          <a:chExt cx="0" cy="0"/>
        </a:xfrm>
      </p:grpSpPr>
      <p:pic>
        <p:nvPicPr>
          <p:cNvPr id="2" name="Image 0" descr="https://kimi-img.moonshot.cn/pub/slides/slides_tmpl/image/25-08-27-20:07:28-d2nfa018bjvh7rlj0eug.jpg"/>
          <p:cNvPicPr>
            <a:picLocks noChangeAspect="1"/>
          </p:cNvPicPr>
          <p:nvPr/>
        </p:nvPicPr>
        <p:blipFill>
          <a:blip r:embed="rId1"/>
          <a:stretch>
            <a:fillRect/>
          </a:stretch>
        </p:blipFill>
        <p:spPr>
          <a:xfrm>
            <a:off x="0" y="0"/>
            <a:ext cx="12192635" cy="6858000"/>
          </a:xfrm>
          <a:prstGeom prst="rect">
            <a:avLst/>
          </a:prstGeom>
        </p:spPr>
      </p:pic>
      <p:sp>
        <p:nvSpPr>
          <p:cNvPr id="3" name="Text 0"/>
          <p:cNvSpPr/>
          <p:nvPr/>
        </p:nvSpPr>
        <p:spPr>
          <a:xfrm>
            <a:off x="423545" y="3815080"/>
            <a:ext cx="5547360" cy="492125"/>
          </a:xfrm>
          <a:prstGeom prst="rect">
            <a:avLst/>
          </a:prstGeom>
          <a:noFill/>
        </p:spPr>
        <p:txBody>
          <a:bodyPr wrap="square" lIns="0" tIns="0" rIns="0" bIns="0" rtlCol="0" anchor="t">
            <a:spAutoFit/>
          </a:bodyPr>
          <a:lstStyle/>
          <a:p>
            <a:pPr marL="0" indent="0" algn="ctr">
              <a:lnSpc>
                <a:spcPct val="100000"/>
              </a:lnSpc>
              <a:buNone/>
            </a:pPr>
            <a:r>
              <a:rPr lang="en-US" sz="3200" dirty="0">
                <a:solidFill>
                  <a:srgbClr val="1D31E2"/>
                </a:solidFill>
                <a:latin typeface="MiSans" pitchFamily="34" charset="-122"/>
                <a:ea typeface="MiSans" pitchFamily="34" charset="-122"/>
                <a:cs typeface="MiSans" pitchFamily="34" charset="-120"/>
              </a:rPr>
              <a:t>Cách khắc phục</a:t>
            </a:r>
            <a:endParaRPr lang="en-US" sz="1600" dirty="0"/>
          </a:p>
        </p:txBody>
      </p:sp>
      <p:pic>
        <p:nvPicPr>
          <p:cNvPr id="4" name="Image 1" descr="https://kimi-img.moonshot.cn/pub/slides/slides_tmpl/image/25-08-27-20:07:28-d2nfa018bjvh7rlj0f60.png"/>
          <p:cNvPicPr>
            <a:picLocks noChangeAspect="1"/>
          </p:cNvPicPr>
          <p:nvPr/>
        </p:nvPicPr>
        <p:blipFill>
          <a:blip r:embed="rId2">
            <a:alphaModFix amt="23000"/>
          </a:blip>
          <a:stretch>
            <a:fillRect/>
          </a:stretch>
        </p:blipFill>
        <p:spPr>
          <a:xfrm rot="5400000" flipH="1">
            <a:off x="8475980" y="2972435"/>
            <a:ext cx="1301115" cy="976630"/>
          </a:xfrm>
          <a:prstGeom prst="rect">
            <a:avLst/>
          </a:prstGeom>
        </p:spPr>
      </p:pic>
      <p:sp>
        <p:nvSpPr>
          <p:cNvPr id="5" name="Shape 1"/>
          <p:cNvSpPr/>
          <p:nvPr/>
        </p:nvSpPr>
        <p:spPr>
          <a:xfrm>
            <a:off x="1874550" y="1562096"/>
            <a:ext cx="2284095" cy="2335530"/>
          </a:xfrm>
          <a:prstGeom prst="rect">
            <a:avLst/>
          </a:prstGeom>
          <a:solidFill>
            <a:srgbClr val="000000">
              <a:alpha val="0"/>
            </a:srgbClr>
          </a:solidFill>
        </p:spPr>
      </p:sp>
      <p:sp>
        <p:nvSpPr>
          <p:cNvPr id="6" name="Text 2"/>
          <p:cNvSpPr/>
          <p:nvPr/>
        </p:nvSpPr>
        <p:spPr>
          <a:xfrm>
            <a:off x="1874550" y="1562096"/>
            <a:ext cx="2284095" cy="2335530"/>
          </a:xfrm>
          <a:prstGeom prst="rect">
            <a:avLst/>
          </a:prstGeom>
          <a:noFill/>
        </p:spPr>
        <p:txBody>
          <a:bodyPr wrap="square" lIns="0" tIns="0" rIns="0" bIns="0" rtlCol="0" anchor="t"/>
          <a:lstStyle/>
          <a:p>
            <a:pPr marL="0" indent="0" algn="ctr">
              <a:lnSpc>
                <a:spcPct val="110000"/>
              </a:lnSpc>
              <a:buNone/>
            </a:pPr>
            <a:r>
              <a:rPr lang="en-US" sz="13800" dirty="0">
                <a:solidFill>
                  <a:srgbClr val="1D31E2"/>
                </a:solidFill>
                <a:latin typeface="MiSans" pitchFamily="34" charset="-122"/>
                <a:ea typeface="MiSans" pitchFamily="34" charset="-122"/>
                <a:cs typeface="MiSans" pitchFamily="34" charset="-120"/>
              </a:rPr>
              <a:t>05</a:t>
            </a:r>
            <a:endParaRPr lang="en-US" sz="1600" dirty="0"/>
          </a:p>
        </p:txBody>
      </p:sp>
      <p:pic>
        <p:nvPicPr>
          <p:cNvPr id="7" name="Image 2" descr="https://kimi-img.moonshot.cn/pub/slides/slides_tmpl/image/25-08-27-20:07:28-d2nfa018bjvh7rlj0f70.png"/>
          <p:cNvPicPr>
            <a:picLocks noChangeAspect="1"/>
          </p:cNvPicPr>
          <p:nvPr/>
        </p:nvPicPr>
        <p:blipFill>
          <a:blip r:embed="rId3"/>
          <a:stretch>
            <a:fillRect/>
          </a:stretch>
        </p:blipFill>
        <p:spPr>
          <a:xfrm>
            <a:off x="6001385" y="1950085"/>
            <a:ext cx="4074795" cy="3778250"/>
          </a:xfrm>
          <a:prstGeom prst="rect">
            <a:avLst/>
          </a:prstGeom>
        </p:spPr>
      </p:pic>
      <p:pic>
        <p:nvPicPr>
          <p:cNvPr id="8" name="Image 3" descr="https://kimi-img.moonshot.cn/pub/slides/slides_tmpl/image/25-08-27-20:07:28-d2nfa018bjvh7rlj0eu0.png"/>
          <p:cNvPicPr>
            <a:picLocks noChangeAspect="1"/>
          </p:cNvPicPr>
          <p:nvPr/>
        </p:nvPicPr>
        <p:blipFill>
          <a:blip r:embed="rId4"/>
          <a:stretch>
            <a:fillRect/>
          </a:stretch>
        </p:blipFill>
        <p:spPr>
          <a:xfrm>
            <a:off x="10076180" y="0"/>
            <a:ext cx="2116455" cy="2286000"/>
          </a:xfrm>
          <a:prstGeom prst="rect">
            <a:avLst/>
          </a:prstGeom>
        </p:spPr>
      </p:pic>
      <p:pic>
        <p:nvPicPr>
          <p:cNvPr id="9" name="Image 4" descr="https://kimi-img.moonshot.cn/pub/slides/slides_tmpl/image/25-08-27-20:07:28-d2nfa018bjvh7rlj0et0.png"/>
          <p:cNvPicPr>
            <a:picLocks noChangeAspect="1"/>
          </p:cNvPicPr>
          <p:nvPr/>
        </p:nvPicPr>
        <p:blipFill>
          <a:blip r:embed="rId5"/>
          <a:stretch>
            <a:fillRect/>
          </a:stretch>
        </p:blipFill>
        <p:spPr>
          <a:xfrm>
            <a:off x="0" y="5530850"/>
            <a:ext cx="1684020" cy="132715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08-27-20:07:28-d2nfa018bjvh7rlj0eug.jpg"/>
          <p:cNvPicPr>
            <a:picLocks noChangeAspect="1"/>
          </p:cNvPicPr>
          <p:nvPr/>
        </p:nvPicPr>
        <p:blipFill>
          <a:blip r:embed="rId1"/>
          <a:stretch>
            <a:fillRect/>
          </a:stretch>
        </p:blipFill>
        <p:spPr>
          <a:xfrm>
            <a:off x="0" y="0"/>
            <a:ext cx="12233275" cy="6881495"/>
          </a:xfrm>
          <a:prstGeom prst="rect">
            <a:avLst/>
          </a:prstGeom>
        </p:spPr>
      </p:pic>
      <p:pic>
        <p:nvPicPr>
          <p:cNvPr id="3" name="Image 1" descr="https://kimi-img.moonshot.cn/pub/slides/slides_tmpl/image/25-08-27-20:07:28-d2nfa018bjvh7rlj0et0.png"/>
          <p:cNvPicPr>
            <a:picLocks noChangeAspect="1"/>
          </p:cNvPicPr>
          <p:nvPr/>
        </p:nvPicPr>
        <p:blipFill>
          <a:blip r:embed="rId2"/>
          <a:stretch>
            <a:fillRect/>
          </a:stretch>
        </p:blipFill>
        <p:spPr>
          <a:xfrm>
            <a:off x="0" y="5530850"/>
            <a:ext cx="1684020" cy="1327150"/>
          </a:xfrm>
          <a:prstGeom prst="rect">
            <a:avLst/>
          </a:prstGeom>
        </p:spPr>
      </p:pic>
      <p:pic>
        <p:nvPicPr>
          <p:cNvPr id="4" name="Image 2" descr="https://kimi-img.moonshot.cn/pub/slides/slides_tmpl/image/25-08-27-20:07:28-d2nfa018bjvh7rlj0eu0.png"/>
          <p:cNvPicPr>
            <a:picLocks noChangeAspect="1"/>
          </p:cNvPicPr>
          <p:nvPr/>
        </p:nvPicPr>
        <p:blipFill>
          <a:blip r:embed="rId3"/>
          <a:stretch>
            <a:fillRect/>
          </a:stretch>
        </p:blipFill>
        <p:spPr>
          <a:xfrm>
            <a:off x="10076180" y="0"/>
            <a:ext cx="2116455" cy="2286000"/>
          </a:xfrm>
          <a:prstGeom prst="rect">
            <a:avLst/>
          </a:prstGeom>
        </p:spPr>
      </p:pic>
      <p:sp>
        <p:nvSpPr>
          <p:cNvPr id="5" name="Text 0"/>
          <p:cNvSpPr/>
          <p:nvPr/>
        </p:nvSpPr>
        <p:spPr>
          <a:xfrm>
            <a:off x="254000" y="1701800"/>
            <a:ext cx="5638800" cy="914400"/>
          </a:xfrm>
          <a:prstGeom prst="rect">
            <a:avLst/>
          </a:prstGeom>
          <a:noFill/>
        </p:spPr>
        <p:txBody>
          <a:bodyPr wrap="square" lIns="0" tIns="0" rIns="0" bIns="0" rtlCol="0" anchor="ctr"/>
          <a:lstStyle/>
          <a:p>
            <a:pPr marL="0" indent="0">
              <a:lnSpc>
                <a:spcPct val="100000"/>
              </a:lnSpc>
              <a:buNone/>
            </a:pPr>
            <a:r>
              <a:rPr lang="en-US" sz="3000" dirty="0">
                <a:solidFill>
                  <a:srgbClr val="3341B8"/>
                </a:solidFill>
                <a:latin typeface="MiSans" pitchFamily="34" charset="-122"/>
                <a:ea typeface="MiSans" pitchFamily="34" charset="-122"/>
                <a:cs typeface="MiSans" pitchFamily="34" charset="-120"/>
              </a:rPr>
              <a:t>Thói Quen Sử Dụng Lành Mạnh</a:t>
            </a:r>
            <a:endParaRPr lang="en-US" sz="1600" dirty="0"/>
          </a:p>
        </p:txBody>
      </p:sp>
      <p:sp>
        <p:nvSpPr>
          <p:cNvPr id="6" name="Shape 1"/>
          <p:cNvSpPr/>
          <p:nvPr/>
        </p:nvSpPr>
        <p:spPr>
          <a:xfrm>
            <a:off x="254000" y="2921000"/>
            <a:ext cx="406400" cy="406400"/>
          </a:xfrm>
          <a:custGeom>
            <a:avLst/>
            <a:gdLst/>
            <a:ahLst/>
            <a:cxnLst/>
            <a:rect l="l" t="t" r="r" b="b"/>
            <a:pathLst>
              <a:path w="406400" h="406400">
                <a:moveTo>
                  <a:pt x="203200" y="0"/>
                </a:moveTo>
                <a:lnTo>
                  <a:pt x="203200" y="0"/>
                </a:lnTo>
                <a:cubicBezTo>
                  <a:pt x="315349" y="0"/>
                  <a:pt x="406400" y="91051"/>
                  <a:pt x="406400" y="203200"/>
                </a:cubicBezTo>
                <a:lnTo>
                  <a:pt x="406400" y="203200"/>
                </a:lnTo>
                <a:cubicBezTo>
                  <a:pt x="406400" y="315349"/>
                  <a:pt x="315349" y="406400"/>
                  <a:pt x="203200" y="406400"/>
                </a:cubicBezTo>
                <a:lnTo>
                  <a:pt x="203200" y="406400"/>
                </a:lnTo>
                <a:cubicBezTo>
                  <a:pt x="91051" y="406400"/>
                  <a:pt x="0" y="315349"/>
                  <a:pt x="0" y="203200"/>
                </a:cubicBezTo>
                <a:lnTo>
                  <a:pt x="0" y="203200"/>
                </a:lnTo>
                <a:cubicBezTo>
                  <a:pt x="0" y="91051"/>
                  <a:pt x="91051" y="0"/>
                  <a:pt x="203200" y="0"/>
                </a:cubicBezTo>
                <a:close/>
              </a:path>
            </a:pathLst>
          </a:custGeom>
          <a:solidFill>
            <a:srgbClr val="4D5EFF"/>
          </a:solidFill>
        </p:spPr>
      </p:sp>
      <p:sp>
        <p:nvSpPr>
          <p:cNvPr id="7" name="Text 2"/>
          <p:cNvSpPr/>
          <p:nvPr/>
        </p:nvSpPr>
        <p:spPr>
          <a:xfrm>
            <a:off x="0" y="2921000"/>
            <a:ext cx="914400" cy="406400"/>
          </a:xfrm>
          <a:prstGeom prst="rect">
            <a:avLst/>
          </a:prstGeom>
          <a:noFill/>
        </p:spPr>
        <p:txBody>
          <a:bodyPr wrap="square" lIns="0" tIns="0" rIns="0" bIns="0" rtlCol="0" anchor="ctr"/>
          <a:lstStyle/>
          <a:p>
            <a:pPr marL="0" indent="0" algn="ctr">
              <a:lnSpc>
                <a:spcPct val="130000"/>
              </a:lnSpc>
              <a:buNone/>
            </a:pPr>
            <a:r>
              <a:rPr lang="en-US" sz="1600" dirty="0">
                <a:solidFill>
                  <a:srgbClr val="FFFFFF"/>
                </a:solidFill>
                <a:latin typeface="MiSans" pitchFamily="34" charset="-122"/>
                <a:ea typeface="MiSans" pitchFamily="34" charset="-122"/>
                <a:cs typeface="MiSans" pitchFamily="34" charset="-120"/>
              </a:rPr>
              <a:t>1</a:t>
            </a:r>
            <a:endParaRPr lang="en-US" sz="1600" dirty="0"/>
          </a:p>
        </p:txBody>
      </p:sp>
      <p:sp>
        <p:nvSpPr>
          <p:cNvPr id="8" name="Text 3"/>
          <p:cNvSpPr/>
          <p:nvPr/>
        </p:nvSpPr>
        <p:spPr>
          <a:xfrm>
            <a:off x="812800" y="2921000"/>
            <a:ext cx="4483100" cy="304800"/>
          </a:xfrm>
          <a:prstGeom prst="rect">
            <a:avLst/>
          </a:prstGeom>
          <a:noFill/>
        </p:spPr>
        <p:txBody>
          <a:bodyPr wrap="square" lIns="0" tIns="0" rIns="0" bIns="0" rtlCol="0" anchor="ctr"/>
          <a:lstStyle/>
          <a:p>
            <a:pPr marL="0" indent="0">
              <a:lnSpc>
                <a:spcPct val="130000"/>
              </a:lnSpc>
              <a:buNone/>
            </a:pPr>
            <a:r>
              <a:rPr lang="en-US" sz="1600" dirty="0">
                <a:solidFill>
                  <a:srgbClr val="34385E"/>
                </a:solidFill>
                <a:latin typeface="MiSans" pitchFamily="34" charset="-122"/>
                <a:ea typeface="MiSans" pitchFamily="34" charset="-122"/>
                <a:cs typeface="MiSans" pitchFamily="34" charset="-120"/>
              </a:rPr>
              <a:t>Đặt giới hạn thời gian </a:t>
            </a:r>
            <a:r>
              <a:rPr lang="en-US" sz="1600" dirty="0">
                <a:solidFill>
                  <a:srgbClr val="34385E"/>
                </a:solidFill>
                <a:latin typeface="MiSans" pitchFamily="34" charset="-122"/>
                <a:ea typeface="MiSans" pitchFamily="34" charset="-122"/>
                <a:cs typeface="MiSans" pitchFamily="34" charset="-120"/>
              </a:rPr>
              <a:t>30 phút</a:t>
            </a:r>
            <a:r>
              <a:rPr lang="en-US" sz="1600" dirty="0">
                <a:solidFill>
                  <a:srgbClr val="34385E"/>
                </a:solidFill>
                <a:latin typeface="MiSans" pitchFamily="34" charset="-122"/>
                <a:ea typeface="MiSans" pitchFamily="34" charset="-122"/>
                <a:cs typeface="MiSans" pitchFamily="34" charset="-120"/>
              </a:rPr>
              <a:t> mỗi lần sử dụng.</a:t>
            </a:r>
            <a:endParaRPr lang="en-US" sz="1600" dirty="0"/>
          </a:p>
        </p:txBody>
      </p:sp>
      <p:sp>
        <p:nvSpPr>
          <p:cNvPr id="9" name="Shape 4"/>
          <p:cNvSpPr/>
          <p:nvPr/>
        </p:nvSpPr>
        <p:spPr>
          <a:xfrm>
            <a:off x="254000" y="3530600"/>
            <a:ext cx="406400" cy="406400"/>
          </a:xfrm>
          <a:custGeom>
            <a:avLst/>
            <a:gdLst/>
            <a:ahLst/>
            <a:cxnLst/>
            <a:rect l="l" t="t" r="r" b="b"/>
            <a:pathLst>
              <a:path w="406400" h="406400">
                <a:moveTo>
                  <a:pt x="203200" y="0"/>
                </a:moveTo>
                <a:lnTo>
                  <a:pt x="203200" y="0"/>
                </a:lnTo>
                <a:cubicBezTo>
                  <a:pt x="315349" y="0"/>
                  <a:pt x="406400" y="91051"/>
                  <a:pt x="406400" y="203200"/>
                </a:cubicBezTo>
                <a:lnTo>
                  <a:pt x="406400" y="203200"/>
                </a:lnTo>
                <a:cubicBezTo>
                  <a:pt x="406400" y="315349"/>
                  <a:pt x="315349" y="406400"/>
                  <a:pt x="203200" y="406400"/>
                </a:cubicBezTo>
                <a:lnTo>
                  <a:pt x="203200" y="406400"/>
                </a:lnTo>
                <a:cubicBezTo>
                  <a:pt x="91051" y="406400"/>
                  <a:pt x="0" y="315349"/>
                  <a:pt x="0" y="203200"/>
                </a:cubicBezTo>
                <a:lnTo>
                  <a:pt x="0" y="203200"/>
                </a:lnTo>
                <a:cubicBezTo>
                  <a:pt x="0" y="91051"/>
                  <a:pt x="91051" y="0"/>
                  <a:pt x="203200" y="0"/>
                </a:cubicBezTo>
                <a:close/>
              </a:path>
            </a:pathLst>
          </a:custGeom>
          <a:solidFill>
            <a:srgbClr val="4D5EFF"/>
          </a:solidFill>
        </p:spPr>
      </p:sp>
      <p:sp>
        <p:nvSpPr>
          <p:cNvPr id="10" name="Text 5"/>
          <p:cNvSpPr/>
          <p:nvPr/>
        </p:nvSpPr>
        <p:spPr>
          <a:xfrm>
            <a:off x="0" y="3530600"/>
            <a:ext cx="914400" cy="406400"/>
          </a:xfrm>
          <a:prstGeom prst="rect">
            <a:avLst/>
          </a:prstGeom>
          <a:noFill/>
        </p:spPr>
        <p:txBody>
          <a:bodyPr wrap="square" lIns="0" tIns="0" rIns="0" bIns="0" rtlCol="0" anchor="ctr"/>
          <a:lstStyle/>
          <a:p>
            <a:pPr marL="0" indent="0" algn="ctr">
              <a:lnSpc>
                <a:spcPct val="130000"/>
              </a:lnSpc>
              <a:buNone/>
            </a:pPr>
            <a:r>
              <a:rPr lang="en-US" sz="1600" dirty="0">
                <a:solidFill>
                  <a:srgbClr val="FFFFFF"/>
                </a:solidFill>
                <a:latin typeface="MiSans" pitchFamily="34" charset="-122"/>
                <a:ea typeface="MiSans" pitchFamily="34" charset="-122"/>
                <a:cs typeface="MiSans" pitchFamily="34" charset="-120"/>
              </a:rPr>
              <a:t>2</a:t>
            </a:r>
            <a:endParaRPr lang="en-US" sz="1600" dirty="0"/>
          </a:p>
        </p:txBody>
      </p:sp>
      <p:sp>
        <p:nvSpPr>
          <p:cNvPr id="11" name="Text 6"/>
          <p:cNvSpPr/>
          <p:nvPr/>
        </p:nvSpPr>
        <p:spPr>
          <a:xfrm>
            <a:off x="812800" y="3530600"/>
            <a:ext cx="5549900" cy="304800"/>
          </a:xfrm>
          <a:prstGeom prst="rect">
            <a:avLst/>
          </a:prstGeom>
          <a:noFill/>
        </p:spPr>
        <p:txBody>
          <a:bodyPr wrap="square" lIns="0" tIns="0" rIns="0" bIns="0" rtlCol="0" anchor="ctr"/>
          <a:lstStyle/>
          <a:p>
            <a:pPr marL="0" indent="0">
              <a:lnSpc>
                <a:spcPct val="130000"/>
              </a:lnSpc>
              <a:buNone/>
            </a:pPr>
            <a:r>
              <a:rPr lang="en-US" sz="1600" dirty="0">
                <a:solidFill>
                  <a:srgbClr val="34385E"/>
                </a:solidFill>
                <a:latin typeface="MiSans" pitchFamily="34" charset="-122"/>
                <a:ea typeface="MiSans" pitchFamily="34" charset="-122"/>
                <a:cs typeface="MiSans" pitchFamily="34" charset="-120"/>
              </a:rPr>
              <a:t>Tắt thông báo không cần thiết để tránh bị phân tâm.</a:t>
            </a:r>
            <a:endParaRPr lang="en-US" sz="1600" dirty="0"/>
          </a:p>
        </p:txBody>
      </p:sp>
      <p:sp>
        <p:nvSpPr>
          <p:cNvPr id="12" name="Shape 7"/>
          <p:cNvSpPr/>
          <p:nvPr/>
        </p:nvSpPr>
        <p:spPr>
          <a:xfrm>
            <a:off x="254000" y="4140200"/>
            <a:ext cx="406400" cy="406400"/>
          </a:xfrm>
          <a:custGeom>
            <a:avLst/>
            <a:gdLst/>
            <a:ahLst/>
            <a:cxnLst/>
            <a:rect l="l" t="t" r="r" b="b"/>
            <a:pathLst>
              <a:path w="406400" h="406400">
                <a:moveTo>
                  <a:pt x="203200" y="0"/>
                </a:moveTo>
                <a:lnTo>
                  <a:pt x="203200" y="0"/>
                </a:lnTo>
                <a:cubicBezTo>
                  <a:pt x="315349" y="0"/>
                  <a:pt x="406400" y="91051"/>
                  <a:pt x="406400" y="203200"/>
                </a:cubicBezTo>
                <a:lnTo>
                  <a:pt x="406400" y="203200"/>
                </a:lnTo>
                <a:cubicBezTo>
                  <a:pt x="406400" y="315349"/>
                  <a:pt x="315349" y="406400"/>
                  <a:pt x="203200" y="406400"/>
                </a:cubicBezTo>
                <a:lnTo>
                  <a:pt x="203200" y="406400"/>
                </a:lnTo>
                <a:cubicBezTo>
                  <a:pt x="91051" y="406400"/>
                  <a:pt x="0" y="315349"/>
                  <a:pt x="0" y="203200"/>
                </a:cubicBezTo>
                <a:lnTo>
                  <a:pt x="0" y="203200"/>
                </a:lnTo>
                <a:cubicBezTo>
                  <a:pt x="0" y="91051"/>
                  <a:pt x="91051" y="0"/>
                  <a:pt x="203200" y="0"/>
                </a:cubicBezTo>
                <a:close/>
              </a:path>
            </a:pathLst>
          </a:custGeom>
          <a:solidFill>
            <a:srgbClr val="4D5EFF"/>
          </a:solidFill>
        </p:spPr>
      </p:sp>
      <p:sp>
        <p:nvSpPr>
          <p:cNvPr id="13" name="Text 8"/>
          <p:cNvSpPr/>
          <p:nvPr/>
        </p:nvSpPr>
        <p:spPr>
          <a:xfrm>
            <a:off x="0" y="4140200"/>
            <a:ext cx="914400" cy="406400"/>
          </a:xfrm>
          <a:prstGeom prst="rect">
            <a:avLst/>
          </a:prstGeom>
          <a:noFill/>
        </p:spPr>
        <p:txBody>
          <a:bodyPr wrap="square" lIns="0" tIns="0" rIns="0" bIns="0" rtlCol="0" anchor="ctr"/>
          <a:lstStyle/>
          <a:p>
            <a:pPr marL="0" indent="0" algn="ctr">
              <a:lnSpc>
                <a:spcPct val="130000"/>
              </a:lnSpc>
              <a:buNone/>
            </a:pPr>
            <a:r>
              <a:rPr lang="en-US" sz="1600" dirty="0">
                <a:solidFill>
                  <a:srgbClr val="FFFFFF"/>
                </a:solidFill>
                <a:latin typeface="MiSans" pitchFamily="34" charset="-122"/>
                <a:ea typeface="MiSans" pitchFamily="34" charset="-122"/>
                <a:cs typeface="MiSans" pitchFamily="34" charset="-120"/>
              </a:rPr>
              <a:t>3</a:t>
            </a:r>
            <a:endParaRPr lang="en-US" sz="1600" dirty="0"/>
          </a:p>
        </p:txBody>
      </p:sp>
      <p:sp>
        <p:nvSpPr>
          <p:cNvPr id="14" name="Text 9"/>
          <p:cNvSpPr/>
          <p:nvPr/>
        </p:nvSpPr>
        <p:spPr>
          <a:xfrm>
            <a:off x="812800" y="4140200"/>
            <a:ext cx="3746500" cy="304800"/>
          </a:xfrm>
          <a:prstGeom prst="rect">
            <a:avLst/>
          </a:prstGeom>
          <a:noFill/>
        </p:spPr>
        <p:txBody>
          <a:bodyPr wrap="square" lIns="0" tIns="0" rIns="0" bIns="0" rtlCol="0" anchor="ctr"/>
          <a:lstStyle/>
          <a:p>
            <a:pPr marL="0" indent="0">
              <a:lnSpc>
                <a:spcPct val="130000"/>
              </a:lnSpc>
              <a:buNone/>
            </a:pPr>
            <a:r>
              <a:rPr lang="en-US" sz="1600" dirty="0">
                <a:solidFill>
                  <a:srgbClr val="34385E"/>
                </a:solidFill>
                <a:latin typeface="MiSans" pitchFamily="34" charset="-122"/>
                <a:ea typeface="MiSans" pitchFamily="34" charset="-122"/>
                <a:cs typeface="MiSans" pitchFamily="34" charset="-120"/>
              </a:rPr>
              <a:t>Lên lịch </a:t>
            </a:r>
            <a:r>
              <a:rPr lang="en-US" sz="1600" dirty="0">
                <a:solidFill>
                  <a:srgbClr val="34385E"/>
                </a:solidFill>
                <a:latin typeface="MiSans" pitchFamily="34" charset="-122"/>
                <a:ea typeface="MiSans" pitchFamily="34" charset="-122"/>
                <a:cs typeface="MiSans" pitchFamily="34" charset="-120"/>
              </a:rPr>
              <a:t>"nghỉ mạng"</a:t>
            </a:r>
            <a:r>
              <a:rPr lang="en-US" sz="1600" dirty="0">
                <a:solidFill>
                  <a:srgbClr val="34385E"/>
                </a:solidFill>
                <a:latin typeface="MiSans" pitchFamily="34" charset="-122"/>
                <a:ea typeface="MiSans" pitchFamily="34" charset="-122"/>
                <a:cs typeface="MiSans" pitchFamily="34" charset="-120"/>
              </a:rPr>
              <a:t> 1 ngày mỗi tuần.</a:t>
            </a:r>
            <a:endParaRPr lang="en-US" sz="1600" dirty="0"/>
          </a:p>
        </p:txBody>
      </p:sp>
      <p:sp>
        <p:nvSpPr>
          <p:cNvPr id="15" name="Shape 10"/>
          <p:cNvSpPr/>
          <p:nvPr/>
        </p:nvSpPr>
        <p:spPr>
          <a:xfrm>
            <a:off x="254000" y="4749800"/>
            <a:ext cx="406400" cy="406400"/>
          </a:xfrm>
          <a:custGeom>
            <a:avLst/>
            <a:gdLst/>
            <a:ahLst/>
            <a:cxnLst/>
            <a:rect l="l" t="t" r="r" b="b"/>
            <a:pathLst>
              <a:path w="406400" h="406400">
                <a:moveTo>
                  <a:pt x="203200" y="0"/>
                </a:moveTo>
                <a:lnTo>
                  <a:pt x="203200" y="0"/>
                </a:lnTo>
                <a:cubicBezTo>
                  <a:pt x="315349" y="0"/>
                  <a:pt x="406400" y="91051"/>
                  <a:pt x="406400" y="203200"/>
                </a:cubicBezTo>
                <a:lnTo>
                  <a:pt x="406400" y="203200"/>
                </a:lnTo>
                <a:cubicBezTo>
                  <a:pt x="406400" y="315349"/>
                  <a:pt x="315349" y="406400"/>
                  <a:pt x="203200" y="406400"/>
                </a:cubicBezTo>
                <a:lnTo>
                  <a:pt x="203200" y="406400"/>
                </a:lnTo>
                <a:cubicBezTo>
                  <a:pt x="91051" y="406400"/>
                  <a:pt x="0" y="315349"/>
                  <a:pt x="0" y="203200"/>
                </a:cubicBezTo>
                <a:lnTo>
                  <a:pt x="0" y="203200"/>
                </a:lnTo>
                <a:cubicBezTo>
                  <a:pt x="0" y="91051"/>
                  <a:pt x="91051" y="0"/>
                  <a:pt x="203200" y="0"/>
                </a:cubicBezTo>
                <a:close/>
              </a:path>
            </a:pathLst>
          </a:custGeom>
          <a:solidFill>
            <a:srgbClr val="4D5EFF"/>
          </a:solidFill>
        </p:spPr>
      </p:sp>
      <p:sp>
        <p:nvSpPr>
          <p:cNvPr id="16" name="Text 11"/>
          <p:cNvSpPr/>
          <p:nvPr/>
        </p:nvSpPr>
        <p:spPr>
          <a:xfrm>
            <a:off x="0" y="4749800"/>
            <a:ext cx="914400" cy="406400"/>
          </a:xfrm>
          <a:prstGeom prst="rect">
            <a:avLst/>
          </a:prstGeom>
          <a:noFill/>
        </p:spPr>
        <p:txBody>
          <a:bodyPr wrap="square" lIns="0" tIns="0" rIns="0" bIns="0" rtlCol="0" anchor="ctr"/>
          <a:lstStyle/>
          <a:p>
            <a:pPr marL="0" indent="0" algn="ctr">
              <a:lnSpc>
                <a:spcPct val="130000"/>
              </a:lnSpc>
              <a:buNone/>
            </a:pPr>
            <a:r>
              <a:rPr lang="en-US" sz="1600" dirty="0">
                <a:solidFill>
                  <a:srgbClr val="FFFFFF"/>
                </a:solidFill>
                <a:latin typeface="MiSans" pitchFamily="34" charset="-122"/>
                <a:ea typeface="MiSans" pitchFamily="34" charset="-122"/>
                <a:cs typeface="MiSans" pitchFamily="34" charset="-120"/>
              </a:rPr>
              <a:t>4</a:t>
            </a:r>
            <a:endParaRPr lang="en-US" sz="1600" dirty="0"/>
          </a:p>
        </p:txBody>
      </p:sp>
      <p:sp>
        <p:nvSpPr>
          <p:cNvPr id="17" name="Text 12"/>
          <p:cNvSpPr/>
          <p:nvPr/>
        </p:nvSpPr>
        <p:spPr>
          <a:xfrm>
            <a:off x="812800" y="4749800"/>
            <a:ext cx="5524500" cy="304800"/>
          </a:xfrm>
          <a:prstGeom prst="rect">
            <a:avLst/>
          </a:prstGeom>
          <a:noFill/>
        </p:spPr>
        <p:txBody>
          <a:bodyPr wrap="square" lIns="0" tIns="0" rIns="0" bIns="0" rtlCol="0" anchor="ctr"/>
          <a:lstStyle/>
          <a:p>
            <a:pPr marL="0" indent="0">
              <a:lnSpc>
                <a:spcPct val="130000"/>
              </a:lnSpc>
              <a:buNone/>
            </a:pPr>
            <a:r>
              <a:rPr lang="en-US" sz="1600" dirty="0">
                <a:solidFill>
                  <a:srgbClr val="34385E"/>
                </a:solidFill>
                <a:latin typeface="MiSans" pitchFamily="34" charset="-122"/>
                <a:ea typeface="MiSans" pitchFamily="34" charset="-122"/>
                <a:cs typeface="MiSans" pitchFamily="34" charset="-120"/>
              </a:rPr>
              <a:t>Duy trì sở thích ngoài trời, đọc sách, gặp gỡ trực tiếp.</a:t>
            </a:r>
            <a:endParaRPr lang="en-US" sz="1600" dirty="0"/>
          </a:p>
        </p:txBody>
      </p:sp>
      <p:pic>
        <p:nvPicPr>
          <p:cNvPr id="18" name="Image 3" descr="https://kimi-web-img.moonshot.cn/img/cdn.pixabay.com/0474bab99131a30427af957cd2933cf8eec2e1f4.jpg"/>
          <p:cNvPicPr>
            <a:picLocks noChangeAspect="1"/>
          </p:cNvPicPr>
          <p:nvPr/>
        </p:nvPicPr>
        <p:blipFill>
          <a:blip r:embed="rId4"/>
          <a:srcRect l="5600" r="5600"/>
          <a:stretch>
            <a:fillRect/>
          </a:stretch>
        </p:blipFill>
        <p:spPr>
          <a:xfrm>
            <a:off x="6299200" y="254000"/>
            <a:ext cx="5638800" cy="6350000"/>
          </a:xfrm>
          <a:prstGeom prst="roundRect">
            <a:avLst>
              <a:gd name="adj" fmla="val 1802"/>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08-27-20:07:28-d2nfa018bjvh7rlj0eug.jpg"/>
          <p:cNvPicPr>
            <a:picLocks noChangeAspect="1"/>
          </p:cNvPicPr>
          <p:nvPr/>
        </p:nvPicPr>
        <p:blipFill>
          <a:blip r:embed="rId1"/>
          <a:stretch>
            <a:fillRect/>
          </a:stretch>
        </p:blipFill>
        <p:spPr>
          <a:xfrm>
            <a:off x="0" y="0"/>
            <a:ext cx="12233275" cy="6881495"/>
          </a:xfrm>
          <a:prstGeom prst="rect">
            <a:avLst/>
          </a:prstGeom>
        </p:spPr>
      </p:pic>
      <p:pic>
        <p:nvPicPr>
          <p:cNvPr id="3" name="Image 1" descr="https://kimi-img.moonshot.cn/pub/slides/slides_tmpl/image/25-08-27-20:07:28-d2nfa018bjvh7rlj0et0.png"/>
          <p:cNvPicPr>
            <a:picLocks noChangeAspect="1"/>
          </p:cNvPicPr>
          <p:nvPr/>
        </p:nvPicPr>
        <p:blipFill>
          <a:blip r:embed="rId2"/>
          <a:stretch>
            <a:fillRect/>
          </a:stretch>
        </p:blipFill>
        <p:spPr>
          <a:xfrm>
            <a:off x="0" y="5530850"/>
            <a:ext cx="1684020" cy="1327150"/>
          </a:xfrm>
          <a:prstGeom prst="rect">
            <a:avLst/>
          </a:prstGeom>
        </p:spPr>
      </p:pic>
      <p:pic>
        <p:nvPicPr>
          <p:cNvPr id="4" name="Image 2" descr="https://kimi-img.moonshot.cn/pub/slides/slides_tmpl/image/25-08-27-20:07:28-d2nfa018bjvh7rlj0eu0.png"/>
          <p:cNvPicPr>
            <a:picLocks noChangeAspect="1"/>
          </p:cNvPicPr>
          <p:nvPr/>
        </p:nvPicPr>
        <p:blipFill>
          <a:blip r:embed="rId3"/>
          <a:stretch>
            <a:fillRect/>
          </a:stretch>
        </p:blipFill>
        <p:spPr>
          <a:xfrm>
            <a:off x="10076180" y="0"/>
            <a:ext cx="2116455" cy="2286000"/>
          </a:xfrm>
          <a:prstGeom prst="rect">
            <a:avLst/>
          </a:prstGeom>
        </p:spPr>
      </p:pic>
      <p:sp>
        <p:nvSpPr>
          <p:cNvPr id="5" name="Text 0"/>
          <p:cNvSpPr/>
          <p:nvPr/>
        </p:nvSpPr>
        <p:spPr>
          <a:xfrm>
            <a:off x="0" y="2209800"/>
            <a:ext cx="12192000" cy="457200"/>
          </a:xfrm>
          <a:prstGeom prst="rect">
            <a:avLst/>
          </a:prstGeom>
          <a:noFill/>
        </p:spPr>
        <p:txBody>
          <a:bodyPr wrap="square" lIns="0" tIns="0" rIns="0" bIns="0" rtlCol="0" anchor="ctr"/>
          <a:lstStyle/>
          <a:p>
            <a:pPr marL="0" indent="0" algn="ctr">
              <a:lnSpc>
                <a:spcPct val="100000"/>
              </a:lnSpc>
              <a:buNone/>
            </a:pPr>
            <a:r>
              <a:rPr lang="en-US" sz="3000" dirty="0">
                <a:solidFill>
                  <a:srgbClr val="3341B8"/>
                </a:solidFill>
                <a:latin typeface="MiSans" pitchFamily="34" charset="-122"/>
                <a:ea typeface="MiSans" pitchFamily="34" charset="-122"/>
                <a:cs typeface="MiSans" pitchFamily="34" charset="-120"/>
              </a:rPr>
              <a:t>Bảo Mật &amp; Tư Duy Phản Biện</a:t>
            </a:r>
            <a:endParaRPr lang="en-US" sz="1600" dirty="0"/>
          </a:p>
        </p:txBody>
      </p:sp>
      <p:sp>
        <p:nvSpPr>
          <p:cNvPr id="6" name="Text 1"/>
          <p:cNvSpPr/>
          <p:nvPr/>
        </p:nvSpPr>
        <p:spPr>
          <a:xfrm>
            <a:off x="254000" y="3073400"/>
            <a:ext cx="5638800" cy="406400"/>
          </a:xfrm>
          <a:prstGeom prst="rect">
            <a:avLst/>
          </a:prstGeom>
          <a:noFill/>
        </p:spPr>
        <p:txBody>
          <a:bodyPr wrap="square" lIns="0" tIns="0" rIns="0" bIns="0" rtlCol="0" anchor="ctr"/>
          <a:lstStyle/>
          <a:p>
            <a:pPr marL="0" indent="0" algn="l">
              <a:lnSpc>
                <a:spcPct val="120000"/>
              </a:lnSpc>
              <a:buNone/>
            </a:pPr>
            <a:r>
              <a:rPr lang="en-US" sz="2000" dirty="0">
                <a:solidFill>
                  <a:srgbClr val="3341B8"/>
                </a:solidFill>
                <a:latin typeface="MiSans" pitchFamily="34" charset="-122"/>
                <a:ea typeface="MiSans" pitchFamily="34" charset="-122"/>
                <a:cs typeface="MiSans" pitchFamily="34" charset="-120"/>
              </a:rPr>
              <a:t>Bảo Mật Tài Khoản</a:t>
            </a:r>
            <a:endParaRPr lang="en-US" sz="1600" dirty="0"/>
          </a:p>
        </p:txBody>
      </p:sp>
      <p:sp>
        <p:nvSpPr>
          <p:cNvPr id="7" name="Text 2"/>
          <p:cNvSpPr/>
          <p:nvPr/>
        </p:nvSpPr>
        <p:spPr>
          <a:xfrm>
            <a:off x="254000" y="3683000"/>
            <a:ext cx="5638800" cy="965200"/>
          </a:xfrm>
          <a:prstGeom prst="rect">
            <a:avLst/>
          </a:prstGeom>
          <a:noFill/>
        </p:spPr>
        <p:txBody>
          <a:bodyPr wrap="square" lIns="101600" tIns="0" rIns="0" bIns="0" rtlCol="0" anchor="ctr"/>
          <a:lstStyle/>
          <a:p>
            <a:pPr marL="0" indent="0">
              <a:lnSpc>
                <a:spcPct val="120000"/>
              </a:lnSpc>
              <a:spcBef>
                <a:spcPts val="10"/>
              </a:spcBef>
              <a:buSzPct val="100000"/>
              <a:buNone/>
            </a:pPr>
            <a:r>
              <a:rPr lang="en-US" sz="1400" dirty="0">
                <a:solidFill>
                  <a:srgbClr val="34385E"/>
                </a:solidFill>
                <a:latin typeface="MiSans" pitchFamily="34" charset="-122"/>
                <a:ea typeface="MiSans" pitchFamily="34" charset="-122"/>
                <a:cs typeface="MiSans" pitchFamily="34" charset="-120"/>
              </a:rPr>
              <a:t>Bật </a:t>
            </a:r>
            <a:r>
              <a:rPr lang="en-US" sz="1400" dirty="0">
                <a:solidFill>
                  <a:srgbClr val="34385E"/>
                </a:solidFill>
                <a:latin typeface="MiSans" pitchFamily="34" charset="-122"/>
                <a:ea typeface="MiSans" pitchFamily="34" charset="-122"/>
                <a:cs typeface="MiSans" pitchFamily="34" charset="-120"/>
              </a:rPr>
              <a:t>xác thực hai lớp</a:t>
            </a:r>
            <a:r>
              <a:rPr lang="en-US" sz="1400" dirty="0">
                <a:solidFill>
                  <a:srgbClr val="34385E"/>
                </a:solidFill>
                <a:latin typeface="MiSans" pitchFamily="34" charset="-122"/>
                <a:ea typeface="MiSans" pitchFamily="34" charset="-122"/>
                <a:cs typeface="MiSans" pitchFamily="34" charset="-120"/>
              </a:rPr>
              <a:t>.</a:t>
            </a:r>
            <a:endParaRPr lang="en-US" sz="1600" dirty="0"/>
          </a:p>
          <a:p>
            <a:pPr marL="0" indent="0">
              <a:lnSpc>
                <a:spcPct val="120000"/>
              </a:lnSpc>
              <a:spcBef>
                <a:spcPts val="10"/>
              </a:spcBef>
              <a:buSzPct val="100000"/>
              <a:buNone/>
            </a:pPr>
            <a:r>
              <a:rPr lang="en-US" sz="1400" dirty="0">
                <a:solidFill>
                  <a:srgbClr val="34385E"/>
                </a:solidFill>
                <a:latin typeface="MiSans" pitchFamily="34" charset="-122"/>
                <a:ea typeface="MiSans" pitchFamily="34" charset="-122"/>
                <a:cs typeface="MiSans" pitchFamily="34" charset="-120"/>
              </a:rPr>
              <a:t>Kiểm tra cài đặt quyền riêng tư mỗi tháng.</a:t>
            </a:r>
            <a:endParaRPr lang="en-US" sz="1600" dirty="0"/>
          </a:p>
          <a:p>
            <a:pPr marL="222250" indent="-222250">
              <a:lnSpc>
                <a:spcPct val="120000"/>
              </a:lnSpc>
              <a:spcBef>
                <a:spcPts val="10"/>
              </a:spcBef>
              <a:buSzPct val="100000"/>
              <a:buChar char="•"/>
            </a:pPr>
            <a:r>
              <a:rPr lang="en-US" sz="1400" dirty="0">
                <a:solidFill>
                  <a:srgbClr val="34385E"/>
                </a:solidFill>
                <a:latin typeface="MiSans" pitchFamily="34" charset="-122"/>
                <a:ea typeface="MiSans" pitchFamily="34" charset="-122"/>
                <a:cs typeface="MiSans" pitchFamily="34" charset="-120"/>
              </a:rPr>
              <a:t>Không công khai số điện thoại, địa chỉ.</a:t>
            </a:r>
            <a:endParaRPr lang="en-US" sz="1600" dirty="0"/>
          </a:p>
        </p:txBody>
      </p:sp>
      <p:sp>
        <p:nvSpPr>
          <p:cNvPr id="8" name="Text 3"/>
          <p:cNvSpPr/>
          <p:nvPr/>
        </p:nvSpPr>
        <p:spPr>
          <a:xfrm>
            <a:off x="6299200" y="3073400"/>
            <a:ext cx="5638800" cy="406400"/>
          </a:xfrm>
          <a:prstGeom prst="rect">
            <a:avLst/>
          </a:prstGeom>
          <a:noFill/>
        </p:spPr>
        <p:txBody>
          <a:bodyPr wrap="square" lIns="0" tIns="0" rIns="0" bIns="0" rtlCol="0" anchor="ctr"/>
          <a:lstStyle/>
          <a:p>
            <a:pPr marL="0" indent="0" algn="l">
              <a:lnSpc>
                <a:spcPct val="120000"/>
              </a:lnSpc>
              <a:buNone/>
            </a:pPr>
            <a:r>
              <a:rPr lang="en-US" sz="2000" dirty="0">
                <a:solidFill>
                  <a:srgbClr val="6052C8"/>
                </a:solidFill>
                <a:latin typeface="MiSans" pitchFamily="34" charset="-122"/>
                <a:ea typeface="MiSans" pitchFamily="34" charset="-122"/>
                <a:cs typeface="MiSans" pitchFamily="34" charset="-120"/>
              </a:rPr>
              <a:t>Tư Duy Phản Biện</a:t>
            </a:r>
            <a:endParaRPr lang="en-US" sz="1600" dirty="0"/>
          </a:p>
        </p:txBody>
      </p:sp>
      <p:sp>
        <p:nvSpPr>
          <p:cNvPr id="9" name="Text 4"/>
          <p:cNvSpPr/>
          <p:nvPr/>
        </p:nvSpPr>
        <p:spPr>
          <a:xfrm>
            <a:off x="6299200" y="3683000"/>
            <a:ext cx="5638800" cy="965200"/>
          </a:xfrm>
          <a:prstGeom prst="rect">
            <a:avLst/>
          </a:prstGeom>
          <a:noFill/>
        </p:spPr>
        <p:txBody>
          <a:bodyPr wrap="square" lIns="101600" tIns="0" rIns="0" bIns="0" rtlCol="0" anchor="ctr"/>
          <a:lstStyle/>
          <a:p>
            <a:pPr marL="0" indent="0">
              <a:lnSpc>
                <a:spcPct val="120000"/>
              </a:lnSpc>
              <a:spcBef>
                <a:spcPts val="10"/>
              </a:spcBef>
              <a:buSzPct val="100000"/>
              <a:buNone/>
            </a:pPr>
            <a:r>
              <a:rPr lang="en-US" sz="1400" dirty="0">
                <a:solidFill>
                  <a:srgbClr val="34385E"/>
                </a:solidFill>
                <a:latin typeface="MiSans" pitchFamily="34" charset="-122"/>
                <a:ea typeface="MiSans" pitchFamily="34" charset="-122"/>
                <a:cs typeface="MiSans" pitchFamily="34" charset="-120"/>
              </a:rPr>
              <a:t>Kiểm tra </a:t>
            </a:r>
            <a:r>
              <a:rPr lang="en-US" sz="1400" dirty="0">
                <a:solidFill>
                  <a:srgbClr val="34385E"/>
                </a:solidFill>
                <a:latin typeface="MiSans" pitchFamily="34" charset="-122"/>
                <a:ea typeface="MiSans" pitchFamily="34" charset="-122"/>
                <a:cs typeface="MiSans" pitchFamily="34" charset="-120"/>
              </a:rPr>
              <a:t>nguồn gốc</a:t>
            </a:r>
            <a:r>
              <a:rPr lang="en-US" sz="1400" dirty="0">
                <a:solidFill>
                  <a:srgbClr val="34385E"/>
                </a:solidFill>
                <a:latin typeface="MiSans" pitchFamily="34" charset="-122"/>
                <a:ea typeface="MiSans" pitchFamily="34" charset="-122"/>
                <a:cs typeface="MiSans" pitchFamily="34" charset="-120"/>
              </a:rPr>
              <a:t>, ngày đăng, hình ảnh.</a:t>
            </a:r>
            <a:endParaRPr lang="en-US" sz="1600" dirty="0"/>
          </a:p>
          <a:p>
            <a:pPr marL="0" indent="0">
              <a:lnSpc>
                <a:spcPct val="120000"/>
              </a:lnSpc>
              <a:spcBef>
                <a:spcPts val="10"/>
              </a:spcBef>
              <a:buSzPct val="100000"/>
              <a:buNone/>
            </a:pPr>
            <a:r>
              <a:rPr lang="en-US" sz="1400" dirty="0">
                <a:solidFill>
                  <a:srgbClr val="34385E"/>
                </a:solidFill>
                <a:latin typeface="MiSans" pitchFamily="34" charset="-122"/>
                <a:ea typeface="MiSans" pitchFamily="34" charset="-122"/>
                <a:cs typeface="MiSans" pitchFamily="34" charset="-120"/>
              </a:rPr>
              <a:t>Sử dụng công cụ </a:t>
            </a:r>
            <a:r>
              <a:rPr lang="en-US" sz="1400" dirty="0">
                <a:solidFill>
                  <a:srgbClr val="34385E"/>
                </a:solidFill>
                <a:latin typeface="MiSans" pitchFamily="34" charset="-122"/>
                <a:ea typeface="MiSans" pitchFamily="34" charset="-122"/>
                <a:cs typeface="MiSans" pitchFamily="34" charset="-120"/>
              </a:rPr>
              <a:t>fact-checking</a:t>
            </a:r>
            <a:r>
              <a:rPr lang="en-US" sz="1400" dirty="0">
                <a:solidFill>
                  <a:srgbClr val="34385E"/>
                </a:solidFill>
                <a:latin typeface="MiSans" pitchFamily="34" charset="-122"/>
                <a:ea typeface="MiSans" pitchFamily="34" charset="-122"/>
                <a:cs typeface="MiSans" pitchFamily="34" charset="-120"/>
              </a:rPr>
              <a:t>.</a:t>
            </a:r>
            <a:endParaRPr lang="en-US" sz="1600" dirty="0"/>
          </a:p>
          <a:p>
            <a:pPr marL="222250" indent="-222250">
              <a:lnSpc>
                <a:spcPct val="120000"/>
              </a:lnSpc>
              <a:spcBef>
                <a:spcPts val="10"/>
              </a:spcBef>
              <a:buSzPct val="100000"/>
              <a:buChar char="•"/>
            </a:pPr>
            <a:r>
              <a:rPr lang="en-US" sz="1400" dirty="0">
                <a:solidFill>
                  <a:srgbClr val="34385E"/>
                </a:solidFill>
                <a:latin typeface="MiSans" pitchFamily="34" charset="-122"/>
                <a:ea typeface="MiSans" pitchFamily="34" charset="-122"/>
                <a:cs typeface="MiSans" pitchFamily="34" charset="-120"/>
              </a:rPr>
              <a:t>Báo cáo nội dung xấu để bảo vệ cộng đồng.</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D31E2"/>
        </a:solidFill>
        <a:effectLst/>
      </p:bgPr>
    </p:bg>
    <p:spTree>
      <p:nvGrpSpPr>
        <p:cNvPr id="1" name=""/>
        <p:cNvGrpSpPr/>
        <p:nvPr/>
      </p:nvGrpSpPr>
      <p:grpSpPr>
        <a:xfrm>
          <a:off x="0" y="0"/>
          <a:ext cx="0" cy="0"/>
          <a:chOff x="0" y="0"/>
          <a:chExt cx="0" cy="0"/>
        </a:xfrm>
      </p:grpSpPr>
      <p:pic>
        <p:nvPicPr>
          <p:cNvPr id="2" name="Image 0" descr="https://kimi-img.moonshot.cn/pub/slides/slides_tmpl/image/25-08-27-20:07:28-d2nfa018bjvh7rlj0eug.jpg"/>
          <p:cNvPicPr>
            <a:picLocks noChangeAspect="1"/>
          </p:cNvPicPr>
          <p:nvPr/>
        </p:nvPicPr>
        <p:blipFill>
          <a:blip r:embed="rId1"/>
          <a:stretch>
            <a:fillRect/>
          </a:stretch>
        </p:blipFill>
        <p:spPr>
          <a:xfrm>
            <a:off x="0" y="0"/>
            <a:ext cx="12192635" cy="6858000"/>
          </a:xfrm>
          <a:prstGeom prst="rect">
            <a:avLst/>
          </a:prstGeom>
        </p:spPr>
      </p:pic>
      <p:sp>
        <p:nvSpPr>
          <p:cNvPr id="3" name="Text 0"/>
          <p:cNvSpPr/>
          <p:nvPr/>
        </p:nvSpPr>
        <p:spPr>
          <a:xfrm>
            <a:off x="423545" y="3815080"/>
            <a:ext cx="5547360" cy="492125"/>
          </a:xfrm>
          <a:prstGeom prst="rect">
            <a:avLst/>
          </a:prstGeom>
          <a:noFill/>
        </p:spPr>
        <p:txBody>
          <a:bodyPr wrap="square" lIns="0" tIns="0" rIns="0" bIns="0" rtlCol="0" anchor="t">
            <a:spAutoFit/>
          </a:bodyPr>
          <a:lstStyle/>
          <a:p>
            <a:pPr marL="0" indent="0" algn="ctr">
              <a:lnSpc>
                <a:spcPct val="100000"/>
              </a:lnSpc>
              <a:buNone/>
            </a:pPr>
            <a:r>
              <a:rPr lang="en-US" sz="3200" dirty="0">
                <a:solidFill>
                  <a:srgbClr val="1D31E2"/>
                </a:solidFill>
                <a:latin typeface="MiSans" pitchFamily="34" charset="-122"/>
                <a:ea typeface="MiSans" pitchFamily="34" charset="-122"/>
                <a:cs typeface="MiSans" pitchFamily="34" charset="-120"/>
              </a:rPr>
              <a:t>Kết luận</a:t>
            </a:r>
            <a:endParaRPr lang="en-US" sz="1600" dirty="0"/>
          </a:p>
        </p:txBody>
      </p:sp>
      <p:pic>
        <p:nvPicPr>
          <p:cNvPr id="4" name="Image 1" descr="https://kimi-img.moonshot.cn/pub/slides/slides_tmpl/image/25-08-27-20:07:28-d2nfa018bjvh7rlj0f60.png"/>
          <p:cNvPicPr>
            <a:picLocks noChangeAspect="1"/>
          </p:cNvPicPr>
          <p:nvPr/>
        </p:nvPicPr>
        <p:blipFill>
          <a:blip r:embed="rId2">
            <a:alphaModFix amt="23000"/>
          </a:blip>
          <a:stretch>
            <a:fillRect/>
          </a:stretch>
        </p:blipFill>
        <p:spPr>
          <a:xfrm rot="5400000" flipH="1">
            <a:off x="8475980" y="2972435"/>
            <a:ext cx="1301115" cy="976630"/>
          </a:xfrm>
          <a:prstGeom prst="rect">
            <a:avLst/>
          </a:prstGeom>
        </p:spPr>
      </p:pic>
      <p:sp>
        <p:nvSpPr>
          <p:cNvPr id="5" name="Shape 1"/>
          <p:cNvSpPr/>
          <p:nvPr/>
        </p:nvSpPr>
        <p:spPr>
          <a:xfrm>
            <a:off x="1874550" y="1562096"/>
            <a:ext cx="2284095" cy="2335530"/>
          </a:xfrm>
          <a:prstGeom prst="rect">
            <a:avLst/>
          </a:prstGeom>
          <a:solidFill>
            <a:srgbClr val="000000">
              <a:alpha val="0"/>
            </a:srgbClr>
          </a:solidFill>
        </p:spPr>
      </p:sp>
      <p:sp>
        <p:nvSpPr>
          <p:cNvPr id="6" name="Text 2"/>
          <p:cNvSpPr/>
          <p:nvPr/>
        </p:nvSpPr>
        <p:spPr>
          <a:xfrm>
            <a:off x="1874550" y="1562096"/>
            <a:ext cx="2284095" cy="2335530"/>
          </a:xfrm>
          <a:prstGeom prst="rect">
            <a:avLst/>
          </a:prstGeom>
          <a:noFill/>
        </p:spPr>
        <p:txBody>
          <a:bodyPr wrap="square" lIns="0" tIns="0" rIns="0" bIns="0" rtlCol="0" anchor="t"/>
          <a:lstStyle/>
          <a:p>
            <a:pPr marL="0" indent="0" algn="ctr">
              <a:lnSpc>
                <a:spcPct val="110000"/>
              </a:lnSpc>
              <a:buNone/>
            </a:pPr>
            <a:r>
              <a:rPr lang="en-US" sz="13800" dirty="0">
                <a:solidFill>
                  <a:srgbClr val="1D31E2"/>
                </a:solidFill>
                <a:latin typeface="MiSans" pitchFamily="34" charset="-122"/>
                <a:ea typeface="MiSans" pitchFamily="34" charset="-122"/>
                <a:cs typeface="MiSans" pitchFamily="34" charset="-120"/>
              </a:rPr>
              <a:t>06</a:t>
            </a:r>
            <a:endParaRPr lang="en-US" sz="1600" dirty="0"/>
          </a:p>
        </p:txBody>
      </p:sp>
      <p:pic>
        <p:nvPicPr>
          <p:cNvPr id="7" name="Image 2" descr="https://kimi-img.moonshot.cn/pub/slides/slides_tmpl/image/25-08-27-20:07:28-d2nfa018bjvh7rlj0f70.png"/>
          <p:cNvPicPr>
            <a:picLocks noChangeAspect="1"/>
          </p:cNvPicPr>
          <p:nvPr/>
        </p:nvPicPr>
        <p:blipFill>
          <a:blip r:embed="rId3"/>
          <a:stretch>
            <a:fillRect/>
          </a:stretch>
        </p:blipFill>
        <p:spPr>
          <a:xfrm>
            <a:off x="6001385" y="1950085"/>
            <a:ext cx="4074795" cy="3778250"/>
          </a:xfrm>
          <a:prstGeom prst="rect">
            <a:avLst/>
          </a:prstGeom>
        </p:spPr>
      </p:pic>
      <p:pic>
        <p:nvPicPr>
          <p:cNvPr id="8" name="Image 3" descr="https://kimi-img.moonshot.cn/pub/slides/slides_tmpl/image/25-08-27-20:07:28-d2nfa018bjvh7rlj0eu0.png"/>
          <p:cNvPicPr>
            <a:picLocks noChangeAspect="1"/>
          </p:cNvPicPr>
          <p:nvPr/>
        </p:nvPicPr>
        <p:blipFill>
          <a:blip r:embed="rId4"/>
          <a:stretch>
            <a:fillRect/>
          </a:stretch>
        </p:blipFill>
        <p:spPr>
          <a:xfrm>
            <a:off x="10076180" y="0"/>
            <a:ext cx="2116455" cy="2286000"/>
          </a:xfrm>
          <a:prstGeom prst="rect">
            <a:avLst/>
          </a:prstGeom>
        </p:spPr>
      </p:pic>
      <p:pic>
        <p:nvPicPr>
          <p:cNvPr id="9" name="Image 4" descr="https://kimi-img.moonshot.cn/pub/slides/slides_tmpl/image/25-08-27-20:07:28-d2nfa018bjvh7rlj0et0.png"/>
          <p:cNvPicPr>
            <a:picLocks noChangeAspect="1"/>
          </p:cNvPicPr>
          <p:nvPr/>
        </p:nvPicPr>
        <p:blipFill>
          <a:blip r:embed="rId5"/>
          <a:stretch>
            <a:fillRect/>
          </a:stretch>
        </p:blipFill>
        <p:spPr>
          <a:xfrm>
            <a:off x="0" y="5530850"/>
            <a:ext cx="1684020" cy="132715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08-27-20:07:28-d2nfa018bjvh7rlj0eug.jpg"/>
          <p:cNvPicPr>
            <a:picLocks noChangeAspect="1"/>
          </p:cNvPicPr>
          <p:nvPr/>
        </p:nvPicPr>
        <p:blipFill>
          <a:blip r:embed="rId1"/>
          <a:stretch>
            <a:fillRect/>
          </a:stretch>
        </p:blipFill>
        <p:spPr>
          <a:xfrm>
            <a:off x="0" y="0"/>
            <a:ext cx="12233275" cy="6881495"/>
          </a:xfrm>
          <a:prstGeom prst="rect">
            <a:avLst/>
          </a:prstGeom>
        </p:spPr>
      </p:pic>
      <p:pic>
        <p:nvPicPr>
          <p:cNvPr id="3" name="Image 1" descr="https://kimi-img.moonshot.cn/pub/slides/slides_tmpl/image/25-08-27-20:07:28-d2nfa018bjvh7rlj0et0.png"/>
          <p:cNvPicPr>
            <a:picLocks noChangeAspect="1"/>
          </p:cNvPicPr>
          <p:nvPr/>
        </p:nvPicPr>
        <p:blipFill>
          <a:blip r:embed="rId2"/>
          <a:stretch>
            <a:fillRect/>
          </a:stretch>
        </p:blipFill>
        <p:spPr>
          <a:xfrm>
            <a:off x="0" y="5530850"/>
            <a:ext cx="1684020" cy="1327150"/>
          </a:xfrm>
          <a:prstGeom prst="rect">
            <a:avLst/>
          </a:prstGeom>
        </p:spPr>
      </p:pic>
      <p:pic>
        <p:nvPicPr>
          <p:cNvPr id="4" name="Image 2" descr="https://kimi-img.moonshot.cn/pub/slides/slides_tmpl/image/25-08-27-20:07:28-d2nfa018bjvh7rlj0eu0.png"/>
          <p:cNvPicPr>
            <a:picLocks noChangeAspect="1"/>
          </p:cNvPicPr>
          <p:nvPr/>
        </p:nvPicPr>
        <p:blipFill>
          <a:blip r:embed="rId3"/>
          <a:stretch>
            <a:fillRect/>
          </a:stretch>
        </p:blipFill>
        <p:spPr>
          <a:xfrm>
            <a:off x="10076180" y="0"/>
            <a:ext cx="2116455" cy="2286000"/>
          </a:xfrm>
          <a:prstGeom prst="rect">
            <a:avLst/>
          </a:prstGeom>
        </p:spPr>
      </p:pic>
      <p:sp>
        <p:nvSpPr>
          <p:cNvPr id="5" name="Text 0"/>
          <p:cNvSpPr/>
          <p:nvPr/>
        </p:nvSpPr>
        <p:spPr>
          <a:xfrm>
            <a:off x="0" y="2006600"/>
            <a:ext cx="12192000" cy="508000"/>
          </a:xfrm>
          <a:prstGeom prst="rect">
            <a:avLst/>
          </a:prstGeom>
          <a:noFill/>
        </p:spPr>
        <p:txBody>
          <a:bodyPr wrap="square" lIns="0" tIns="0" rIns="0" bIns="0" rtlCol="0" anchor="ctr"/>
          <a:lstStyle/>
          <a:p>
            <a:pPr marL="0" indent="0" algn="ctr">
              <a:lnSpc>
                <a:spcPct val="90000"/>
              </a:lnSpc>
              <a:buNone/>
            </a:pPr>
            <a:r>
              <a:rPr lang="en-US" sz="3600" dirty="0">
                <a:solidFill>
                  <a:srgbClr val="3341B8"/>
                </a:solidFill>
                <a:latin typeface="MiSans" pitchFamily="34" charset="-122"/>
                <a:ea typeface="MiSans" pitchFamily="34" charset="-122"/>
                <a:cs typeface="MiSans" pitchFamily="34" charset="-120"/>
              </a:rPr>
              <a:t>Tổng Kết &amp; Định Hướng Tương Lai</a:t>
            </a:r>
            <a:endParaRPr lang="en-US" sz="1600" dirty="0"/>
          </a:p>
        </p:txBody>
      </p:sp>
      <p:sp>
        <p:nvSpPr>
          <p:cNvPr id="6" name="Text 1"/>
          <p:cNvSpPr/>
          <p:nvPr/>
        </p:nvSpPr>
        <p:spPr>
          <a:xfrm>
            <a:off x="1219200" y="2717800"/>
            <a:ext cx="9753600" cy="711200"/>
          </a:xfrm>
          <a:prstGeom prst="rect">
            <a:avLst/>
          </a:prstGeom>
          <a:noFill/>
        </p:spPr>
        <p:txBody>
          <a:bodyPr wrap="square" lIns="0" tIns="0" rIns="0" bIns="0" rtlCol="0" anchor="ctr"/>
          <a:lstStyle/>
          <a:p>
            <a:pPr marL="0" indent="0" algn="ctr">
              <a:lnSpc>
                <a:spcPct val="130000"/>
              </a:lnSpc>
              <a:buNone/>
            </a:pPr>
            <a:r>
              <a:rPr lang="en-US" sz="1800" dirty="0">
                <a:solidFill>
                  <a:srgbClr val="34385E"/>
                </a:solidFill>
                <a:latin typeface="MiSans" pitchFamily="34" charset="-122"/>
                <a:ea typeface="MiSans" pitchFamily="34" charset="-122"/>
                <a:cs typeface="MiSans" pitchFamily="34" charset="-120"/>
              </a:rPr>
              <a:t>Mạng xã hội là </a:t>
            </a:r>
            <a:r>
              <a:rPr lang="en-US" sz="1800" dirty="0">
                <a:solidFill>
                  <a:srgbClr val="4D5EFF"/>
                </a:solidFill>
                <a:latin typeface="MiSans" pitchFamily="34" charset="-122"/>
                <a:ea typeface="MiSans" pitchFamily="34" charset="-122"/>
                <a:cs typeface="MiSans" pitchFamily="34" charset="-120"/>
              </a:rPr>
              <a:t>công cụ trung lập</a:t>
            </a:r>
            <a:r>
              <a:rPr lang="en-US" sz="1800" dirty="0">
                <a:solidFill>
                  <a:srgbClr val="34385E"/>
                </a:solidFill>
                <a:latin typeface="MiSans" pitchFamily="34" charset="-122"/>
                <a:ea typeface="MiSans" pitchFamily="34" charset="-122"/>
                <a:cs typeface="MiSans" pitchFamily="34" charset="-120"/>
              </a:rPr>
              <a:t>, lợi hại do cách dùng. Cần cân bằng thời gian, bảo vệ dữ liệu, nuôi dưỡng tư duy phản biện để tận dụng ưu điểm và hạn chế nhược điểm.</a:t>
            </a:r>
            <a:endParaRPr lang="en-US" sz="1600" dirty="0"/>
          </a:p>
        </p:txBody>
      </p:sp>
      <p:sp>
        <p:nvSpPr>
          <p:cNvPr id="7" name="Shape 2"/>
          <p:cNvSpPr/>
          <p:nvPr/>
        </p:nvSpPr>
        <p:spPr>
          <a:xfrm>
            <a:off x="254000" y="3835400"/>
            <a:ext cx="9753600" cy="1016000"/>
          </a:xfrm>
          <a:custGeom>
            <a:avLst/>
            <a:gdLst/>
            <a:ahLst/>
            <a:cxnLst/>
            <a:rect l="l" t="t" r="r" b="b"/>
            <a:pathLst>
              <a:path w="9753600" h="1016000">
                <a:moveTo>
                  <a:pt x="101600" y="0"/>
                </a:moveTo>
                <a:lnTo>
                  <a:pt x="9652000" y="0"/>
                </a:lnTo>
                <a:cubicBezTo>
                  <a:pt x="9708075" y="0"/>
                  <a:pt x="9753600" y="45525"/>
                  <a:pt x="9753600" y="101600"/>
                </a:cubicBezTo>
                <a:lnTo>
                  <a:pt x="9753600" y="914400"/>
                </a:lnTo>
                <a:cubicBezTo>
                  <a:pt x="9753600" y="970475"/>
                  <a:pt x="9708075" y="1016000"/>
                  <a:pt x="9652000" y="1016000"/>
                </a:cubicBezTo>
                <a:lnTo>
                  <a:pt x="101600" y="1016000"/>
                </a:lnTo>
                <a:cubicBezTo>
                  <a:pt x="45525" y="1016000"/>
                  <a:pt x="0" y="970475"/>
                  <a:pt x="0" y="914400"/>
                </a:cubicBezTo>
                <a:lnTo>
                  <a:pt x="0" y="101600"/>
                </a:lnTo>
                <a:cubicBezTo>
                  <a:pt x="0" y="45525"/>
                  <a:pt x="45525" y="0"/>
                  <a:pt x="101600" y="0"/>
                </a:cubicBezTo>
                <a:close/>
              </a:path>
            </a:pathLst>
          </a:custGeom>
          <a:solidFill>
            <a:srgbClr val="3341B8">
              <a:alpha val="10196"/>
            </a:srgbClr>
          </a:solidFill>
        </p:spPr>
      </p:sp>
      <p:sp>
        <p:nvSpPr>
          <p:cNvPr id="8" name="Text 3"/>
          <p:cNvSpPr/>
          <p:nvPr/>
        </p:nvSpPr>
        <p:spPr>
          <a:xfrm>
            <a:off x="457200" y="4038600"/>
            <a:ext cx="9347200" cy="609600"/>
          </a:xfrm>
          <a:prstGeom prst="rect">
            <a:avLst/>
          </a:prstGeom>
          <a:noFill/>
        </p:spPr>
        <p:txBody>
          <a:bodyPr wrap="square" lIns="0" tIns="0" rIns="0" bIns="0" rtlCol="0" anchor="ctr"/>
          <a:lstStyle/>
          <a:p>
            <a:pPr marL="0" indent="0" algn="ctr">
              <a:lnSpc>
                <a:spcPct val="130000"/>
              </a:lnSpc>
              <a:buNone/>
            </a:pPr>
            <a:r>
              <a:rPr lang="en-US" sz="1600" dirty="0">
                <a:solidFill>
                  <a:srgbClr val="34385E"/>
                </a:solidFill>
                <a:latin typeface="MiSans" pitchFamily="34" charset="-122"/>
                <a:ea typeface="MiSans" pitchFamily="34" charset="-122"/>
                <a:cs typeface="MiSans" pitchFamily="34" charset="-120"/>
              </a:rPr>
              <a:t>Kêu gọi nhà trường, gia đình, nền tảng phối hợp giáo dục, tạo môi trường mạng </a:t>
            </a:r>
            <a:r>
              <a:rPr lang="en-US" sz="1600" dirty="0">
                <a:solidFill>
                  <a:srgbClr val="34385E"/>
                </a:solidFill>
                <a:highlight>
                  <a:srgbClr val="4D5EFF">
                    <a:alpha val="20000"/>
                  </a:srgbClr>
                </a:highlight>
                <a:latin typeface="MiSans" pitchFamily="34" charset="-122"/>
                <a:ea typeface="MiSans" pitchFamily="34" charset="-122"/>
                <a:cs typeface="MiSans" pitchFamily="34" charset="-120"/>
              </a:rPr>
              <a:t> an toàn, sáng tạo, nhân văn </a:t>
            </a:r>
            <a:r>
              <a:rPr lang="en-US" sz="1600" dirty="0">
                <a:solidFill>
                  <a:srgbClr val="34385E"/>
                </a:solidFill>
                <a:latin typeface="MiSans" pitchFamily="34" charset="-122"/>
                <a:ea typeface="MiSans" pitchFamily="34" charset="-122"/>
                <a:cs typeface="MiSans" pitchFamily="34" charset="-120"/>
              </a:rPr>
              <a:t> cho thế hệ tương lai.</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D31E2"/>
        </a:solidFill>
        <a:effectLst/>
      </p:bgPr>
    </p:bg>
    <p:spTree>
      <p:nvGrpSpPr>
        <p:cNvPr id="1" name=""/>
        <p:cNvGrpSpPr/>
        <p:nvPr/>
      </p:nvGrpSpPr>
      <p:grpSpPr>
        <a:xfrm>
          <a:off x="0" y="0"/>
          <a:ext cx="0" cy="0"/>
          <a:chOff x="0" y="0"/>
          <a:chExt cx="0" cy="0"/>
        </a:xfrm>
      </p:grpSpPr>
      <p:pic>
        <p:nvPicPr>
          <p:cNvPr id="2" name="Image 0" descr="https://kimi-img.moonshot.cn/pub/slides/slides_tmpl/image/25-08-27-20:07:31-d2nfa0p8bjvh7rlj0g80.png"/>
          <p:cNvPicPr>
            <a:picLocks noChangeAspect="1"/>
          </p:cNvPicPr>
          <p:nvPr/>
        </p:nvPicPr>
        <p:blipFill>
          <a:blip r:embed="rId1"/>
          <a:stretch>
            <a:fillRect/>
          </a:stretch>
        </p:blipFill>
        <p:spPr>
          <a:xfrm>
            <a:off x="6268720" y="4077335"/>
            <a:ext cx="2314575" cy="663575"/>
          </a:xfrm>
          <a:prstGeom prst="rect">
            <a:avLst/>
          </a:prstGeom>
        </p:spPr>
      </p:pic>
      <p:pic>
        <p:nvPicPr>
          <p:cNvPr id="3" name="Image 1" descr="https://kimi-img.moonshot.cn/pub/slides/slides_tmpl/image/25-08-27-20:07:31-d2nfa0p8bjvh7rlj0g80.png"/>
          <p:cNvPicPr>
            <a:picLocks noChangeAspect="1"/>
          </p:cNvPicPr>
          <p:nvPr/>
        </p:nvPicPr>
        <p:blipFill>
          <a:blip r:embed="rId1"/>
          <a:stretch>
            <a:fillRect/>
          </a:stretch>
        </p:blipFill>
        <p:spPr>
          <a:xfrm>
            <a:off x="3844925" y="4077335"/>
            <a:ext cx="2314575" cy="663575"/>
          </a:xfrm>
          <a:prstGeom prst="rect">
            <a:avLst/>
          </a:prstGeom>
        </p:spPr>
      </p:pic>
      <p:pic>
        <p:nvPicPr>
          <p:cNvPr id="4" name="Image 2" descr="https://kimi-img.moonshot.cn/pub/slides/slides_tmpl/image/25-08-27-20:07:31-d2nfa0p8bjvh7rlj0ga0.png"/>
          <p:cNvPicPr>
            <a:picLocks noChangeAspect="1"/>
          </p:cNvPicPr>
          <p:nvPr/>
        </p:nvPicPr>
        <p:blipFill>
          <a:blip r:embed="rId2"/>
          <a:stretch>
            <a:fillRect/>
          </a:stretch>
        </p:blipFill>
        <p:spPr>
          <a:xfrm>
            <a:off x="0" y="6119495"/>
            <a:ext cx="12215495" cy="738505"/>
          </a:xfrm>
          <a:prstGeom prst="rect">
            <a:avLst/>
          </a:prstGeom>
        </p:spPr>
      </p:pic>
      <p:sp>
        <p:nvSpPr>
          <p:cNvPr id="5" name="Text 0"/>
          <p:cNvSpPr/>
          <p:nvPr/>
        </p:nvSpPr>
        <p:spPr>
          <a:xfrm>
            <a:off x="1212215" y="1788160"/>
            <a:ext cx="9036685" cy="2125345"/>
          </a:xfrm>
          <a:prstGeom prst="rect">
            <a:avLst/>
          </a:prstGeom>
          <a:noFill/>
        </p:spPr>
        <p:txBody>
          <a:bodyPr wrap="square" lIns="91440" tIns="45720" rIns="91440" bIns="45720" rtlCol="0" anchor="ctr"/>
          <a:lstStyle/>
          <a:p>
            <a:pPr marL="0" indent="0" algn="ctr">
              <a:lnSpc>
                <a:spcPct val="90000"/>
              </a:lnSpc>
              <a:buNone/>
            </a:pPr>
            <a:r>
              <a:rPr lang="en-US" sz="9600" b="1" dirty="0">
                <a:solidFill>
                  <a:srgbClr val="FFFFFF"/>
                </a:solidFill>
                <a:latin typeface="MiSans" pitchFamily="34" charset="-122"/>
                <a:ea typeface="MiSans" pitchFamily="34" charset="-122"/>
                <a:cs typeface="MiSans" pitchFamily="34" charset="-120"/>
              </a:rPr>
              <a:t>THANK YOU</a:t>
            </a:r>
            <a:endParaRPr lang="en-US" sz="1600" dirty="0"/>
          </a:p>
        </p:txBody>
      </p:sp>
      <p:sp>
        <p:nvSpPr>
          <p:cNvPr id="6" name="Text 1"/>
          <p:cNvSpPr/>
          <p:nvPr/>
        </p:nvSpPr>
        <p:spPr>
          <a:xfrm>
            <a:off x="4072255" y="4191635"/>
            <a:ext cx="1859915" cy="337185"/>
          </a:xfrm>
          <a:prstGeom prst="rect">
            <a:avLst/>
          </a:prstGeom>
          <a:noFill/>
        </p:spPr>
        <p:txBody>
          <a:bodyPr wrap="square" lIns="91440" tIns="45720" rIns="91440" bIns="45720" rtlCol="0" anchor="t">
            <a:spAutoFit/>
          </a:bodyPr>
          <a:lstStyle/>
          <a:p>
            <a:pPr marL="0" indent="0" algn="ctr">
              <a:lnSpc>
                <a:spcPct val="100000"/>
              </a:lnSpc>
              <a:buNone/>
            </a:pPr>
            <a:r>
              <a:rPr lang="en-US" sz="1600" dirty="0">
                <a:solidFill>
                  <a:srgbClr val="1D31E2"/>
                </a:solidFill>
                <a:latin typeface="MiSans" pitchFamily="34" charset="-122"/>
                <a:ea typeface="MiSans" pitchFamily="34" charset="-122"/>
                <a:cs typeface="MiSans" pitchFamily="34" charset="-120"/>
              </a:rPr>
              <a:t>Thiên Long</a:t>
            </a:r>
            <a:endParaRPr lang="en-US" sz="1600" dirty="0"/>
          </a:p>
        </p:txBody>
      </p:sp>
      <p:sp>
        <p:nvSpPr>
          <p:cNvPr id="7" name="Text 2"/>
          <p:cNvSpPr/>
          <p:nvPr/>
        </p:nvSpPr>
        <p:spPr>
          <a:xfrm>
            <a:off x="6631537" y="4191635"/>
            <a:ext cx="1734796" cy="254000"/>
          </a:xfrm>
          <a:prstGeom prst="rect">
            <a:avLst/>
          </a:prstGeom>
          <a:noFill/>
        </p:spPr>
        <p:txBody>
          <a:bodyPr wrap="square" lIns="91440" tIns="45720" rIns="91440" bIns="45720" rtlCol="0" anchor="t">
            <a:spAutoFit/>
          </a:bodyPr>
          <a:lstStyle/>
          <a:p>
            <a:pPr marL="0" indent="0" algn="ctr">
              <a:lnSpc>
                <a:spcPct val="100000"/>
              </a:lnSpc>
              <a:buNone/>
            </a:pPr>
            <a:r>
              <a:rPr lang="en-US" sz="1600" dirty="0">
                <a:solidFill>
                  <a:srgbClr val="1D31E2"/>
                </a:solidFill>
                <a:latin typeface="MiSans" pitchFamily="34" charset="-122"/>
                <a:ea typeface="MiSans" pitchFamily="34" charset="-122"/>
                <a:cs typeface="MiSans" pitchFamily="34" charset="-120"/>
              </a:rPr>
              <a:t>2025/08/05</a:t>
            </a:r>
            <a:endParaRPr lang="en-US" sz="1600" dirty="0"/>
          </a:p>
        </p:txBody>
      </p:sp>
      <p:pic>
        <p:nvPicPr>
          <p:cNvPr id="8" name="Image 3" descr="https://kimi-img.moonshot.cn/pub/slides/slides_tmpl/image/25-08-27-20:07:31-d2nfa0p8bjvh7rlj0g90.png"/>
          <p:cNvPicPr>
            <a:picLocks noChangeAspect="1"/>
          </p:cNvPicPr>
          <p:nvPr/>
        </p:nvPicPr>
        <p:blipFill>
          <a:blip r:embed="rId3"/>
          <a:stretch>
            <a:fillRect/>
          </a:stretch>
        </p:blipFill>
        <p:spPr>
          <a:xfrm>
            <a:off x="295910" y="6120130"/>
            <a:ext cx="11322685" cy="194310"/>
          </a:xfrm>
          <a:prstGeom prst="rect">
            <a:avLst/>
          </a:prstGeom>
        </p:spPr>
      </p:pic>
      <p:pic>
        <p:nvPicPr>
          <p:cNvPr id="9" name="Image 4" descr="https://kimi-img.moonshot.cn/pub/slides/slides_tmpl/image/25-08-27-20:07:30-d2nfa0h8bjvh7rlj0fog.png"/>
          <p:cNvPicPr>
            <a:picLocks noChangeAspect="1"/>
          </p:cNvPicPr>
          <p:nvPr/>
        </p:nvPicPr>
        <p:blipFill>
          <a:blip r:embed="rId4"/>
          <a:stretch>
            <a:fillRect/>
          </a:stretch>
        </p:blipFill>
        <p:spPr>
          <a:xfrm>
            <a:off x="10081260" y="5711190"/>
            <a:ext cx="1315085" cy="397510"/>
          </a:xfrm>
          <a:prstGeom prst="rect">
            <a:avLst/>
          </a:prstGeom>
        </p:spPr>
      </p:pic>
      <p:pic>
        <p:nvPicPr>
          <p:cNvPr id="10" name="Image 5" descr="https://kimi-img.moonshot.cn/pub/slides/slides_tmpl/image/25-08-27-20:07:31-d2nfa0p8bjvh7rlj0g9g.png"/>
          <p:cNvPicPr>
            <a:picLocks noChangeAspect="1"/>
          </p:cNvPicPr>
          <p:nvPr/>
        </p:nvPicPr>
        <p:blipFill>
          <a:blip r:embed="rId5"/>
          <a:stretch>
            <a:fillRect/>
          </a:stretch>
        </p:blipFill>
        <p:spPr>
          <a:xfrm rot="13260000">
            <a:off x="997585" y="172085"/>
            <a:ext cx="1189990" cy="1781810"/>
          </a:xfrm>
          <a:prstGeom prst="rect">
            <a:avLst/>
          </a:prstGeom>
        </p:spPr>
      </p:pic>
      <p:sp>
        <p:nvSpPr>
          <p:cNvPr id="11" name="Text 3"/>
          <p:cNvSpPr/>
          <p:nvPr/>
        </p:nvSpPr>
        <p:spPr>
          <a:xfrm>
            <a:off x="15171420" y="4343400"/>
            <a:ext cx="4064000" cy="276225"/>
          </a:xfrm>
          <a:prstGeom prst="rect">
            <a:avLst/>
          </a:prstGeom>
          <a:noFill/>
        </p:spPr>
        <p:txBody>
          <a:bodyPr wrap="square" lIns="91440" tIns="45720" rIns="91440" bIns="45720" rtlCol="0" anchor="t">
            <a:spAutoFit/>
          </a:bodyPr>
          <a:lstStyle/>
          <a:p>
            <a:pPr marL="0" indent="0" algn="l">
              <a:lnSpc>
                <a:spcPct val="100000"/>
              </a:lnSpc>
              <a:buNone/>
            </a:pPr>
            <a:r>
              <a:rPr lang="en-US" sz="1800" dirty="0">
                <a:solidFill>
                  <a:srgbClr val="000000"/>
                </a:solidFill>
                <a:latin typeface="MiSans" pitchFamily="34" charset="-122"/>
                <a:ea typeface="MiSans" pitchFamily="34" charset="-122"/>
                <a:cs typeface="MiSans" pitchFamily="34" charset="-120"/>
              </a:rPr>
              <a:t> </a:t>
            </a:r>
            <a:endParaRPr lang="en-US" sz="1600" dirty="0"/>
          </a:p>
        </p:txBody>
      </p:sp>
      <p:pic>
        <p:nvPicPr>
          <p:cNvPr id="12" name="Image 6" descr="https://kimi-img.moonshot.cn/pub/slides/slides_tmpl/image/25-08-27-20:07:31-d2nfa0p8bjvh7rlj0gag.png"/>
          <p:cNvPicPr>
            <a:picLocks noChangeAspect="1"/>
          </p:cNvPicPr>
          <p:nvPr/>
        </p:nvPicPr>
        <p:blipFill>
          <a:blip r:embed="rId6"/>
          <a:stretch>
            <a:fillRect/>
          </a:stretch>
        </p:blipFill>
        <p:spPr>
          <a:xfrm>
            <a:off x="9427210" y="957580"/>
            <a:ext cx="2191385" cy="2069465"/>
          </a:xfrm>
          <a:prstGeom prst="rect">
            <a:avLst/>
          </a:prstGeom>
        </p:spPr>
      </p:pic>
      <p:pic>
        <p:nvPicPr>
          <p:cNvPr id="13" name="Image 7" descr="https://kimi-img.moonshot.cn/pub/slides/slides_tmpl/image/25-08-27-20:07:31-d2nfa0p8bjvh7rlj0gb0.png"/>
          <p:cNvPicPr>
            <a:picLocks noChangeAspect="1"/>
          </p:cNvPicPr>
          <p:nvPr/>
        </p:nvPicPr>
        <p:blipFill>
          <a:blip r:embed="rId7"/>
          <a:stretch>
            <a:fillRect/>
          </a:stretch>
        </p:blipFill>
        <p:spPr>
          <a:xfrm>
            <a:off x="452755" y="3914140"/>
            <a:ext cx="3201035" cy="179705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ags/tag1.xml><?xml version="1.0" encoding="utf-8"?>
<p:tagLst xmlns:p="http://schemas.openxmlformats.org/presentationml/2006/main">
  <p:tag name="KSO_WM_DIAGRAM_VIRTUALLY_FRAME" val="{&quot;height&quot;:285.0564566929134,&quot;left&quot;:90.5,&quot;top&quot;:162.9435433070866,&quot;width&quot;:746.95}"/>
</p:tagLst>
</file>

<file path=ppt/tags/tag2.xml><?xml version="1.0" encoding="utf-8"?>
<p:tagLst xmlns:p="http://schemas.openxmlformats.org/presentationml/2006/main">
  <p:tag name="KSO_WM_DIAGRAM_VIRTUALLY_FRAME" val="{&quot;height&quot;:285.0564566929134,&quot;left&quot;:90.5,&quot;top&quot;:162.9435433070866,&quot;width&quot;:746.95}"/>
</p:tagLst>
</file>

<file path=ppt/tags/tag3.xml><?xml version="1.0" encoding="utf-8"?>
<p:tagLst xmlns:p="http://schemas.openxmlformats.org/presentationml/2006/main">
  <p:tag name="KSO_WM_DIAGRAM_VIRTUALLY_FRAME" val="{&quot;height&quot;:285.0564566929134,&quot;left&quot;:90.5,&quot;top&quot;:162.9435433070866,&quot;width&quot;:746.95}"/>
</p:tagLst>
</file>

<file path=ppt/tags/tag4.xml><?xml version="1.0" encoding="utf-8"?>
<p:tagLst xmlns:p="http://schemas.openxmlformats.org/presentationml/2006/main">
  <p:tag name="KSO_WM_DIAGRAM_VIRTUALLY_FRAME" val="{&quot;height&quot;:285.0564566929134,&quot;left&quot;:90.5,&quot;top&quot;:162.9435433070866,&quot;width&quot;:746.95}"/>
</p:tagLst>
</file>

<file path=ppt/tags/tag5.xml><?xml version="1.0" encoding="utf-8"?>
<p:tagLst xmlns:p="http://schemas.openxmlformats.org/presentationml/2006/main">
  <p:tag name="KSO_WM_DIAGRAM_VIRTUALLY_FRAME" val="{&quot;height&quot;:285.0564566929134,&quot;left&quot;:90.5,&quot;top&quot;:162.9435433070866,&quot;width&quot;:746.95}"/>
</p:tagLst>
</file>

<file path=ppt/tags/tag6.xml><?xml version="1.0" encoding="utf-8"?>
<p:tagLst xmlns:p="http://schemas.openxmlformats.org/presentationml/2006/main">
  <p:tag name="KSO_WM_DIAGRAM_VIRTUALLY_FRAME" val="{&quot;height&quot;:285.0564566929134,&quot;left&quot;:90.5,&quot;top&quot;:162.9435433070866,&quot;width&quot;:746.95}"/>
</p:tagLst>
</file>

<file path=ppt/tags/tag7.xml><?xml version="1.0" encoding="utf-8"?>
<p:tagLst xmlns:p="http://schemas.openxmlformats.org/presentationml/2006/main">
  <p:tag name="KSO_WM_DIAGRAM_VIRTUALLY_FRAME" val="{&quot;height&quot;:285.0564566929134,&quot;left&quot;:90.5,&quot;top&quot;:162.9435433070866,&quot;width&quot;:746.95}"/>
</p:tagLst>
</file>

<file path=ppt/tags/tag8.xml><?xml version="1.0" encoding="utf-8"?>
<p:tagLst xmlns:p="http://schemas.openxmlformats.org/presentationml/2006/main">
  <p:tag name="KSO_WM_DIAGRAM_VIRTUALLY_FRAME" val="{&quot;height&quot;:285.0564566929134,&quot;left&quot;:90.5,&quot;top&quot;:162.9435433070866,&quot;width&quot;:746.95}"/>
</p:tagLst>
</file>

<file path=ppt/tags/tag9.xml><?xml version="1.0" encoding="utf-8"?>
<p:tagLst xmlns:p="http://schemas.openxmlformats.org/presentationml/2006/main">
  <p:tag name="KSO_WM_DIAGRAM_VIRTUALLY_FRAME" val="{&quot;height&quot;:285.0564566929134,&quot;left&quot;:90.5,&quot;top&quot;:162.9435433070866,&quot;width&quot;:746.95}"/>
</p:tagLst>
</file>

<file path=ppt/tags/tag10.xml><?xml version="1.0" encoding="utf-8"?>
<p:tagLst xmlns:p="http://schemas.openxmlformats.org/presentationml/2006/main">
  <p:tag name="KSO_WM_DIAGRAM_VIRTUALLY_FRAME" val="{&quot;height&quot;:285.0564566929134,&quot;left&quot;:90.5,&quot;top&quot;:162.9435433070866,&quot;width&quot;:746.95}"/>
</p:tagLst>
</file>

<file path=ppt/tags/tag11.xml><?xml version="1.0" encoding="utf-8"?>
<p:tagLst xmlns:p="http://schemas.openxmlformats.org/presentationml/2006/main">
  <p:tag name="KSO_WM_DIAGRAM_VIRTUALLY_FRAME" val="{&quot;height&quot;:285.0564566929134,&quot;left&quot;:90.5,&quot;top&quot;:162.9435433070866,&quot;width&quot;:746.95}"/>
</p:tagLst>
</file>

<file path=ppt/tags/tag12.xml><?xml version="1.0" encoding="utf-8"?>
<p:tagLst xmlns:p="http://schemas.openxmlformats.org/presentationml/2006/main">
  <p:tag name="KSO_WM_DIAGRAM_VIRTUALLY_FRAME" val="{&quot;height&quot;:285.0564566929134,&quot;left&quot;:90.5,&quot;top&quot;:162.9435433070866,&quot;width&quot;:746.95}"/>
</p:tagLst>
</file>

<file path=ppt/tags/tag13.xml><?xml version="1.0" encoding="utf-8"?>
<p:tagLst xmlns:p="http://schemas.openxmlformats.org/presentationml/2006/main">
  <p:tag name="KSO_WM_DIAGRAM_VIRTUALLY_FRAME" val="{&quot;height&quot;:285.0564566929134,&quot;left&quot;:90.5,&quot;top&quot;:162.9435433070866,&quot;width&quot;:746.95}"/>
</p:tagLst>
</file>

<file path=ppt/tags/tag14.xml><?xml version="1.0" encoding="utf-8"?>
<p:tagLst xmlns:p="http://schemas.openxmlformats.org/presentationml/2006/main">
  <p:tag name="KSO_WM_DIAGRAM_VIRTUALLY_FRAME" val="{&quot;height&quot;:285.0564566929134,&quot;left&quot;:90.5,&quot;top&quot;:162.9435433070866,&quot;width&quot;:746.95}"/>
</p:tagLst>
</file>

<file path=ppt/tags/tag15.xml><?xml version="1.0" encoding="utf-8"?>
<p:tagLst xmlns:p="http://schemas.openxmlformats.org/presentationml/2006/main">
  <p:tag name="KSO_WM_DIAGRAM_VIRTUALLY_FRAME" val="{&quot;height&quot;:285.0564566929134,&quot;left&quot;:90.5,&quot;top&quot;:162.9435433070866,&quot;width&quot;:746.95}"/>
</p:tagLst>
</file>

<file path=ppt/tags/tag16.xml><?xml version="1.0" encoding="utf-8"?>
<p:tagLst xmlns:p="http://schemas.openxmlformats.org/presentationml/2006/main">
  <p:tag name="KSO_WM_DIAGRAM_VIRTUALLY_FRAME" val="{&quot;height&quot;:285.0564566929134,&quot;left&quot;:90.5,&quot;top&quot;:162.9435433070866,&quot;width&quot;:746.95}"/>
</p:tagLst>
</file>

<file path=ppt/tags/tag17.xml><?xml version="1.0" encoding="utf-8"?>
<p:tagLst xmlns:p="http://schemas.openxmlformats.org/presentationml/2006/main">
  <p:tag name="KSO_WM_DIAGRAM_VIRTUALLY_FRAME" val="{&quot;height&quot;:285.0564566929134,&quot;left&quot;:90.5,&quot;top&quot;:162.9435433070866,&quot;width&quot;:746.95}"/>
</p:tagLst>
</file>

<file path=ppt/tags/tag18.xml><?xml version="1.0" encoding="utf-8"?>
<p:tagLst xmlns:p="http://schemas.openxmlformats.org/presentationml/2006/main">
  <p:tag name="KSO_WM_DIAGRAM_VIRTUALLY_FRAME" val="{&quot;height&quot;:285.0564566929134,&quot;left&quot;:90.5,&quot;top&quot;:162.9435433070866,&quot;width&quot;:746.95}"/>
</p:tagLst>
</file>

<file path=ppt/tags/tag19.xml><?xml version="1.0" encoding="utf-8"?>
<p:tagLst xmlns:p="http://schemas.openxmlformats.org/presentationml/2006/main">
  <p:tag name="KSO_WM_DIAGRAM_VIRTUALLY_FRAME" val="{&quot;height&quot;:285.0564566929134,&quot;left&quot;:90.5,&quot;top&quot;:162.9435433070866,&quot;width&quot;:746.95}"/>
</p:tagLst>
</file>

<file path=ppt/tags/tag20.xml><?xml version="1.0" encoding="utf-8"?>
<p:tagLst xmlns:p="http://schemas.openxmlformats.org/presentationml/2006/main">
  <p:tag name="KSO_WM_DIAGRAM_VIRTUALLY_FRAME" val="{&quot;height&quot;:285.0564566929134,&quot;left&quot;:90.5,&quot;top&quot;:162.9435433070866,&quot;width&quot;:746.95}"/>
</p:tagLst>
</file>

<file path=ppt/tags/tag21.xml><?xml version="1.0" encoding="utf-8"?>
<p:tagLst xmlns:p="http://schemas.openxmlformats.org/presentationml/2006/main">
  <p:tag name="KSO_WM_DIAGRAM_VIRTUALLY_FRAME" val="{&quot;height&quot;:285.0564566929134,&quot;left&quot;:90.5,&quot;top&quot;:162.9435433070866,&quot;width&quot;:746.95}"/>
</p:tagLst>
</file>

<file path=ppt/tags/tag22.xml><?xml version="1.0" encoding="utf-8"?>
<p:tagLst xmlns:p="http://schemas.openxmlformats.org/presentationml/2006/main">
  <p:tag name="KSO_WM_DIAGRAM_VIRTUALLY_FRAME" val="{&quot;height&quot;:285.0564566929134,&quot;left&quot;:90.5,&quot;top&quot;:162.9435433070866,&quot;width&quot;:746.95}"/>
</p:tagLst>
</file>

<file path=ppt/tags/tag23.xml><?xml version="1.0" encoding="utf-8"?>
<p:tagLst xmlns:p="http://schemas.openxmlformats.org/presentationml/2006/main">
  <p:tag name="KSO_WM_DIAGRAM_VIRTUALLY_FRAME" val="{&quot;height&quot;:285.0564566929134,&quot;left&quot;:90.5,&quot;top&quot;:162.9435433070866,&quot;width&quot;:746.95}"/>
</p:tagLst>
</file>

<file path=ppt/tags/tag24.xml><?xml version="1.0" encoding="utf-8"?>
<p:tagLst xmlns:p="http://schemas.openxmlformats.org/presentationml/2006/main">
  <p:tag name="KSO_WM_DIAGRAM_VIRTUALLY_FRAME" val="{&quot;height&quot;:285.0564566929134,&quot;left&quot;:90.5,&quot;top&quot;:162.9435433070866,&quot;width&quot;:746.95}"/>
</p:tagLst>
</file>

<file path=ppt/theme/theme1.xml><?xml version="1.0" encoding="utf-8"?>
<a:theme xmlns:a="http://schemas.openxmlformats.org/drawingml/2006/main" name="Custom Theme">
  <a:themeElements>
    <a:clrScheme name="Custom">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Custom">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3479</Words>
  <Application>WPS Presentation</Application>
  <PresentationFormat>On-screen Show (16:9)</PresentationFormat>
  <Paragraphs>214</Paragraphs>
  <Slides>21</Slides>
  <Notes>21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21</vt:i4>
      </vt:variant>
    </vt:vector>
  </HeadingPairs>
  <TitlesOfParts>
    <vt:vector size="35" baseType="lpstr">
      <vt:lpstr>Arial</vt:lpstr>
      <vt:lpstr>SimSun</vt:lpstr>
      <vt:lpstr>Wingdings</vt:lpstr>
      <vt:lpstr>MiSans</vt:lpstr>
      <vt:lpstr>MiSans</vt:lpstr>
      <vt:lpstr>Calibri</vt:lpstr>
      <vt:lpstr>Microsoft YaHei</vt:lpstr>
      <vt:lpstr>Arial Unicode MS</vt:lpstr>
      <vt:lpstr>Montserrat</vt:lpstr>
      <vt:lpstr>Segoe Print</vt:lpstr>
      <vt:lpstr>Bahnschrift Light</vt:lpstr>
      <vt:lpstr>Bahnschrift SemiBold SemiCondensed</vt:lpstr>
      <vt:lpstr>Candara Light</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Mạng Xã Hội: Cơ Hội &amp; Thách Thức</dc:title>
  <dc:creator>Kimi</dc:creator>
  <dc:subject>Mạng Xã Hội: Cơ Hội &amp; Thách Thức</dc:subject>
  <cp:lastModifiedBy>Tú Thiên Long Nguyễn</cp:lastModifiedBy>
  <cp:revision>4</cp:revision>
  <dcterms:created xsi:type="dcterms:W3CDTF">2025-10-08T15:05:00Z</dcterms:created>
  <dcterms:modified xsi:type="dcterms:W3CDTF">2025-10-08T15:40:00Z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{"Label":"Mạng Xã Hội: Cơ Hội &amp; Thách Thức","ContentProducer":"001191110108MACG2KBH8F10000","ProduceID":"d3j7luo7aa366q2dfd9g","ReservedCode1":"","ContentPropagator":"001191110108MACG2KBH8F20000","PropagateID":"d3j7luo7aa366q2dfd9g","ReservedCode2":""}</vt:lpwstr>
  </property>
  <property fmtid="{D5CDD505-2E9C-101B-9397-08002B2CF9AE}" pid="3" name="ICV">
    <vt:lpwstr>046AF51A09E14BA68459A8C8362DCC02_12</vt:lpwstr>
  </property>
  <property fmtid="{D5CDD505-2E9C-101B-9397-08002B2CF9AE}" pid="4" name="KSOProductBuildVer">
    <vt:lpwstr>1033-12.2.0.22549</vt:lpwstr>
  </property>
</Properties>
</file>